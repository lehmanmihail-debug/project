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327" r:id="rId3"/>
    <p:sldId id="259" r:id="rId4"/>
    <p:sldId id="260" r:id="rId5"/>
    <p:sldId id="264" r:id="rId6"/>
    <p:sldId id="265" r:id="rId7"/>
    <p:sldId id="266" r:id="rId8"/>
    <p:sldId id="267" r:id="rId9"/>
    <p:sldId id="268" r:id="rId10"/>
    <p:sldId id="269" r:id="rId11"/>
    <p:sldId id="270" r:id="rId12"/>
    <p:sldId id="271" r:id="rId13"/>
    <p:sldId id="272" r:id="rId14"/>
    <p:sldId id="328" r:id="rId15"/>
    <p:sldId id="273" r:id="rId16"/>
    <p:sldId id="274" r:id="rId17"/>
    <p:sldId id="275" r:id="rId18"/>
    <p:sldId id="276"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3" r:id="rId34"/>
    <p:sldId id="294"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263"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714D"/>
    <a:srgbClr val="F9AD83"/>
    <a:srgbClr val="9DAA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6452" autoAdjust="0"/>
  </p:normalViewPr>
  <p:slideViewPr>
    <p:cSldViewPr>
      <p:cViewPr varScale="1">
        <p:scale>
          <a:sx n="51" d="100"/>
          <a:sy n="51" d="100"/>
        </p:scale>
        <p:origin x="254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F10FB6-0FD3-42A2-8A4A-F0B9C3128C6D}" type="datetimeFigureOut">
              <a:rPr lang="ru-RU" smtClean="0"/>
              <a:t>28.02.2017</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30E90C-874E-41A0-A340-7342A18E153B}" type="slidenum">
              <a:rPr lang="ru-RU" smtClean="0"/>
              <a:t>‹#›</a:t>
            </a:fld>
            <a:endParaRPr lang="ru-RU"/>
          </a:p>
        </p:txBody>
      </p:sp>
    </p:spTree>
    <p:extLst>
      <p:ext uri="{BB962C8B-B14F-4D97-AF65-F5344CB8AC3E}">
        <p14:creationId xmlns:p14="http://schemas.microsoft.com/office/powerpoint/2010/main" val="3580360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3" Type="http://schemas.openxmlformats.org/officeDocument/2006/relationships/hyperlink" Target="http://ru.wikipedia.org/wiki/%D0%A0%D0%B0%D0%B7%D1%80%D0%B0%D0%B1%D0%BE%D1%82%D0%BA%D0%B0_%D0%BF%D1%80%D0%BE%D0%B3%D1%80%D0%B0%D0%BC%D0%BC%D0%BD%D0%BE%D0%B3%D0%BE_%D0%BE%D0%B1%D0%B5%D1%81%D0%BF%D0%B5%D1%87%D0%B5%D0%BD%D0%B8%D1%8F" TargetMode="External"/><Relationship Id="rId18" Type="http://schemas.openxmlformats.org/officeDocument/2006/relationships/hyperlink" Target="http://ru.wikipedia.org/wiki/%D0%A1%D0%B0%D0%BC%D0%BE%D0%BB%D0%B5%D1%82" TargetMode="External"/><Relationship Id="rId26" Type="http://schemas.openxmlformats.org/officeDocument/2006/relationships/hyperlink" Target="http://ru.wikipedia.org/w/index.php?title=%D0%A3%D0%BF%D1%80%D0%B0%D0%B2%D0%BB%D0%B5%D0%BD%D0%B8%D0%B5_%D1%80%D0%B0%D0%B7%D1%80%D0%B0%D0%B1%D0%BE%D1%82%D0%BA%D0%BE%D0%B9_%D0%BF%D1%80%D0%BE%D0%B3%D1%80%D0%B0%D0%BC%D0%BC%D0%BD%D0%BE%D0%B3%D0%BE_%D0%BE%D0%B1%D0%B5%D1%81%D0%BF%D0%B5%D1%87%D0%B5%D0%BD%D0%B8%D1%8F&amp;action=edit&amp;redlink=1" TargetMode="External"/><Relationship Id="rId39" Type="http://schemas.openxmlformats.org/officeDocument/2006/relationships/hyperlink" Target="http://ru.wikipedia.org/wiki/%D0%94%D0%BE%D0%BA%D1%83%D0%BC%D0%B5%D0%BD%D1%82%D0%B0%D1%86%D0%B8%D1%8F_%D0%BD%D0%B0_%D0%BF%D1%80%D0%BE%D0%B3%D1%80%D0%B0%D0%BC%D0%BC%D0%BD%D0%BE%D0%B5_%D0%BE%D0%B1%D0%B5%D1%81%D0%BF%D0%B5%D1%87%D0%B5%D0%BD%D0%B8%D0%B5" TargetMode="External"/><Relationship Id="rId21" Type="http://schemas.openxmlformats.org/officeDocument/2006/relationships/hyperlink" Target="http://ru.wikipedia.org/wiki/%D0%90%D0%B2%D1%82%D0%BE%D0%BC%D0%B0%D1%82%D0%B8%D0%B7%D0%B8%D1%80%D0%BE%D0%B2%D0%B0%D0%BD%D0%BD%D0%B0%D1%8F_%D0%A0%D0%B0%D0%B7%D1%80%D0%B0%D0%B1%D0%BE%D1%82%D0%BA%D0%B0_%D0%9F%D1%80%D0%BE%D0%B3%D1%80%D0%B0%D0%BC%D0%BC%D0%BD%D0%BE%D0%B3%D0%BE_%D0%9E%D0%B1%D0%B5%D1%81%D0%BF%D0%B5%D1%87%D0%B5%D0%BD%D0%B8%D1%8F" TargetMode="External"/><Relationship Id="rId34" Type="http://schemas.openxmlformats.org/officeDocument/2006/relationships/hyperlink" Target="http://ru.wikipedia.org/wiki/%D0%9F%D0%B0%D1%80%D0%B0%D0%B4%D0%B8%D0%B3%D0%BC%D0%B0_%D0%BF%D1%80%D0%BE%D0%B3%D1%80%D0%B0%D0%BC%D0%BC%D0%B8%D1%80%D0%BE%D0%B2%D0%B0%D0%BD%D0%B8%D1%8F" TargetMode="External"/><Relationship Id="rId42" Type="http://schemas.openxmlformats.org/officeDocument/2006/relationships/hyperlink" Target="http://ru.wikipedia.org/wiki/%D0%A1%D1%82%D1%80%D1%83%D0%BA%D1%82%D1%83%D1%80%D0%BD%D0%BE%D0%B5_%D0%BF%D1%80%D0%BE%D0%B3%D1%80%D0%B0%D0%BC%D0%BC%D0%B8%D1%80%D0%BE%D0%B2%D0%B0%D0%BD%D0%B8%D0%B5" TargetMode="External"/><Relationship Id="rId7" Type="http://schemas.openxmlformats.org/officeDocument/2006/relationships/hyperlink" Target="http://ru.wikipedia.org/wiki/%D0%98%D0%BD%D1%84%D0%BE%D1%80%D0%BC%D0%B0%D1%82%D0%B8%D0%BA%D0%B0" TargetMode="External"/><Relationship Id="rId2" Type="http://schemas.openxmlformats.org/officeDocument/2006/relationships/slide" Target="../slides/slide3.xml"/><Relationship Id="rId16" Type="http://schemas.openxmlformats.org/officeDocument/2006/relationships/hyperlink" Target="http://ru.wikipedia.org/wiki/%D0%9A%D0%BE%D0%BB%D0%B8%D1%87%D0%B5%D1%81%D1%82%D0%B2%D0%BE_%D1%81%D1%82%D1%80%D0%BE%D0%BA_%D0%BA%D0%BE%D0%B4%D0%B0" TargetMode="External"/><Relationship Id="rId29" Type="http://schemas.openxmlformats.org/officeDocument/2006/relationships/hyperlink" Target="http://ru.wikipedia.org/wiki/%D0%9C%D0%BE%D0%B4%D0%B5%D0%BB%D1%8C_%D0%B2%D0%BE%D0%B4%D0%BE%D0%BF%D0%B0%D0%B4%D0%B0" TargetMode="External"/><Relationship Id="rId1" Type="http://schemas.openxmlformats.org/officeDocument/2006/relationships/notesMaster" Target="../notesMasters/notesMaster1.xml"/><Relationship Id="rId6" Type="http://schemas.openxmlformats.org/officeDocument/2006/relationships/hyperlink" Target="http://ru.wikipedia.org/wiki/%D0%9C%D0%B0%D1%82%D0%B5%D0%BC%D0%B0%D1%82%D0%B8%D0%BA%D0%B0" TargetMode="External"/><Relationship Id="rId11" Type="http://schemas.openxmlformats.org/officeDocument/2006/relationships/hyperlink" Target="http://ru.wikipedia.org/wiki/%D0%90%D0%BD%D0%B3%D0%BB%D0%B8%D0%B9%D1%81%D0%BA%D0%B8%D0%B9_%D1%8F%D0%B7%D1%8B%D0%BA" TargetMode="External"/><Relationship Id="rId24" Type="http://schemas.openxmlformats.org/officeDocument/2006/relationships/hyperlink" Target="http://ru.wikipedia.org/w/index.php?title=%D0%9E%D0%B1%D1%81%D0%BB%D1%83%D0%B6%D0%B8%D0%B2%D0%B0%D0%BD%D0%B8%D0%B5_%D0%BF%D1%80%D0%BE%D0%B3%D1%80%D0%B0%D0%BC%D0%BC%D0%BD%D0%BE%D0%B3%D0%BE_%D0%BE%D0%B1%D0%B5%D1%81%D0%BF%D0%B5%D1%87%D0%B5%D0%BD%D0%B8%D1%8F&amp;action=edit&amp;redlink=1" TargetMode="External"/><Relationship Id="rId32" Type="http://schemas.openxmlformats.org/officeDocument/2006/relationships/hyperlink" Target="http://ru.wikipedia.org/wiki/%D0%9B%D0%BE%D0%BA%D0%B0%D0%BB%D0%B8%D0%B7%D0%B0%D1%86%D0%B8%D1%8F_%D0%BF%D1%80%D0%BE%D0%B3%D1%80%D0%B0%D0%BC%D0%BC%D0%BD%D0%BE%D0%B3%D0%BE_%D0%BE%D0%B1%D0%B5%D1%81%D0%BF%D0%B5%D1%87%D0%B5%D0%BD%D0%B8%D1%8F" TargetMode="External"/><Relationship Id="rId37" Type="http://schemas.openxmlformats.org/officeDocument/2006/relationships/hyperlink" Target="http://ru.wikipedia.org/w/index.php?title=%D0%A0%D0%B0%D0%B7%D1%80%D0%B0%D0%B1%D0%BE%D1%82%D0%BA%D0%B0_%D0%B0%D1%80%D1%85%D0%B8%D1%82%D0%B5%D0%BA%D1%82%D1%83%D1%80%D1%8B_%D0%BF%D1%80%D0%BE%D0%B3%D1%80%D0%B0%D0%BC%D0%BC%D0%BD%D0%BE%D0%B3%D0%BE_%D0%BE%D0%B1%D0%B5%D1%81%D0%BF%D0%B5%D1%87%D0%B5%D0%BD%D0%B8%D1%8F&amp;action=edit&amp;redlink=1" TargetMode="External"/><Relationship Id="rId40" Type="http://schemas.openxmlformats.org/officeDocument/2006/relationships/hyperlink" Target="http://ru.wikipedia.org/wiki/%D0%92%D0%BD%D0%B5%D0%B4%D1%80%D0%B5%D0%BD%D0%B8%D0%B5_%D0%BF%D1%80%D0%BE%D0%B3%D1%80%D0%B0%D0%BC%D0%BC%D0%BD%D0%BE%D0%B3%D0%BE_%D0%BE%D0%B1%D0%B5%D1%81%D0%BF%D0%B5%D1%87%D0%B5%D0%BD%D0%B8%D1%8F" TargetMode="External"/><Relationship Id="rId45" Type="http://schemas.openxmlformats.org/officeDocument/2006/relationships/hyperlink" Target="http://ru.wikipedia.org/wiki/%D0%9B%D0%BE%D0%B3%D0%B8%D1%87%D0%B5%D1%81%D0%BA%D0%BE%D0%B5_%D0%BF%D1%80%D0%BE%D0%B3%D1%80%D0%B0%D0%BC%D0%BC%D0%B8%D1%80%D0%BE%D0%B2%D0%B0%D0%BD%D0%B8%D0%B5" TargetMode="External"/><Relationship Id="rId5" Type="http://schemas.openxmlformats.org/officeDocument/2006/relationships/hyperlink" Target="http://ru.wikipedia.org/wiki/%D0%9F%D1%80%D0%BE%D1%84%D0%B5%D1%81%D1%81%D0%B8%D1%8F" TargetMode="External"/><Relationship Id="rId15" Type="http://schemas.openxmlformats.org/officeDocument/2006/relationships/hyperlink" Target="http://ru.wikipedia.org/wiki/%D0%A3%D0%BF%D1%80%D0%B0%D0%B2%D0%BB%D0%B5%D0%BD%D0%B8%D0%B5_%D0%BF%D1%80%D0%BE%D0%B5%D0%BA%D1%82%D0%B0%D0%BC%D0%B8" TargetMode="External"/><Relationship Id="rId23" Type="http://schemas.openxmlformats.org/officeDocument/2006/relationships/hyperlink" Target="http://ru.wikipedia.org/wiki/%D0%A2%D0%B5%D1%81%D1%82%D0%B8%D1%80%D0%BE%D0%B2%D0%B0%D0%BD%D0%B8%D0%B5_%D0%BF%D1%80%D0%BE%D0%B3%D1%80%D0%B0%D0%BC%D0%BC%D0%BD%D0%BE%D0%B3%D0%BE_%D0%BE%D0%B1%D0%B5%D1%81%D0%BF%D0%B5%D1%87%D0%B5%D0%BD%D0%B8%D1%8F" TargetMode="External"/><Relationship Id="rId28" Type="http://schemas.openxmlformats.org/officeDocument/2006/relationships/hyperlink" Target="http://ru.wikipedia.org/wiki/%D0%93%D0%B8%D0%B1%D0%BA%D0%B0%D1%8F_%D0%BC%D0%B5%D1%82%D0%BE%D0%B4%D0%BE%D0%BB%D0%BE%D0%B3%D0%B8%D1%8F_%D1%80%D0%B0%D0%B7%D1%80%D0%B0%D0%B1%D0%BE%D1%82%D0%BA%D0%B8" TargetMode="External"/><Relationship Id="rId36" Type="http://schemas.openxmlformats.org/officeDocument/2006/relationships/hyperlink" Target="http://ru.wikipedia.org/wiki/%D0%90%D0%BD%D0%B0%D0%BB%D0%B8%D0%B7_%D1%82%D1%80%D0%B5%D0%B1%D0%BE%D0%B2%D0%B0%D0%BD%D0%B8%D0%B9_(%D1%80%D0%B0%D0%B7%D1%80%D0%B0%D0%B1%D0%BE%D1%82%D0%BA%D0%B0_%D0%9F%D0%9E)" TargetMode="External"/><Relationship Id="rId10" Type="http://schemas.openxmlformats.org/officeDocument/2006/relationships/hyperlink" Target="http://ru.wikipedia.org/wiki/%D0%98%D0%BD%D0%B6%D0%B5%D0%BD%D0%B5%D1%80%D0%B8%D1%8F_%D0%BF%D1%80%D0%BE%D0%B3%D1%80%D0%B0%D0%BC%D0%BC%D0%BD%D0%BE%D0%B3%D0%BE_%D0%BE%D0%B1%D0%B5%D1%81%D0%BF%D0%B5%D1%87%D0%B5%D0%BD%D0%B8%D1%8F" TargetMode="External"/><Relationship Id="rId19" Type="http://schemas.openxmlformats.org/officeDocument/2006/relationships/hyperlink" Target="http://ru.wikipedia.org/wiki/%D0%A2%D1%80%D0%B5%D0%B1%D0%BE%D0%B2%D0%B0%D0%BD%D0%B8%D1%8F_%D0%BA_%D0%BF%D1%80%D0%BE%D0%B3%D1%80%D0%B0%D0%BC%D0%BC%D0%BD%D0%BE%D0%BC%D1%83_%D0%BE%D0%B1%D0%B5%D1%81%D0%BF%D0%B5%D1%87%D0%B5%D0%BD%D0%B8%D1%8E" TargetMode="External"/><Relationship Id="rId31" Type="http://schemas.openxmlformats.org/officeDocument/2006/relationships/hyperlink" Target="http://ru.wikipedia.org/wiki/%D0%9A%D0%B0%D1%87%D0%B5%D1%81%D1%82%D0%B2%D0%BE_%D0%BF%D1%80%D0%BE%D0%B3%D1%80%D0%B0%D0%BC%D0%BC%D0%BD%D0%BE%D0%B3%D0%BE_%D0%BE%D0%B1%D0%B5%D1%81%D0%BF%D0%B5%D1%87%D0%B5%D0%BD%D0%B8%D1%8F" TargetMode="External"/><Relationship Id="rId44" Type="http://schemas.openxmlformats.org/officeDocument/2006/relationships/hyperlink" Target="http://ru.wikipedia.org/wiki/%D0%AD%D0%BA%D1%81%D1%82%D1%80%D0%B5%D0%BC%D0%B0%D0%BB%D1%8C%D0%BD%D0%BE%D0%B5_%D0%BF%D1%80%D0%BE%D0%B3%D1%80%D0%B0%D0%BC%D0%BC%D0%B8%D1%80%D0%BE%D0%B2%D0%B0%D0%BD%D0%B8%D0%B5" TargetMode="External"/><Relationship Id="rId4" Type="http://schemas.openxmlformats.org/officeDocument/2006/relationships/hyperlink" Target="http://ru.wikipedia.org/wiki/%D0%9A%D1%80%D0%B8%D0%B7%D0%B8%D1%81_%D0%BF%D1%80%D0%BE%D0%B3%D1%80%D0%B0%D0%BC%D0%BC%D0%BD%D0%BE%D0%B3%D0%BE_%D0%BE%D0%B1%D0%B5%D1%81%D0%BF%D0%B5%D1%87%D0%B5%D0%BD%D0%B8%D1%8F" TargetMode="External"/><Relationship Id="rId9" Type="http://schemas.openxmlformats.org/officeDocument/2006/relationships/hyperlink" Target="http://ru.wikipedia.org/wiki/%D0%98%D0%BD%D0%B6%D0%B5%D0%BD%D0%B5%D1%80%D0%BD%D0%BE%D0%B5_%D0%B4%D0%B5%D0%BB%D0%BE" TargetMode="External"/><Relationship Id="rId14" Type="http://schemas.openxmlformats.org/officeDocument/2006/relationships/hyperlink" Target="http://ru.wikipedia.org/wiki/%D0%9C%D0%B5%D1%82%D0%BE%D0%B4%D0%BE%D0%BB%D0%BE%D0%B3%D0%B8%D1%8F" TargetMode="External"/><Relationship Id="rId22" Type="http://schemas.openxmlformats.org/officeDocument/2006/relationships/hyperlink" Target="http://ru.wikipedia.org/wiki/UML" TargetMode="External"/><Relationship Id="rId27" Type="http://schemas.openxmlformats.org/officeDocument/2006/relationships/hyperlink" Target="http://ru.wikipedia.org/wiki/%D0%9F%D1%80%D0%BE%D1%86%D0%B5%D1%81%D1%81_%D1%80%D0%B0%D0%B7%D1%80%D0%B0%D0%B1%D0%BE%D1%82%D0%BA%D0%B8_%D0%BF%D1%80%D0%BE%D0%B3%D1%80%D0%B0%D0%BC%D0%BC%D0%BD%D0%BE%D0%B3%D0%BE_%D0%BE%D0%B1%D0%B5%D1%81%D0%BF%D0%B5%D1%87%D0%B5%D0%BD%D0%B8%D1%8F" TargetMode="External"/><Relationship Id="rId30" Type="http://schemas.openxmlformats.org/officeDocument/2006/relationships/hyperlink" Target="http://ru.wikipedia.org/wiki/CASE" TargetMode="External"/><Relationship Id="rId35" Type="http://schemas.openxmlformats.org/officeDocument/2006/relationships/hyperlink" Target="http://ru.wikipedia.org/wiki/%D0%91%D0%B8%D0%B7%D0%BD%D0%B5%D1%81-%D0%BC%D0%BE%D0%B4%D0%B5%D0%BB%D0%B8%D1%80%D0%BE%D0%B2%D0%B0%D0%BD%D0%B8%D0%B5" TargetMode="External"/><Relationship Id="rId43" Type="http://schemas.openxmlformats.org/officeDocument/2006/relationships/hyperlink" Target="http://ru.wikipedia.org/wiki/%D0%A1%D0%B5%D1%80%D1%82%D0%B8%D1%84%D0%B8%D0%BA%D0%B0%D1%86%D0%B8%D1%8F" TargetMode="External"/><Relationship Id="rId8" Type="http://schemas.openxmlformats.org/officeDocument/2006/relationships/hyperlink" Target="http://ru.wikipedia.org/wiki/%D0%9A%D0%BE%D0%BC%D0%BF%D1%8C%D1%8E%D1%82%D0%B5%D1%80%D0%BD%D1%8B%D0%B5_%D0%BD%D0%B0%D1%83%D0%BA%D0%B8" TargetMode="External"/><Relationship Id="rId3" Type="http://schemas.openxmlformats.org/officeDocument/2006/relationships/hyperlink" Target="http://ru.wikipedia.org/wiki/%D0%98%D0%BD%D0%B6%D0%B5%D0%BD%D0%B5%D1%80%D0%B8%D1%8F" TargetMode="External"/><Relationship Id="rId12" Type="http://schemas.openxmlformats.org/officeDocument/2006/relationships/hyperlink" Target="http://ru.wikipedia.org/wiki/%D0%9F%D1%80%D0%BE%D0%B3%D1%80%D0%B0%D0%BC%D0%BC%D0%BD%D0%BE%D0%B5_%D0%BE%D0%B1%D0%B5%D1%81%D0%BF%D0%B5%D1%87%D0%B5%D0%BD%D0%B8%D0%B5" TargetMode="External"/><Relationship Id="rId17" Type="http://schemas.openxmlformats.org/officeDocument/2006/relationships/hyperlink" Target="http://ru.wikipedia.org/wiki/%D0%98%D1%81%D1%85%D0%BE%D0%B4%D0%BD%D1%8B%D0%B9_%D0%BA%D0%BE%D0%B4" TargetMode="External"/><Relationship Id="rId25" Type="http://schemas.openxmlformats.org/officeDocument/2006/relationships/hyperlink" Target="http://ru.wikipedia.org/w/index.php?title=%D0%A3%D0%BF%D1%80%D0%B0%D0%B2%D0%BB%D0%B5%D0%BD%D0%B8%D0%B5_%D0%BA%D0%BE%D0%BD%D1%84%D0%B8%D0%B3%D1%83%D1%80%D0%B0%D1%86%D0%B8%D0%B5%D0%B9_%D0%BF%D1%80%D0%BE%D0%B3%D1%80%D0%B0%D0%BC%D0%BC%D0%BD%D0%BE%D0%B3%D0%BE_%D0%BE%D0%B1%D0%B5%D1%81%D0%BF%D0%B5%D1%87%D0%B5%D0%BD%D0%B8%D1%8F&amp;action=edit&amp;redlink=1" TargetMode="External"/><Relationship Id="rId33" Type="http://schemas.openxmlformats.org/officeDocument/2006/relationships/hyperlink" Target="http://ru.wikipedia.org/w/index.php?title=%D0%AF%D0%B7%D1%8B%D0%BA%D0%BE%D0%B2%D0%B0%D1%8F_%D0%BF%D1%80%D0%BE%D0%BC%D1%8B%D1%88%D0%BB%D0%B5%D0%BD%D0%BD%D0%BE%D1%81%D1%82%D1%8C&amp;action=edit&amp;redlink=1" TargetMode="External"/><Relationship Id="rId38" Type="http://schemas.openxmlformats.org/officeDocument/2006/relationships/hyperlink" Target="http://ru.wikipedia.org/wiki/%D0%9F%D1%80%D0%BE%D0%B3%D1%80%D0%B0%D0%BC%D0%BC%D0%B8%D1%80%D0%BE%D0%B2%D0%B0%D0%BD%D0%B8%D0%B5" TargetMode="External"/><Relationship Id="rId46" Type="http://schemas.openxmlformats.org/officeDocument/2006/relationships/hyperlink" Target="http://ru.wikipedia.org/wiki/%D0%94%D0%BE%D0%BA%D0%B0%D0%B7%D0%B0%D1%82%D0%B5%D0%BB%D1%8C%D0%BD%D0%BE%D0%B5_%D0%BF%D1%80%D0%BE%D0%B3%D1%80%D0%B0%D0%BC%D0%BC%D0%B8%D1%80%D0%BE%D0%B2%D0%B0%D0%BD%D0%B8%D0%B5" TargetMode="External"/><Relationship Id="rId20" Type="http://schemas.openxmlformats.org/officeDocument/2006/relationships/hyperlink" Target="http://ru.wikipedia.org/wiki/%D0%9F%D1%80%D0%BE%D0%B5%D0%BA%D1%82%D0%B8%D1%80%D0%BE%D0%B2%D0%B0%D0%BD%D0%B8%D0%B5_%D0%BF%D1%80%D0%BE%D0%B3%D1%80%D0%B0%D0%BC%D0%BC%D0%BD%D0%BE%D0%B3%D0%BE_%D0%BE%D0%B1%D0%B5%D1%81%D0%BF%D0%B5%D1%87%D0%B5%D0%BD%D0%B8%D1%8F" TargetMode="External"/><Relationship Id="rId41" Type="http://schemas.openxmlformats.org/officeDocument/2006/relationships/hyperlink" Target="http://ru.wikipedia.org/wiki/%D0%A1%D0%BE%D0%BF%D1%80%D0%BE%D0%B2%D0%BE%D0%B6%D0%B4%D0%B5%D0%BD%D0%B8%D0%B5_%D0%BF%D1%80%D0%BE%D0%B3%D1%80%D0%B0%D0%BC%D0%BC%D0%BD%D0%BE%D0%B3%D0%BE_%D0%BE%D0%B1%D0%B5%D1%81%D0%BF%D0%B5%D1%87%D0%B5%D0%BD%D0%B8%D1%8F"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ru.wikipedia.org/wiki/%D0%AD%D1%82%D0%B0%D0%BF"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ru.wikipedia.org/wiki/%D0%93%D0%9E%D0%A1%D0%A2"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ru.wikipedia.org/wiki/%D0%97%D0%B0%D0%B4%D0%B0%D1%87%D0%B0" TargetMode="External"/><Relationship Id="rId5" Type="http://schemas.openxmlformats.org/officeDocument/2006/relationships/hyperlink" Target="http://ru.wikipedia.org/wiki/%D0%94%D0%B5%D1%8F%D1%82%D0%B5%D0%BB%D1%8C%D0%BD%D0%BE%D1%81%D1%82%D1%8C" TargetMode="External"/><Relationship Id="rId4" Type="http://schemas.openxmlformats.org/officeDocument/2006/relationships/hyperlink" Target="http://ru.wikipedia.org/wiki/%D0%9F%D1%80%D0%BE%D1%86%D0%B5%D1%81%D1%81"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ru.wikipedia.org/wiki/%D0%9C%D0%BE%D0%B4%D0%B5%D0%BB%D1%8C_%D0%B2%D0%BE%D0%B4%D0%BE%D0%BF%D0%B0%D0%B4%D0%B0"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ru.wikipedia.org/w/index.php?title=%D0%A3%D0%B8%D0%BD%D1%81%D1%82%D0%BE%D0%BD_%D0%A0%D0%BE%D0%B9%D1%81&amp;action=edit&amp;redlink=1" TargetMode="External"/><Relationship Id="rId4" Type="http://schemas.openxmlformats.org/officeDocument/2006/relationships/hyperlink" Target="http://ru.wikipedia.org/wiki/%D0%90%D0%BD%D0%B3%D0%BB%D0%B8%D0%B9%D1%81%D0%BA%D0%B8%D0%B9_%D1%8F%D0%B7%D1%8B%D0%BA"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ru.wikipedia.org/wiki/%D0%96%D0%B8%D0%B7%D0%BD%D0%B5%D0%BD%D0%BD%D1%8B%D0%B9_%D1%86%D0%B8%D0%BA%D0%BB_%D0%BF%D1%80%D0%BE%D0%B3%D1%80%D0%B0%D0%BC%D0%BC%D0%BD%D0%BE%D0%B3%D0%BE_%D0%BE%D0%B1%D0%B5%D1%81%D0%BF%D0%B5%D1%87%D0%B5%D0%BD%D0%B8%D1%8F"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ru.wikipedia.org/wiki/%D0%AD%D0%BA%D1%81%D1%82%D1%80%D0%B5%D0%BC%D0%B0%D0%BB%D1%8C%D0%BD%D0%BE%D0%B5_%D0%BF%D1%80%D0%BE%D0%B3%D1%80%D0%B0%D0%BC%D0%BC%D0%B8%D1%80%D0%BE%D0%B2%D0%B0%D0%BD%D0%B8%D0%B5" TargetMode="External"/><Relationship Id="rId5" Type="http://schemas.openxmlformats.org/officeDocument/2006/relationships/hyperlink" Target="http://ru.wikipedia.org/wiki/Microsoft_Solutions_Framework" TargetMode="External"/><Relationship Id="rId4" Type="http://schemas.openxmlformats.org/officeDocument/2006/relationships/hyperlink" Target="http://ru.wikipedia.org/wiki/Rational_Unified_Process" TargetMode="Externa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ru.wikipedia.org/wiki/%D0%96%D0%B8%D0%B7%D0%BD%D0%B5%D0%BD%D0%BD%D1%8B%D0%B9_%D1%86%D0%B8%D0%BA%D0%BB_%D0%BF%D1%80%D0%BE%D0%B3%D1%80%D0%B0%D0%BC%D0%BC%D0%BD%D0%BE%D0%B3%D0%BE_%D0%BE%D0%B1%D0%B5%D1%81%D0%BF%D0%B5%D1%87%D0%B5%D0%BD%D0%B8%D1%8F" TargetMode="External"/><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8" Type="http://schemas.openxmlformats.org/officeDocument/2006/relationships/hyperlink" Target="http://ru.wikipedia.org/wiki/%D0%9F%D1%80%D0%BE%D1%82%D0%BE%D1%82%D0%B8%D0%BF%D0%B8%D1%80%D0%BE%D0%B2%D0%B0%D0%BD%D0%B8%D0%B5_%D0%BF%D1%80%D0%BE%D0%B3%D1%80%D0%B0%D0%BC%D0%BC%D0%BD%D0%BE%D0%B3%D0%BE_%D0%BE%D0%B1%D0%B5%D1%81%D0%BF%D0%B5%D1%87%D0%B5%D0%BD%D0%B8%D1%8F" TargetMode="External"/><Relationship Id="rId13" Type="http://schemas.openxmlformats.org/officeDocument/2006/relationships/hyperlink" Target="http://ru.wikipedia.org/wiki/%D0%9C%D0%BE%D0%B4%D0%B5%D0%BB%D1%8C_%D0%B2%D0%BE%D0%B4%D0%BE%D0%BF%D0%B0%D0%B4%D0%B0" TargetMode="External"/><Relationship Id="rId3" Type="http://schemas.openxmlformats.org/officeDocument/2006/relationships/hyperlink" Target="http://ru.wikipedia.org/wiki/%D0%A1%D0%BF%D0%B8%D1%80%D0%B0%D0%BB%D1%8C%D0%BD%D0%B0%D1%8F_%D0%BC%D0%BE%D0%B4%D0%B5%D0%BB%D1%8C" TargetMode="External"/><Relationship Id="rId7" Type="http://schemas.openxmlformats.org/officeDocument/2006/relationships/hyperlink" Target="http://ru.wikipedia.org/wiki/%D0%98%D1%82%D0%B5%D1%80%D0%B0%D1%86%D0%B8%D1%8F" TargetMode="External"/><Relationship Id="rId12" Type="http://schemas.openxmlformats.org/officeDocument/2006/relationships/hyperlink" Target="http://ru.wikipedia.org/wiki/%D0%9F%D1%80%D0%BE%D1%82%D0%BE%D1%82%D0%B8%D0%BF%D0%B8%D1%80%D0%BE%D0%B2%D0%B0%D0%BD%D0%B8%D0%B5" TargetMode="External"/><Relationship Id="rId2" Type="http://schemas.openxmlformats.org/officeDocument/2006/relationships/slide" Target="../slides/slide61.xml"/><Relationship Id="rId1" Type="http://schemas.openxmlformats.org/officeDocument/2006/relationships/notesMaster" Target="../notesMasters/notesMaster1.xml"/><Relationship Id="rId6" Type="http://schemas.openxmlformats.org/officeDocument/2006/relationships/hyperlink" Target="http://ru.wikipedia.org/wiki/%D0%A6%D0%B8%D0%BA%D0%BB_%D0%94%D0%B5%D0%BC%D0%B8%D0%BD%D0%B3%D0%B0" TargetMode="External"/><Relationship Id="rId11" Type="http://schemas.openxmlformats.org/officeDocument/2006/relationships/hyperlink" Target="http://ru.wikipedia.org/wiki/%D0%9F%D1%80%D0%BE%D1%86%D0%B5%D1%81%D1%81_%D1%80%D0%B0%D0%B7%D1%80%D0%B0%D0%B1%D0%BE%D1%82%D0%BA%D0%B8_%D0%BF%D1%80%D0%BE%D0%B3%D1%80%D0%B0%D0%BC%D0%BC%D0%BD%D0%BE%D0%B3%D0%BE_%D0%BE%D0%B1%D0%B5%D1%81%D0%BF%D0%B5%D1%87%D0%B5%D0%BD%D0%B8%D1%8F" TargetMode="External"/><Relationship Id="rId5" Type="http://schemas.openxmlformats.org/officeDocument/2006/relationships/hyperlink" Target="http://ru.wikipedia.org/w/index.php?title=%D0%91%D0%B0%D1%80%D1%80%D0%B8_%D0%91%D0%BE%D1%8D%D0%BC&amp;action=edit&amp;redlink=1" TargetMode="External"/><Relationship Id="rId15" Type="http://schemas.openxmlformats.org/officeDocument/2006/relationships/hyperlink" Target="http://sadd4ru.codeplex.com/" TargetMode="External"/><Relationship Id="rId10" Type="http://schemas.openxmlformats.org/officeDocument/2006/relationships/hyperlink" Target="http://ru.wikipedia.org/wiki/1988_%D0%B3%D0%BE%D0%B4" TargetMode="External"/><Relationship Id="rId4" Type="http://schemas.openxmlformats.org/officeDocument/2006/relationships/hyperlink" Target="http://ru.wikipedia.org/wiki/%D0%90%D0%BD%D0%B3%D0%BB%D0%B8%D0%B9%D1%81%D0%BA%D0%B8%D0%B9_%D1%8F%D0%B7%D1%8B%D0%BA" TargetMode="External"/><Relationship Id="rId9" Type="http://schemas.openxmlformats.org/officeDocument/2006/relationships/hyperlink" Target="http://ru.wikipedia.org/wiki/%D0%96%D0%B8%D0%B7%D0%BD%D0%B5%D0%BD%D0%BD%D1%8B%D0%B9_%D1%86%D0%B8%D0%BA%D0%BB_%D0%BF%D1%80%D0%BE%D0%B3%D1%80%D0%B0%D0%BC%D0%BC%D0%BD%D0%BE%D0%B3%D0%BE_%D0%BE%D0%B1%D0%B5%D1%81%D0%BF%D0%B5%D1%87%D0%B5%D0%BD%D0%B8%D1%8F" TargetMode="External"/><Relationship Id="rId14" Type="http://schemas.openxmlformats.org/officeDocument/2006/relationships/hyperlink" Target="http://ru.wikipedia.org/wiki/RAD_(%D0%BF%D1%80%D0%BE%D0%B3%D1%80%D0%B0%D0%BC%D0%BC%D0%B8%D1%80%D0%BE%D0%B2%D0%B0%D0%BD%D0%B8%D0%B5)" TargetMode="Externa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dirty="0" smtClean="0">
                <a:solidFill>
                  <a:schemeClr val="tx1"/>
                </a:solidFill>
                <a:effectLst/>
                <a:latin typeface="+mn-lt"/>
                <a:ea typeface="+mn-ea"/>
                <a:cs typeface="+mn-cs"/>
              </a:rPr>
              <a:t>Процесс современной разработки программного обеспечения  ориентирован на жизненный цикл программного </a:t>
            </a:r>
          </a:p>
          <a:p>
            <a:r>
              <a:rPr lang="ru-RU" sz="1200" kern="1200" dirty="0" smtClean="0">
                <a:solidFill>
                  <a:schemeClr val="tx1"/>
                </a:solidFill>
                <a:effectLst/>
                <a:latin typeface="+mn-lt"/>
                <a:ea typeface="+mn-ea"/>
                <a:cs typeface="+mn-cs"/>
              </a:rPr>
              <a:t>продукта. Все  существующие в настоящее время технологии, методики и стандарты  напрямую или косвенно касаются или регламентируют этапы </a:t>
            </a:r>
          </a:p>
          <a:p>
            <a:r>
              <a:rPr lang="ru-RU" sz="1200" kern="1200" dirty="0" smtClean="0">
                <a:solidFill>
                  <a:schemeClr val="tx1"/>
                </a:solidFill>
                <a:effectLst/>
                <a:latin typeface="+mn-lt"/>
                <a:ea typeface="+mn-ea"/>
                <a:cs typeface="+mn-cs"/>
              </a:rPr>
              <a:t>жизненного цикла, как по функциональному наполнению, так и по содержанию.</a:t>
            </a:r>
          </a:p>
          <a:p>
            <a:r>
              <a:rPr lang="ru-RU" sz="1200" kern="1200" dirty="0" smtClean="0">
                <a:solidFill>
                  <a:schemeClr val="tx1"/>
                </a:solidFill>
                <a:effectLst/>
                <a:latin typeface="+mn-lt"/>
                <a:ea typeface="+mn-ea"/>
                <a:cs typeface="+mn-cs"/>
              </a:rPr>
              <a:t>Процесс разработки программных систем тесно связан с областью управления проектами, потому что любой программный продукт </a:t>
            </a:r>
          </a:p>
          <a:p>
            <a:r>
              <a:rPr lang="ru-RU" sz="1200" kern="1200" dirty="0" smtClean="0">
                <a:solidFill>
                  <a:schemeClr val="tx1"/>
                </a:solidFill>
                <a:effectLst/>
                <a:latin typeface="+mn-lt"/>
                <a:ea typeface="+mn-ea"/>
                <a:cs typeface="+mn-cs"/>
              </a:rPr>
              <a:t>является уникальным результатом. От организации этого процесса напрямую зависят основные характеристики выполнения программного </a:t>
            </a:r>
          </a:p>
          <a:p>
            <a:r>
              <a:rPr lang="ru-RU" sz="1200" kern="1200" dirty="0" smtClean="0">
                <a:solidFill>
                  <a:schemeClr val="tx1"/>
                </a:solidFill>
                <a:effectLst/>
                <a:latin typeface="+mn-lt"/>
                <a:ea typeface="+mn-ea"/>
                <a:cs typeface="+mn-cs"/>
              </a:rPr>
              <a:t>проекта – сроки выполнения, запланированный бюджет, качество выпускаемого продукта.</a:t>
            </a:r>
          </a:p>
          <a:p>
            <a:r>
              <a:rPr lang="ru-RU" sz="1200" kern="1200" dirty="0" smtClean="0">
                <a:solidFill>
                  <a:schemeClr val="tx1"/>
                </a:solidFill>
                <a:effectLst/>
                <a:latin typeface="+mn-lt"/>
                <a:ea typeface="+mn-ea"/>
                <a:cs typeface="+mn-cs"/>
              </a:rPr>
              <a:t>Но профессиональное управление проектами само по себе не может обеспечить достижение указанных характеристик. Немаловажную роль в </a:t>
            </a:r>
          </a:p>
          <a:p>
            <a:r>
              <a:rPr lang="ru-RU" sz="1200" kern="1200" dirty="0" smtClean="0">
                <a:solidFill>
                  <a:schemeClr val="tx1"/>
                </a:solidFill>
                <a:effectLst/>
                <a:latin typeface="+mn-lt"/>
                <a:ea typeface="+mn-ea"/>
                <a:cs typeface="+mn-cs"/>
              </a:rPr>
              <a:t>этом играет архитектура программной системы, опыт и квалификация участников команды разработки, а также правильное документирование </a:t>
            </a:r>
          </a:p>
          <a:p>
            <a:r>
              <a:rPr lang="ru-RU" sz="1200" kern="1200" dirty="0" smtClean="0">
                <a:solidFill>
                  <a:schemeClr val="tx1"/>
                </a:solidFill>
                <a:effectLst/>
                <a:latin typeface="+mn-lt"/>
                <a:ea typeface="+mn-ea"/>
                <a:cs typeface="+mn-cs"/>
              </a:rPr>
              <a:t>всех процессов разработки программного обеспечения.</a:t>
            </a:r>
          </a:p>
          <a:p>
            <a:r>
              <a:rPr lang="ru-RU" sz="1200" kern="1200" dirty="0" smtClean="0">
                <a:solidFill>
                  <a:schemeClr val="tx1"/>
                </a:solidFill>
                <a:effectLst/>
                <a:latin typeface="+mn-lt"/>
                <a:ea typeface="+mn-ea"/>
                <a:cs typeface="+mn-cs"/>
              </a:rPr>
              <a:t>Существуют различные определения технологии разработки </a:t>
            </a:r>
          </a:p>
          <a:p>
            <a:r>
              <a:rPr lang="ru-RU" sz="1200" kern="1200" dirty="0" smtClean="0">
                <a:solidFill>
                  <a:schemeClr val="tx1"/>
                </a:solidFill>
                <a:effectLst/>
                <a:latin typeface="+mn-lt"/>
                <a:ea typeface="+mn-ea"/>
                <a:cs typeface="+mn-cs"/>
              </a:rPr>
              <a:t>программного обеспечения. К наиболее распространенным относятся </a:t>
            </a:r>
          </a:p>
          <a:p>
            <a:r>
              <a:rPr lang="ru-RU" sz="1200" kern="1200" dirty="0" smtClean="0">
                <a:solidFill>
                  <a:schemeClr val="tx1"/>
                </a:solidFill>
                <a:effectLst/>
                <a:latin typeface="+mn-lt"/>
                <a:ea typeface="+mn-ea"/>
                <a:cs typeface="+mn-cs"/>
              </a:rPr>
              <a:t>следующие. </a:t>
            </a: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pPr marL="685800" lvl="1" indent="-228600">
              <a:buFont typeface="Arial" pitchFamily="34" charset="0"/>
              <a:buNone/>
            </a:pPr>
            <a:endParaRPr lang="ru-RU" sz="1200" b="0" i="0" u="none" strike="noStrike" kern="120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1</a:t>
            </a:fld>
            <a:endParaRPr lang="ru-RU"/>
          </a:p>
        </p:txBody>
      </p:sp>
    </p:spTree>
    <p:extLst>
      <p:ext uri="{BB962C8B-B14F-4D97-AF65-F5344CB8AC3E}">
        <p14:creationId xmlns:p14="http://schemas.microsoft.com/office/powerpoint/2010/main" val="1568024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smtClean="0">
                <a:solidFill>
                  <a:schemeClr val="tx1"/>
                </a:solidFill>
                <a:effectLst/>
                <a:latin typeface="+mn-lt"/>
                <a:ea typeface="+mn-ea"/>
                <a:cs typeface="+mn-cs"/>
              </a:rPr>
              <a:t>Справедлива формула:</a:t>
            </a:r>
          </a:p>
          <a:p>
            <a:r>
              <a:rPr lang="ru-RU" sz="1200" b="1" kern="1200" dirty="0" smtClean="0">
                <a:solidFill>
                  <a:schemeClr val="tx1"/>
                </a:solidFill>
                <a:effectLst/>
                <a:latin typeface="+mn-lt"/>
                <a:ea typeface="+mn-ea"/>
                <a:cs typeface="+mn-cs"/>
              </a:rPr>
              <a:t>разработка = анализ + проектирование + программирование </a:t>
            </a:r>
          </a:p>
          <a:p>
            <a:r>
              <a:rPr lang="ru-RU" sz="1200" b="1" kern="1200" dirty="0" smtClean="0">
                <a:solidFill>
                  <a:schemeClr val="tx1"/>
                </a:solidFill>
                <a:effectLst/>
                <a:latin typeface="+mn-lt"/>
                <a:ea typeface="+mn-ea"/>
                <a:cs typeface="+mn-cs"/>
              </a:rPr>
              <a:t>(кодирование) + тестирование + отладка</a:t>
            </a:r>
          </a:p>
          <a:p>
            <a:endParaRPr lang="ru-RU" sz="1200" kern="1200" dirty="0" smtClean="0">
              <a:solidFill>
                <a:schemeClr val="tx1"/>
              </a:solidFill>
              <a:effectLst/>
              <a:latin typeface="+mn-lt"/>
              <a:ea typeface="+mn-ea"/>
              <a:cs typeface="+mn-cs"/>
            </a:endParaRPr>
          </a:p>
          <a:p>
            <a:r>
              <a:rPr lang="ru-RU" sz="1200" b="1" kern="1200" dirty="0" smtClean="0">
                <a:solidFill>
                  <a:schemeClr val="tx1"/>
                </a:solidFill>
                <a:effectLst/>
                <a:latin typeface="+mn-lt"/>
                <a:ea typeface="+mn-ea"/>
                <a:cs typeface="+mn-cs"/>
              </a:rPr>
              <a:t>Технология разработки программного обеспечения (ТРПО) </a:t>
            </a:r>
            <a:r>
              <a:rPr lang="ru-RU" sz="1200" kern="1200" dirty="0" smtClean="0">
                <a:solidFill>
                  <a:schemeClr val="tx1"/>
                </a:solidFill>
                <a:effectLst/>
                <a:latin typeface="+mn-lt"/>
                <a:ea typeface="+mn-ea"/>
                <a:cs typeface="+mn-cs"/>
              </a:rPr>
              <a:t>– это совокупность процессов и методов создания программного продукта.</a:t>
            </a:r>
          </a:p>
          <a:p>
            <a:r>
              <a:rPr lang="ru-RU" sz="1200" kern="1200" dirty="0" smtClean="0">
                <a:solidFill>
                  <a:schemeClr val="tx1"/>
                </a:solidFill>
                <a:effectLst/>
                <a:latin typeface="+mn-lt"/>
                <a:ea typeface="+mn-ea"/>
                <a:cs typeface="+mn-cs"/>
              </a:rPr>
              <a:t>Сам русский термин «технология программирования» был введен русским академиком Андреем Петровичем Ершовым. Он трактовал термин </a:t>
            </a:r>
          </a:p>
          <a:p>
            <a:r>
              <a:rPr lang="ru-RU" sz="1200" kern="1200" dirty="0" smtClean="0">
                <a:solidFill>
                  <a:schemeClr val="tx1"/>
                </a:solidFill>
                <a:effectLst/>
                <a:latin typeface="+mn-lt"/>
                <a:ea typeface="+mn-ea"/>
                <a:cs typeface="+mn-cs"/>
              </a:rPr>
              <a:t>«программирование» в обобщенном виде и подразумевал все виды деятельности, выполняемые в ходе создания </a:t>
            </a:r>
          </a:p>
          <a:p>
            <a:r>
              <a:rPr lang="ru-RU" sz="1200" kern="1200" dirty="0" smtClean="0">
                <a:solidFill>
                  <a:schemeClr val="tx1"/>
                </a:solidFill>
                <a:effectLst/>
                <a:latin typeface="+mn-lt"/>
                <a:ea typeface="+mn-ea"/>
                <a:cs typeface="+mn-cs"/>
              </a:rPr>
              <a:t>программных систем. На западе для определения этой деятельности использовался термин «</a:t>
            </a:r>
            <a:r>
              <a:rPr lang="ru-RU" sz="1200" kern="1200" dirty="0" err="1" smtClean="0">
                <a:solidFill>
                  <a:schemeClr val="tx1"/>
                </a:solidFill>
                <a:effectLst/>
                <a:latin typeface="+mn-lt"/>
                <a:ea typeface="+mn-ea"/>
                <a:cs typeface="+mn-cs"/>
              </a:rPr>
              <a:t>engineering</a:t>
            </a:r>
            <a:r>
              <a:rPr lang="ru-RU" sz="1200" kern="1200" dirty="0" smtClean="0">
                <a:solidFill>
                  <a:schemeClr val="tx1"/>
                </a:solidFill>
                <a:effectLst/>
                <a:latin typeface="+mn-lt"/>
                <a:ea typeface="+mn-ea"/>
                <a:cs typeface="+mn-cs"/>
              </a:rPr>
              <a:t>».</a:t>
            </a:r>
          </a:p>
          <a:p>
            <a:r>
              <a:rPr lang="ru-RU" sz="1200" kern="1200" dirty="0" smtClean="0">
                <a:solidFill>
                  <a:schemeClr val="tx1"/>
                </a:solidFill>
                <a:effectLst/>
                <a:latin typeface="+mn-lt"/>
                <a:ea typeface="+mn-ea"/>
                <a:cs typeface="+mn-cs"/>
              </a:rPr>
              <a:t>Сейчас обобщённый термин, применимый к созданию программных средств, обозначают как «разработка» или «конструирование».</a:t>
            </a:r>
          </a:p>
          <a:p>
            <a:r>
              <a:rPr lang="ru-RU" sz="1200" kern="1200" dirty="0" smtClean="0">
                <a:solidFill>
                  <a:schemeClr val="tx1"/>
                </a:solidFill>
                <a:effectLst/>
                <a:latin typeface="+mn-lt"/>
                <a:ea typeface="+mn-ea"/>
                <a:cs typeface="+mn-cs"/>
              </a:rPr>
              <a:t>Технология разработки программного обеспечения –это система инженерных принципов для создания экономичного ПО с заданными характеристиками качества.  Любая технология разработки ПО базируется на некоторой методологии. Под методологией понимается система принципов и способов организации процесса разработки программ. </a:t>
            </a:r>
          </a:p>
          <a:p>
            <a:r>
              <a:rPr lang="ru-RU" sz="1200" b="1" kern="1200" dirty="0" smtClean="0">
                <a:solidFill>
                  <a:schemeClr val="tx1"/>
                </a:solidFill>
                <a:effectLst/>
                <a:latin typeface="+mn-lt"/>
                <a:ea typeface="+mn-ea"/>
                <a:cs typeface="+mn-cs"/>
              </a:rPr>
              <a:t>Цель методологии разработки ПО </a:t>
            </a:r>
            <a:r>
              <a:rPr lang="ru-RU" sz="1200" kern="1200" dirty="0" smtClean="0">
                <a:solidFill>
                  <a:schemeClr val="tx1"/>
                </a:solidFill>
                <a:effectLst/>
                <a:latin typeface="+mn-lt"/>
                <a:ea typeface="+mn-ea"/>
                <a:cs typeface="+mn-cs"/>
              </a:rPr>
              <a:t>– внедрение методов разработки программ, обеспечивающих достижение соответствующих характеристик качества.</a:t>
            </a: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2</a:t>
            </a:fld>
            <a:endParaRPr lang="ru-RU"/>
          </a:p>
        </p:txBody>
      </p:sp>
    </p:spTree>
    <p:extLst>
      <p:ext uri="{BB962C8B-B14F-4D97-AF65-F5344CB8AC3E}">
        <p14:creationId xmlns:p14="http://schemas.microsoft.com/office/powerpoint/2010/main" val="3338100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32500" lnSpcReduction="20000"/>
          </a:bodyPr>
          <a:lstStyle/>
          <a:p>
            <a:r>
              <a:rPr lang="ru-RU" sz="1200" b="0" i="0" kern="1200" dirty="0" smtClean="0">
                <a:solidFill>
                  <a:schemeClr val="tx1"/>
                </a:solidFill>
                <a:latin typeface="+mn-lt"/>
                <a:ea typeface="+mn-ea"/>
                <a:cs typeface="+mn-cs"/>
              </a:rPr>
              <a:t>Термин «</a:t>
            </a:r>
            <a:r>
              <a:rPr lang="ru-RU" sz="1200" b="0" i="0" u="none" strike="noStrike" kern="1200" dirty="0" smtClean="0">
                <a:solidFill>
                  <a:schemeClr val="tx1"/>
                </a:solidFill>
                <a:latin typeface="+mn-lt"/>
                <a:ea typeface="+mn-ea"/>
                <a:cs typeface="+mn-cs"/>
                <a:hlinkClick r:id="rId3" tooltip="Инженерия"/>
              </a:rPr>
              <a:t>инженерия</a:t>
            </a:r>
            <a:r>
              <a:rPr lang="ru-RU" sz="1200" b="0" i="0" kern="1200" dirty="0" smtClean="0">
                <a:solidFill>
                  <a:schemeClr val="tx1"/>
                </a:solidFill>
                <a:latin typeface="+mn-lt"/>
                <a:ea typeface="+mn-ea"/>
                <a:cs typeface="+mn-cs"/>
              </a:rPr>
              <a:t> программного обеспечения» появился впервые в 1968 году на Конференции НАТО «Инженерия программного обеспечения» и предназначался, чтобы спровоцировать размышления относительно текущего в то время «</a:t>
            </a:r>
            <a:r>
              <a:rPr lang="ru-RU" sz="1200" b="0" i="0" u="none" strike="noStrike" kern="1200" dirty="0" smtClean="0">
                <a:solidFill>
                  <a:schemeClr val="tx1"/>
                </a:solidFill>
                <a:latin typeface="+mn-lt"/>
                <a:ea typeface="+mn-ea"/>
                <a:cs typeface="+mn-cs"/>
                <a:hlinkClick r:id="rId4" tooltip="Кризис программного обеспечения"/>
              </a:rPr>
              <a:t>кризиса программного обеспечения</a:t>
            </a:r>
            <a:r>
              <a:rPr lang="ru-RU" sz="1200" b="0" i="0" kern="1200" dirty="0" smtClean="0">
                <a:solidFill>
                  <a:schemeClr val="tx1"/>
                </a:solidFill>
                <a:latin typeface="+mn-lt"/>
                <a:ea typeface="+mn-ea"/>
                <a:cs typeface="+mn-cs"/>
              </a:rPr>
              <a:t>». С тех пор, это продолжилось как </a:t>
            </a:r>
            <a:r>
              <a:rPr lang="ru-RU" sz="1200" b="0" i="0" u="none" strike="noStrike" kern="1200" dirty="0" smtClean="0">
                <a:solidFill>
                  <a:schemeClr val="tx1"/>
                </a:solidFill>
                <a:latin typeface="+mn-lt"/>
                <a:ea typeface="+mn-ea"/>
                <a:cs typeface="+mn-cs"/>
                <a:hlinkClick r:id="rId5" tooltip="Профессия"/>
              </a:rPr>
              <a:t>профессия</a:t>
            </a:r>
            <a:r>
              <a:rPr lang="ru-RU" sz="1200" b="0" i="0" kern="1200" dirty="0" smtClean="0">
                <a:solidFill>
                  <a:schemeClr val="tx1"/>
                </a:solidFill>
                <a:latin typeface="+mn-lt"/>
                <a:ea typeface="+mn-ea"/>
                <a:cs typeface="+mn-cs"/>
              </a:rPr>
              <a:t> и область исследований, посвященных созданию программного </a:t>
            </a:r>
            <a:r>
              <a:rPr lang="ru-RU" sz="1200" b="0" i="0" kern="1200" dirty="0" smtClean="0">
                <a:solidFill>
                  <a:schemeClr val="tx1"/>
                </a:solidFill>
                <a:latin typeface="+mn-lt"/>
                <a:ea typeface="+mn-ea"/>
                <a:cs typeface="+mn-cs"/>
              </a:rPr>
              <a:t>обеспечения.</a:t>
            </a:r>
          </a:p>
          <a:p>
            <a:r>
              <a:rPr lang="ru-RU" sz="1200" b="1" i="0" kern="1200" dirty="0" smtClean="0">
                <a:solidFill>
                  <a:schemeClr val="tx1"/>
                </a:solidFill>
                <a:latin typeface="+mn-lt"/>
                <a:ea typeface="+mn-ea"/>
                <a:cs typeface="+mn-cs"/>
              </a:rPr>
              <a:t>Программная </a:t>
            </a:r>
            <a:r>
              <a:rPr lang="ru-RU" sz="1200" b="1" i="0" kern="1200" dirty="0" smtClean="0">
                <a:solidFill>
                  <a:schemeClr val="tx1"/>
                </a:solidFill>
                <a:latin typeface="+mn-lt"/>
                <a:ea typeface="+mn-ea"/>
                <a:cs typeface="+mn-cs"/>
              </a:rPr>
              <a:t>инженерия</a:t>
            </a:r>
            <a:r>
              <a:rPr lang="ru-RU" sz="1200" b="0" i="0" kern="1200" dirty="0" smtClean="0">
                <a:solidFill>
                  <a:schemeClr val="tx1"/>
                </a:solidFill>
                <a:latin typeface="+mn-lt"/>
                <a:ea typeface="+mn-ea"/>
                <a:cs typeface="+mn-cs"/>
              </a:rPr>
              <a:t> — это интегрирование принципов </a:t>
            </a:r>
            <a:r>
              <a:rPr lang="ru-RU" sz="1200" b="0" i="0" u="none" strike="noStrike" kern="1200" dirty="0" smtClean="0">
                <a:solidFill>
                  <a:schemeClr val="tx1"/>
                </a:solidFill>
                <a:latin typeface="+mn-lt"/>
                <a:ea typeface="+mn-ea"/>
                <a:cs typeface="+mn-cs"/>
                <a:hlinkClick r:id="rId6" tooltip="Математика"/>
              </a:rPr>
              <a:t>математики</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7" tooltip="Информатика"/>
              </a:rPr>
              <a:t>информатики</a:t>
            </a:r>
            <a:r>
              <a:rPr lang="ru-RU" sz="1200" b="0" i="0" kern="1200" dirty="0" smtClean="0">
                <a:solidFill>
                  <a:schemeClr val="tx1"/>
                </a:solidFill>
                <a:latin typeface="+mn-lt"/>
                <a:ea typeface="+mn-ea"/>
                <a:cs typeface="+mn-cs"/>
              </a:rPr>
              <a:t> и </a:t>
            </a:r>
            <a:r>
              <a:rPr lang="ru-RU" sz="1200" b="0" i="0" u="none" strike="noStrike" kern="1200" dirty="0" smtClean="0">
                <a:solidFill>
                  <a:schemeClr val="tx1"/>
                </a:solidFill>
                <a:latin typeface="+mn-lt"/>
                <a:ea typeface="+mn-ea"/>
                <a:cs typeface="+mn-cs"/>
                <a:hlinkClick r:id="rId8" tooltip="Компьютерные науки"/>
              </a:rPr>
              <a:t>компьютерных наук</a:t>
            </a:r>
            <a:r>
              <a:rPr lang="ru-RU" sz="1200" b="0" i="0" kern="1200" dirty="0" smtClean="0">
                <a:solidFill>
                  <a:schemeClr val="tx1"/>
                </a:solidFill>
                <a:latin typeface="+mn-lt"/>
                <a:ea typeface="+mn-ea"/>
                <a:cs typeface="+mn-cs"/>
              </a:rPr>
              <a:t> с </a:t>
            </a:r>
            <a:r>
              <a:rPr lang="ru-RU" sz="1200" b="0" i="0" u="none" strike="noStrike" kern="1200" dirty="0" smtClean="0">
                <a:solidFill>
                  <a:schemeClr val="tx1"/>
                </a:solidFill>
                <a:latin typeface="+mn-lt"/>
                <a:ea typeface="+mn-ea"/>
                <a:cs typeface="+mn-cs"/>
                <a:hlinkClick r:id="rId9" tooltip="Инженерное дело"/>
              </a:rPr>
              <a:t>инженерными подходами</a:t>
            </a:r>
            <a:r>
              <a:rPr lang="ru-RU" sz="1200" b="0" i="0" kern="1200" dirty="0" smtClean="0">
                <a:solidFill>
                  <a:schemeClr val="tx1"/>
                </a:solidFill>
                <a:latin typeface="+mn-lt"/>
                <a:ea typeface="+mn-ea"/>
                <a:cs typeface="+mn-cs"/>
              </a:rPr>
              <a:t>, разработанными для производства осязаемых материальных артефактов</a:t>
            </a:r>
            <a:r>
              <a:rPr lang="ru-RU" sz="1200" b="0" i="0" u="none" strike="noStrike" kern="1200" baseline="30000" dirty="0" smtClean="0">
                <a:solidFill>
                  <a:schemeClr val="tx1"/>
                </a:solidFill>
                <a:latin typeface="+mn-lt"/>
                <a:ea typeface="+mn-ea"/>
                <a:cs typeface="+mn-cs"/>
                <a:hlinkClick r:id="rId10"/>
              </a:rPr>
              <a:t>[1]</a:t>
            </a:r>
            <a:r>
              <a:rPr lang="ru-RU" sz="1200" b="0" i="0" kern="1200" dirty="0" smtClean="0">
                <a:solidFill>
                  <a:schemeClr val="tx1"/>
                </a:solidFill>
                <a:latin typeface="+mn-lt"/>
                <a:ea typeface="+mn-ea"/>
                <a:cs typeface="+mn-cs"/>
              </a:rPr>
              <a:t>.</a:t>
            </a:r>
          </a:p>
          <a:p>
            <a:r>
              <a:rPr lang="ru-RU" sz="1200" b="1" i="0" kern="1200" dirty="0" smtClean="0">
                <a:solidFill>
                  <a:schemeClr val="tx1"/>
                </a:solidFill>
                <a:latin typeface="+mn-lt"/>
                <a:ea typeface="+mn-ea"/>
                <a:cs typeface="+mn-cs"/>
              </a:rPr>
              <a:t>Дисциплина программной инженерии</a:t>
            </a:r>
            <a:r>
              <a:rPr lang="ru-RU" sz="1200" b="0" i="0" u="none" strike="noStrike" kern="1200" baseline="30000" dirty="0" smtClean="0">
                <a:solidFill>
                  <a:schemeClr val="tx1"/>
                </a:solidFill>
                <a:latin typeface="+mn-lt"/>
                <a:ea typeface="+mn-ea"/>
                <a:cs typeface="+mn-cs"/>
                <a:hlinkClick r:id="rId10"/>
              </a:rPr>
              <a:t>[2]</a:t>
            </a:r>
            <a:r>
              <a:rPr lang="ru-RU" sz="1200" b="0" i="0" kern="1200" dirty="0" smtClean="0">
                <a:solidFill>
                  <a:schemeClr val="tx1"/>
                </a:solidFill>
                <a:latin typeface="+mn-lt"/>
                <a:ea typeface="+mn-ea"/>
                <a:cs typeface="+mn-cs"/>
              </a:rPr>
              <a:t> включается в круг вопросов </a:t>
            </a:r>
            <a:r>
              <a:rPr lang="ru-RU" sz="1200" b="0" i="0" kern="1200" dirty="0" err="1" smtClean="0">
                <a:solidFill>
                  <a:schemeClr val="tx1"/>
                </a:solidFill>
                <a:latin typeface="+mn-lt"/>
                <a:ea typeface="+mn-ea"/>
                <a:cs typeface="+mn-cs"/>
              </a:rPr>
              <a:t>компьютинга</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1" tooltip="Английский язык"/>
              </a:rPr>
              <a:t>англ.</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computing</a:t>
            </a:r>
            <a:r>
              <a:rPr lang="ru-RU" sz="1200" b="0" i="0" kern="1200" dirty="0" smtClean="0">
                <a:solidFill>
                  <a:schemeClr val="tx1"/>
                </a:solidFill>
                <a:latin typeface="+mn-lt"/>
                <a:ea typeface="+mn-ea"/>
                <a:cs typeface="+mn-cs"/>
              </a:rPr>
              <a:t>) и может рассматриваться как инженерная область, имеющая более тесные связи со своей базовой дисциплиной — </a:t>
            </a:r>
            <a:r>
              <a:rPr lang="ru-RU" sz="1200" b="0" i="0" u="none" strike="noStrike" kern="1200" dirty="0" smtClean="0">
                <a:solidFill>
                  <a:schemeClr val="tx1"/>
                </a:solidFill>
                <a:latin typeface="+mn-lt"/>
                <a:ea typeface="+mn-ea"/>
                <a:cs typeface="+mn-cs"/>
                <a:hlinkClick r:id="rId8" tooltip="Компьютерные науки"/>
              </a:rPr>
              <a:t>компьютерными науками</a:t>
            </a:r>
            <a:r>
              <a:rPr lang="ru-RU" sz="1200" b="0" i="0" kern="1200" dirty="0" smtClean="0">
                <a:solidFill>
                  <a:schemeClr val="tx1"/>
                </a:solidFill>
                <a:latin typeface="+mn-lt"/>
                <a:ea typeface="+mn-ea"/>
                <a:cs typeface="+mn-cs"/>
              </a:rPr>
              <a:t>, — чем другие инженерные области. Среди других инженерных дисциплин она качественно выделяется нематериальностью программного обеспечения и дискретной природой его функционирования. Основываясь на математике и </a:t>
            </a:r>
            <a:r>
              <a:rPr lang="ru-RU" sz="1200" b="0" i="0" kern="1200" dirty="0" err="1" smtClean="0">
                <a:solidFill>
                  <a:schemeClr val="tx1"/>
                </a:solidFill>
                <a:latin typeface="+mn-lt"/>
                <a:ea typeface="+mn-ea"/>
                <a:cs typeface="+mn-cs"/>
              </a:rPr>
              <a:t>компьютинге</a:t>
            </a:r>
            <a:r>
              <a:rPr lang="ru-RU" sz="1200" b="0" i="0" kern="1200" dirty="0" smtClean="0">
                <a:solidFill>
                  <a:schemeClr val="tx1"/>
                </a:solidFill>
                <a:latin typeface="+mn-lt"/>
                <a:ea typeface="+mn-ea"/>
                <a:cs typeface="+mn-cs"/>
              </a:rPr>
              <a:t>, программная инженерия занимается разработкой систематических моделей и надежных методов производства высококачественного </a:t>
            </a:r>
            <a:r>
              <a:rPr lang="ru-RU" sz="1200" b="0" i="0" u="none" strike="noStrike" kern="1200" dirty="0" smtClean="0">
                <a:solidFill>
                  <a:schemeClr val="tx1"/>
                </a:solidFill>
                <a:latin typeface="+mn-lt"/>
                <a:ea typeface="+mn-ea"/>
                <a:cs typeface="+mn-cs"/>
                <a:hlinkClick r:id="rId12" tooltip="Программное обеспечение"/>
              </a:rPr>
              <a:t>программного обеспечения</a:t>
            </a:r>
            <a:r>
              <a:rPr lang="ru-RU" sz="1200" b="0" i="0" kern="1200" dirty="0" smtClean="0">
                <a:solidFill>
                  <a:schemeClr val="tx1"/>
                </a:solidFill>
                <a:latin typeface="+mn-lt"/>
                <a:ea typeface="+mn-ea"/>
                <a:cs typeface="+mn-cs"/>
              </a:rPr>
              <a:t>, и данный подход распространяется на все уровни — от теории и принципов до реальной практики создания </a:t>
            </a:r>
            <a:r>
              <a:rPr lang="ru-RU" sz="1200" b="0" i="0" kern="1200" dirty="0" smtClean="0">
                <a:solidFill>
                  <a:schemeClr val="tx1"/>
                </a:solidFill>
                <a:latin typeface="+mn-lt"/>
                <a:ea typeface="+mn-ea"/>
                <a:cs typeface="+mn-cs"/>
              </a:rPr>
              <a:t>ПО</a:t>
            </a:r>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r>
              <a:rPr lang="ru-RU" sz="1200" b="0" i="0" u="none" strike="noStrike" kern="1200" dirty="0" smtClean="0">
                <a:solidFill>
                  <a:schemeClr val="tx1"/>
                </a:solidFill>
                <a:latin typeface="+mn-lt"/>
                <a:ea typeface="+mn-ea"/>
                <a:cs typeface="+mn-cs"/>
                <a:hlinkClick r:id="rId13" tooltip="Разработка программного обеспечения"/>
              </a:rPr>
              <a:t>Разработка </a:t>
            </a:r>
            <a:r>
              <a:rPr lang="ru-RU" sz="1200" b="0" i="0" u="none" strike="noStrike" kern="1200" dirty="0" smtClean="0">
                <a:solidFill>
                  <a:schemeClr val="tx1"/>
                </a:solidFill>
                <a:latin typeface="+mn-lt"/>
                <a:ea typeface="+mn-ea"/>
                <a:cs typeface="+mn-cs"/>
                <a:hlinkClick r:id="rId13" tooltip="Разработка программного обеспечения"/>
              </a:rPr>
              <a:t>программного обеспечения</a:t>
            </a:r>
            <a:r>
              <a:rPr lang="ru-RU" sz="1200" b="0" i="0" kern="1200" dirty="0" smtClean="0">
                <a:solidFill>
                  <a:schemeClr val="tx1"/>
                </a:solidFill>
                <a:latin typeface="+mn-lt"/>
                <a:ea typeface="+mn-ea"/>
                <a:cs typeface="+mn-cs"/>
              </a:rPr>
              <a:t> — термин, иногда предпочитаемый практиками в промышленности, которые рассматривают разработку программного обеспечения как несравнимо более мощную и </a:t>
            </a:r>
            <a:r>
              <a:rPr lang="ru-RU" sz="1200" b="0" i="0" kern="1200" dirty="0" err="1" smtClean="0">
                <a:solidFill>
                  <a:schemeClr val="tx1"/>
                </a:solidFill>
                <a:latin typeface="+mn-lt"/>
                <a:ea typeface="+mn-ea"/>
                <a:cs typeface="+mn-cs"/>
              </a:rPr>
              <a:t>конструкционноёмкую</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4" tooltip="Методология"/>
              </a:rPr>
              <a:t>методологию</a:t>
            </a:r>
            <a:r>
              <a:rPr lang="ru-RU" sz="1200" b="0" i="0" kern="1200" dirty="0" smtClean="0">
                <a:solidFill>
                  <a:schemeClr val="tx1"/>
                </a:solidFill>
                <a:latin typeface="+mn-lt"/>
                <a:ea typeface="+mn-ea"/>
                <a:cs typeface="+mn-cs"/>
              </a:rPr>
              <a:t> в сравнении с процессом написания кода программистом.</a:t>
            </a:r>
          </a:p>
          <a:p>
            <a:pPr marL="0" marR="0" indent="0" algn="l" defTabSz="914400" rtl="0" eaLnBrk="1" fontAlgn="auto" latinLnBrk="0" hangingPunct="1">
              <a:lnSpc>
                <a:spcPct val="100000"/>
              </a:lnSpc>
              <a:spcBef>
                <a:spcPts val="0"/>
              </a:spcBef>
              <a:spcAft>
                <a:spcPts val="0"/>
              </a:spcAft>
              <a:buClrTx/>
              <a:buSzTx/>
              <a:buFontTx/>
              <a:buNone/>
              <a:tabLst/>
              <a:defRPr/>
            </a:pPr>
            <a:endParaRPr lang="ru-R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sz="1200" b="1" i="0" kern="1200" dirty="0" err="1" smtClean="0">
                <a:solidFill>
                  <a:schemeClr val="tx1"/>
                </a:solidFill>
                <a:latin typeface="+mn-lt"/>
                <a:ea typeface="+mn-ea"/>
                <a:cs typeface="+mn-cs"/>
              </a:rPr>
              <a:t>Разрабо́тка</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програ́ммного</a:t>
            </a:r>
            <a:r>
              <a:rPr lang="ru-RU" sz="1200" b="1" i="0" kern="1200" dirty="0" smtClean="0">
                <a:solidFill>
                  <a:schemeClr val="tx1"/>
                </a:solidFill>
                <a:latin typeface="+mn-lt"/>
                <a:ea typeface="+mn-ea"/>
                <a:cs typeface="+mn-cs"/>
              </a:rPr>
              <a:t> </a:t>
            </a:r>
            <a:r>
              <a:rPr lang="ru-RU" sz="1200" b="1" i="0" kern="1200" dirty="0" err="1" smtClean="0">
                <a:solidFill>
                  <a:schemeClr val="tx1"/>
                </a:solidFill>
                <a:latin typeface="+mn-lt"/>
                <a:ea typeface="+mn-ea"/>
                <a:cs typeface="+mn-cs"/>
              </a:rPr>
              <a:t>обеспе́чения</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1" tooltip="Английский язык"/>
              </a:rPr>
              <a:t>англ.</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software</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engineering</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software</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development</a:t>
            </a:r>
            <a:r>
              <a:rPr lang="ru-RU" sz="1200" b="0" i="0" kern="1200" dirty="0" smtClean="0">
                <a:solidFill>
                  <a:schemeClr val="tx1"/>
                </a:solidFill>
                <a:latin typeface="+mn-lt"/>
                <a:ea typeface="+mn-ea"/>
                <a:cs typeface="+mn-cs"/>
              </a:rPr>
              <a:t>) — это род деятельности (</a:t>
            </a:r>
            <a:r>
              <a:rPr lang="ru-RU" sz="1200" b="0" i="0" u="none" strike="noStrike" kern="1200" dirty="0" smtClean="0">
                <a:solidFill>
                  <a:schemeClr val="tx1"/>
                </a:solidFill>
                <a:latin typeface="+mn-lt"/>
                <a:ea typeface="+mn-ea"/>
                <a:cs typeface="+mn-cs"/>
                <a:hlinkClick r:id="rId5" tooltip="Профессия"/>
              </a:rPr>
              <a:t>профессия</a:t>
            </a:r>
            <a:r>
              <a:rPr lang="ru-RU" sz="1200" b="0" i="0" kern="1200" dirty="0" smtClean="0">
                <a:solidFill>
                  <a:schemeClr val="tx1"/>
                </a:solidFill>
                <a:latin typeface="+mn-lt"/>
                <a:ea typeface="+mn-ea"/>
                <a:cs typeface="+mn-cs"/>
              </a:rPr>
              <a:t>) и процесс, направленный на создание и поддержание работоспособности, качества и надежности </a:t>
            </a:r>
            <a:r>
              <a:rPr lang="ru-RU" sz="1200" b="0" i="0" u="none" strike="noStrike" kern="1200" dirty="0" smtClean="0">
                <a:solidFill>
                  <a:schemeClr val="tx1"/>
                </a:solidFill>
                <a:latin typeface="+mn-lt"/>
                <a:ea typeface="+mn-ea"/>
                <a:cs typeface="+mn-cs"/>
                <a:hlinkClick r:id="rId12" tooltip="Программное обеспечение"/>
              </a:rPr>
              <a:t>программного обеспечения</a:t>
            </a:r>
            <a:r>
              <a:rPr lang="ru-RU" sz="1200" b="0" i="0" kern="1200" dirty="0" smtClean="0">
                <a:solidFill>
                  <a:schemeClr val="tx1"/>
                </a:solidFill>
                <a:latin typeface="+mn-lt"/>
                <a:ea typeface="+mn-ea"/>
                <a:cs typeface="+mn-cs"/>
              </a:rPr>
              <a:t>, используя технологии, методологию и практики из </a:t>
            </a:r>
            <a:r>
              <a:rPr lang="ru-RU" sz="1200" b="0" i="0" u="none" strike="noStrike" kern="1200" dirty="0" err="1" smtClean="0">
                <a:solidFill>
                  <a:schemeClr val="tx1"/>
                </a:solidFill>
                <a:latin typeface="+mn-lt"/>
                <a:ea typeface="+mn-ea"/>
                <a:cs typeface="+mn-cs"/>
                <a:hlinkClick r:id="rId7" tooltip="Информатика"/>
              </a:rPr>
              <a:t>информатики</a:t>
            </a:r>
            <a:r>
              <a:rPr lang="ru-RU" sz="1200" b="0" i="0" kern="1200" dirty="0" err="1" smtClean="0">
                <a:solidFill>
                  <a:schemeClr val="tx1"/>
                </a:solidFill>
                <a:latin typeface="+mn-lt"/>
                <a:ea typeface="+mn-ea"/>
                <a:cs typeface="+mn-cs"/>
              </a:rPr>
              <a:t>,</a:t>
            </a:r>
            <a:r>
              <a:rPr lang="ru-RU" sz="1200" b="0" i="0" u="none" strike="noStrike" kern="1200" dirty="0" err="1" smtClean="0">
                <a:solidFill>
                  <a:schemeClr val="tx1"/>
                </a:solidFill>
                <a:latin typeface="+mn-lt"/>
                <a:ea typeface="+mn-ea"/>
                <a:cs typeface="+mn-cs"/>
                <a:hlinkClick r:id="rId15" tooltip="Управление проектами"/>
              </a:rPr>
              <a:t>управления</a:t>
            </a:r>
            <a:r>
              <a:rPr lang="ru-RU" sz="1200" b="0" i="0" u="none" strike="noStrike" kern="1200" dirty="0" smtClean="0">
                <a:solidFill>
                  <a:schemeClr val="tx1"/>
                </a:solidFill>
                <a:latin typeface="+mn-lt"/>
                <a:ea typeface="+mn-ea"/>
                <a:cs typeface="+mn-cs"/>
                <a:hlinkClick r:id="rId15" tooltip="Управление проектами"/>
              </a:rPr>
              <a:t> проектами</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6" tooltip="Математика"/>
              </a:rPr>
              <a:t>математики</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3" tooltip="Инженерия"/>
              </a:rPr>
              <a:t>инженерии</a:t>
            </a:r>
            <a:r>
              <a:rPr lang="ru-RU" sz="1200" b="0" i="0" kern="1200" dirty="0" smtClean="0">
                <a:solidFill>
                  <a:schemeClr val="tx1"/>
                </a:solidFill>
                <a:latin typeface="+mn-lt"/>
                <a:ea typeface="+mn-ea"/>
                <a:cs typeface="+mn-cs"/>
              </a:rPr>
              <a:t> и других областей знания.</a:t>
            </a:r>
          </a:p>
          <a:p>
            <a:pPr marL="0" marR="0" indent="0" algn="l" defTabSz="914400" rtl="0" eaLnBrk="1" fontAlgn="auto" latinLnBrk="0" hangingPunct="1">
              <a:lnSpc>
                <a:spcPct val="100000"/>
              </a:lnSpc>
              <a:spcBef>
                <a:spcPts val="0"/>
              </a:spcBef>
              <a:spcAft>
                <a:spcPts val="0"/>
              </a:spcAft>
              <a:buClrTx/>
              <a:buSzTx/>
              <a:buFontTx/>
              <a:buNone/>
              <a:tabLst/>
              <a:defRPr/>
            </a:pPr>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Как и другие традиционные инженерные дисциплины, разработка программного обеспечения имеет дело с проблемами качества, стоимости и надёжности. Некоторые программы содержат миллионы </a:t>
            </a:r>
            <a:r>
              <a:rPr lang="ru-RU" sz="1200" b="0" i="0" u="none" strike="noStrike" kern="1200" dirty="0" smtClean="0">
                <a:solidFill>
                  <a:schemeClr val="tx1"/>
                </a:solidFill>
                <a:latin typeface="+mn-lt"/>
                <a:ea typeface="+mn-ea"/>
                <a:cs typeface="+mn-cs"/>
                <a:hlinkClick r:id="rId16" tooltip="Количество строк кода"/>
              </a:rPr>
              <a:t>строк</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7" tooltip="Исходный код"/>
              </a:rPr>
              <a:t>исходного кода</a:t>
            </a:r>
            <a:r>
              <a:rPr lang="ru-RU" sz="1200" b="0" i="0" kern="1200" dirty="0" smtClean="0">
                <a:solidFill>
                  <a:schemeClr val="tx1"/>
                </a:solidFill>
                <a:latin typeface="+mn-lt"/>
                <a:ea typeface="+mn-ea"/>
                <a:cs typeface="+mn-cs"/>
              </a:rPr>
              <a:t>, которые, как ожидается, должны правильно исполняться в изменяющихся условиях. Сложность ПО сравнима со сложностью наиболее сложных из современных машин, таких как </a:t>
            </a:r>
            <a:r>
              <a:rPr lang="ru-RU" sz="1200" b="0" i="0" u="none" strike="noStrike" kern="1200" dirty="0" smtClean="0">
                <a:solidFill>
                  <a:schemeClr val="tx1"/>
                </a:solidFill>
                <a:latin typeface="+mn-lt"/>
                <a:ea typeface="+mn-ea"/>
                <a:cs typeface="+mn-cs"/>
                <a:hlinkClick r:id="rId18" tooltip="Самолет"/>
              </a:rPr>
              <a:t>самолеты</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Разделы дисциплины</a:t>
            </a:r>
          </a:p>
          <a:p>
            <a:pPr marL="228600" indent="-228600">
              <a:buFont typeface="+mj-lt"/>
              <a:buNone/>
            </a:pPr>
            <a:r>
              <a:rPr lang="ru-RU" sz="1200" b="0" i="0" kern="1200" dirty="0" smtClean="0">
                <a:solidFill>
                  <a:schemeClr val="tx1"/>
                </a:solidFill>
                <a:latin typeface="+mn-lt"/>
                <a:ea typeface="+mn-ea"/>
                <a:cs typeface="+mn-cs"/>
              </a:rPr>
              <a:t>Разработка программного обеспечения может быть разделена на несколько разделов:</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19" tooltip="Требования к программному обеспечению"/>
              </a:rPr>
              <a:t>Требования к программному обеспечению</a:t>
            </a:r>
            <a:r>
              <a:rPr lang="ru-RU" sz="1200" b="0" i="0" kern="1200" dirty="0" smtClean="0">
                <a:solidFill>
                  <a:schemeClr val="tx1"/>
                </a:solidFill>
                <a:latin typeface="+mn-lt"/>
                <a:ea typeface="+mn-ea"/>
                <a:cs typeface="+mn-cs"/>
              </a:rPr>
              <a:t>: извлечение, анализ, спецификация и ратификация требований для программного обеспечения.</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0" tooltip="Проектирование программного обеспечения"/>
              </a:rPr>
              <a:t>Проектирование программного обеспечения</a:t>
            </a:r>
            <a:r>
              <a:rPr lang="ru-RU" sz="1200" b="0" i="0" kern="1200" dirty="0" smtClean="0">
                <a:solidFill>
                  <a:schemeClr val="tx1"/>
                </a:solidFill>
                <a:latin typeface="+mn-lt"/>
                <a:ea typeface="+mn-ea"/>
                <a:cs typeface="+mn-cs"/>
              </a:rPr>
              <a:t>: проектирование программного обеспечения средствами </a:t>
            </a:r>
            <a:r>
              <a:rPr lang="ru-RU" sz="1200" b="0" i="0" u="none" strike="noStrike" kern="1200" dirty="0" smtClean="0">
                <a:solidFill>
                  <a:schemeClr val="tx1"/>
                </a:solidFill>
                <a:latin typeface="+mn-lt"/>
                <a:ea typeface="+mn-ea"/>
                <a:cs typeface="+mn-cs"/>
                <a:hlinkClick r:id="rId21" tooltip="Автоматизированная Разработка Программного Обеспечения"/>
              </a:rPr>
              <a:t>Автоматизированной Разработки Программного Обеспечения (CASE)</a:t>
            </a:r>
            <a:r>
              <a:rPr lang="ru-RU" sz="1200" b="0" i="0" kern="1200" dirty="0" smtClean="0">
                <a:solidFill>
                  <a:schemeClr val="tx1"/>
                </a:solidFill>
                <a:latin typeface="+mn-lt"/>
                <a:ea typeface="+mn-ea"/>
                <a:cs typeface="+mn-cs"/>
              </a:rPr>
              <a:t> и стандарты формата описаний, такие как Унифицированный Язык Моделирования (</a:t>
            </a:r>
            <a:r>
              <a:rPr lang="ru-RU" sz="1200" b="0" i="0" u="none" strike="noStrike" kern="1200" dirty="0" smtClean="0">
                <a:solidFill>
                  <a:schemeClr val="tx1"/>
                </a:solidFill>
                <a:latin typeface="+mn-lt"/>
                <a:ea typeface="+mn-ea"/>
                <a:cs typeface="+mn-cs"/>
                <a:hlinkClick r:id="rId22" tooltip="UML"/>
              </a:rPr>
              <a:t>UML</a:t>
            </a:r>
            <a:r>
              <a:rPr lang="ru-RU" sz="1200" b="0" i="0" kern="1200" dirty="0" smtClean="0">
                <a:solidFill>
                  <a:schemeClr val="tx1"/>
                </a:solidFill>
                <a:latin typeface="+mn-lt"/>
                <a:ea typeface="+mn-ea"/>
                <a:cs typeface="+mn-cs"/>
              </a:rPr>
              <a:t>).</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10" tooltip="Инженерия программного обеспечения"/>
              </a:rPr>
              <a:t>Инженерия программного обеспечения</a:t>
            </a:r>
            <a:r>
              <a:rPr lang="ru-RU" sz="1200" b="0" i="0" kern="1200" dirty="0" smtClean="0">
                <a:solidFill>
                  <a:schemeClr val="tx1"/>
                </a:solidFill>
                <a:latin typeface="+mn-lt"/>
                <a:ea typeface="+mn-ea"/>
                <a:cs typeface="+mn-cs"/>
              </a:rPr>
              <a:t>: создание программного обеспечения с помощью языков программирования.</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3" tooltip="Тестирование программного обеспечения"/>
              </a:rPr>
              <a:t>Тестирование программного обеспечения</a:t>
            </a:r>
            <a:r>
              <a:rPr lang="ru-RU" sz="1200" b="0" i="0" kern="1200" dirty="0" smtClean="0">
                <a:solidFill>
                  <a:schemeClr val="tx1"/>
                </a:solidFill>
                <a:latin typeface="+mn-lt"/>
                <a:ea typeface="+mn-ea"/>
                <a:cs typeface="+mn-cs"/>
              </a:rPr>
              <a:t>: поиск и исправление ошибок в программе.</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4" tooltip="Обслуживание программного обеспечения (страница отсутствует)"/>
              </a:rPr>
              <a:t>Обслуживание программного обеспечения</a:t>
            </a:r>
            <a:r>
              <a:rPr lang="ru-RU" sz="1200" b="0" i="0" kern="1200" dirty="0" smtClean="0">
                <a:solidFill>
                  <a:schemeClr val="tx1"/>
                </a:solidFill>
                <a:latin typeface="+mn-lt"/>
                <a:ea typeface="+mn-ea"/>
                <a:cs typeface="+mn-cs"/>
              </a:rPr>
              <a:t>: программные системы часто имеют проблемы совместимости и переносимости, а также нуждаются в последующих модификациях в течение долгого времени после того, как закончена их первая версия. Подобласть имеет дело с этими проблемами.</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5" tooltip="Управление конфигурацией программного обеспечения (страница отсутствует)"/>
              </a:rPr>
              <a:t>Управление конфигурацией программного обеспечения</a:t>
            </a:r>
            <a:r>
              <a:rPr lang="ru-RU" sz="1200" b="0" i="0" kern="1200" dirty="0" smtClean="0">
                <a:solidFill>
                  <a:schemeClr val="tx1"/>
                </a:solidFill>
                <a:latin typeface="+mn-lt"/>
                <a:ea typeface="+mn-ea"/>
                <a:cs typeface="+mn-cs"/>
              </a:rPr>
              <a:t>: так как системы программного обеспечения очень сложны и модифицируются в процессе эксплуатации, их конфигурации должны управляться стандартизированным и структурированным методом.</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6" tooltip="Управление разработкой программного обеспечения (страница отсутствует)"/>
              </a:rPr>
              <a:t>Управление разработкой программного обеспечения</a:t>
            </a:r>
            <a:r>
              <a:rPr lang="ru-RU" sz="1200" b="0" i="0" kern="1200" dirty="0" smtClean="0">
                <a:solidFill>
                  <a:schemeClr val="tx1"/>
                </a:solidFill>
                <a:latin typeface="+mn-lt"/>
                <a:ea typeface="+mn-ea"/>
                <a:cs typeface="+mn-cs"/>
              </a:rPr>
              <a:t>: управление системами программного обеспечения имеет заимствования из </a:t>
            </a:r>
            <a:r>
              <a:rPr lang="ru-RU" sz="1200" b="0" i="0" u="none" strike="noStrike" kern="1200" dirty="0" smtClean="0">
                <a:solidFill>
                  <a:schemeClr val="tx1"/>
                </a:solidFill>
                <a:latin typeface="+mn-lt"/>
                <a:ea typeface="+mn-ea"/>
                <a:cs typeface="+mn-cs"/>
                <a:hlinkClick r:id="rId15" tooltip="Управление проектами"/>
              </a:rPr>
              <a:t>управления проектами</a:t>
            </a:r>
            <a:r>
              <a:rPr lang="ru-RU" sz="1200" b="0" i="0" kern="1200" dirty="0" smtClean="0">
                <a:solidFill>
                  <a:schemeClr val="tx1"/>
                </a:solidFill>
                <a:latin typeface="+mn-lt"/>
                <a:ea typeface="+mn-ea"/>
                <a:cs typeface="+mn-cs"/>
              </a:rPr>
              <a:t>, но есть нюансы, не встречающиеся в других дисциплинах управления.</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7" tooltip="Процесс разработки программного обеспечения"/>
              </a:rPr>
              <a:t>Процесс разработки программного обеспечения</a:t>
            </a:r>
            <a:r>
              <a:rPr lang="ru-RU" sz="1200" b="0" i="0" kern="1200" dirty="0" smtClean="0">
                <a:solidFill>
                  <a:schemeClr val="tx1"/>
                </a:solidFill>
                <a:latin typeface="+mn-lt"/>
                <a:ea typeface="+mn-ea"/>
                <a:cs typeface="+mn-cs"/>
              </a:rPr>
              <a:t>: процесс построения программного обеспечения горячо обсуждается среди практиков, основными парадигмами</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считаются </a:t>
            </a:r>
            <a:r>
              <a:rPr lang="ru-RU" sz="1200" b="0" i="0" u="none" strike="noStrike" kern="1200" dirty="0" err="1" smtClean="0">
                <a:solidFill>
                  <a:schemeClr val="tx1"/>
                </a:solidFill>
                <a:latin typeface="+mn-lt"/>
                <a:ea typeface="+mn-ea"/>
                <a:cs typeface="+mn-cs"/>
                <a:hlinkClick r:id="rId28" tooltip="Гибкая методология разработки"/>
              </a:rPr>
              <a:t>agile</a:t>
            </a:r>
            <a:r>
              <a:rPr lang="ru-RU" sz="1200" b="0" i="0" kern="1200" dirty="0" smtClean="0">
                <a:solidFill>
                  <a:schemeClr val="tx1"/>
                </a:solidFill>
                <a:latin typeface="+mn-lt"/>
                <a:ea typeface="+mn-ea"/>
                <a:cs typeface="+mn-cs"/>
              </a:rPr>
              <a:t> или </a:t>
            </a:r>
            <a:r>
              <a:rPr lang="ru-RU" sz="1200" b="0" i="0" u="none" strike="noStrike" kern="1200" dirty="0" err="1" smtClean="0">
                <a:solidFill>
                  <a:schemeClr val="tx1"/>
                </a:solidFill>
                <a:latin typeface="+mn-lt"/>
                <a:ea typeface="+mn-ea"/>
                <a:cs typeface="+mn-cs"/>
                <a:hlinkClick r:id="rId29" tooltip="Модель водопада"/>
              </a:rPr>
              <a:t>waterfall</a:t>
            </a:r>
            <a:r>
              <a:rPr lang="ru-RU" sz="1200" b="0" i="0" kern="1200" dirty="0" smtClean="0">
                <a:solidFill>
                  <a:schemeClr val="tx1"/>
                </a:solidFill>
                <a:latin typeface="+mn-lt"/>
                <a:ea typeface="+mn-ea"/>
                <a:cs typeface="+mn-cs"/>
              </a:rPr>
              <a:t>.</a:t>
            </a:r>
          </a:p>
          <a:p>
            <a:pPr marL="228600" indent="-228600">
              <a:buFont typeface="+mj-lt"/>
              <a:buAutoNum type="arabicPeriod"/>
            </a:pPr>
            <a:r>
              <a:rPr lang="ru-RU" sz="1200" b="0" i="0" kern="1200" dirty="0" smtClean="0">
                <a:solidFill>
                  <a:schemeClr val="tx1"/>
                </a:solidFill>
                <a:latin typeface="+mn-lt"/>
                <a:ea typeface="+mn-ea"/>
                <a:cs typeface="+mn-cs"/>
              </a:rPr>
              <a:t>Инструменты разработки программного обеспечения, см. </a:t>
            </a:r>
            <a:r>
              <a:rPr lang="ru-RU" sz="1200" b="0" i="0" u="none" strike="noStrike" kern="1200" dirty="0" smtClean="0">
                <a:solidFill>
                  <a:schemeClr val="tx1"/>
                </a:solidFill>
                <a:latin typeface="+mn-lt"/>
                <a:ea typeface="+mn-ea"/>
                <a:cs typeface="+mn-cs"/>
                <a:hlinkClick r:id="rId30" tooltip="CASE"/>
              </a:rPr>
              <a:t>CASE</a:t>
            </a:r>
            <a:r>
              <a:rPr lang="ru-RU" sz="1200" b="0" i="0" kern="1200" dirty="0" smtClean="0">
                <a:solidFill>
                  <a:schemeClr val="tx1"/>
                </a:solidFill>
                <a:latin typeface="+mn-lt"/>
                <a:ea typeface="+mn-ea"/>
                <a:cs typeface="+mn-cs"/>
              </a:rPr>
              <a:t>: методика оценки сложности системы, выбора средств разработки и применения программной системы.</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1" tooltip="Качество программного обеспечения"/>
              </a:rPr>
              <a:t>Качество программного обеспечения</a:t>
            </a:r>
            <a:r>
              <a:rPr lang="ru-RU" sz="1200" b="0" i="0" kern="1200" dirty="0" smtClean="0">
                <a:solidFill>
                  <a:schemeClr val="tx1"/>
                </a:solidFill>
                <a:latin typeface="+mn-lt"/>
                <a:ea typeface="+mn-ea"/>
                <a:cs typeface="+mn-cs"/>
              </a:rPr>
              <a:t>: методика оценки критериев качества программного продукта и требований к надёжности.</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2" tooltip="Локализация программного обеспечения"/>
              </a:rPr>
              <a:t>Локализация программного обеспечения</a:t>
            </a:r>
            <a:r>
              <a:rPr lang="ru-RU" sz="1200" b="0" i="0" kern="1200" dirty="0" smtClean="0">
                <a:solidFill>
                  <a:schemeClr val="tx1"/>
                </a:solidFill>
                <a:latin typeface="+mn-lt"/>
                <a:ea typeface="+mn-ea"/>
                <a:cs typeface="+mn-cs"/>
              </a:rPr>
              <a:t>, ветвь </a:t>
            </a:r>
            <a:r>
              <a:rPr lang="ru-RU" sz="1200" b="0" i="0" u="none" strike="noStrike" kern="1200" dirty="0" smtClean="0">
                <a:solidFill>
                  <a:schemeClr val="tx1"/>
                </a:solidFill>
                <a:latin typeface="+mn-lt"/>
                <a:ea typeface="+mn-ea"/>
                <a:cs typeface="+mn-cs"/>
                <a:hlinkClick r:id="rId33" tooltip="Языковая промышленность (страница отсутствует)"/>
              </a:rPr>
              <a:t>языковой промышленности</a:t>
            </a:r>
            <a:endParaRPr lang="ru-RU" sz="1200" b="0" i="0" u="none" strike="noStrike" kern="1200" dirty="0" smtClean="0">
              <a:solidFill>
                <a:schemeClr val="tx1"/>
              </a:solidFill>
              <a:latin typeface="+mn-lt"/>
              <a:ea typeface="+mn-ea"/>
              <a:cs typeface="+mn-cs"/>
            </a:endParaRPr>
          </a:p>
          <a:p>
            <a:endParaRPr lang="ru-RU" sz="1200" b="0" i="0" u="none" strike="noStrike"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ru-RU" dirty="0" smtClean="0"/>
          </a:p>
          <a:p>
            <a:r>
              <a:rPr lang="ru-RU" sz="1200" b="1" i="0" kern="1200" dirty="0" smtClean="0">
                <a:solidFill>
                  <a:schemeClr val="tx1"/>
                </a:solidFill>
                <a:latin typeface="+mn-lt"/>
                <a:ea typeface="+mn-ea"/>
                <a:cs typeface="+mn-cs"/>
              </a:rPr>
              <a:t>Процесс разработки программного обеспечения</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1" tooltip="Английский язык"/>
              </a:rPr>
              <a:t>англ.</a:t>
            </a:r>
            <a:r>
              <a:rPr lang="ru-RU" sz="1200" b="0" i="0" kern="1200" dirty="0" smtClean="0">
                <a:solidFill>
                  <a:schemeClr val="tx1"/>
                </a:solidFill>
                <a:latin typeface="+mn-lt"/>
                <a:ea typeface="+mn-ea"/>
                <a:cs typeface="+mn-cs"/>
              </a:rPr>
              <a:t> </a:t>
            </a:r>
            <a:r>
              <a:rPr lang="ru-RU" sz="1200" b="1" i="1" kern="1200" dirty="0" err="1" smtClean="0">
                <a:solidFill>
                  <a:schemeClr val="tx1"/>
                </a:solidFill>
                <a:latin typeface="+mn-lt"/>
                <a:ea typeface="+mn-ea"/>
                <a:cs typeface="+mn-cs"/>
              </a:rPr>
              <a:t>software</a:t>
            </a:r>
            <a:r>
              <a:rPr lang="ru-RU" sz="1200" b="1" i="1" kern="1200" dirty="0" smtClean="0">
                <a:solidFill>
                  <a:schemeClr val="tx1"/>
                </a:solidFill>
                <a:latin typeface="+mn-lt"/>
                <a:ea typeface="+mn-ea"/>
                <a:cs typeface="+mn-cs"/>
              </a:rPr>
              <a:t> </a:t>
            </a:r>
            <a:r>
              <a:rPr lang="ru-RU" sz="1200" b="1" i="1" kern="1200" dirty="0" err="1" smtClean="0">
                <a:solidFill>
                  <a:schemeClr val="tx1"/>
                </a:solidFill>
                <a:latin typeface="+mn-lt"/>
                <a:ea typeface="+mn-ea"/>
                <a:cs typeface="+mn-cs"/>
              </a:rPr>
              <a:t>development</a:t>
            </a:r>
            <a:r>
              <a:rPr lang="ru-RU" sz="1200" b="1" i="1" kern="1200" dirty="0" smtClean="0">
                <a:solidFill>
                  <a:schemeClr val="tx1"/>
                </a:solidFill>
                <a:latin typeface="+mn-lt"/>
                <a:ea typeface="+mn-ea"/>
                <a:cs typeface="+mn-cs"/>
              </a:rPr>
              <a:t> </a:t>
            </a:r>
            <a:r>
              <a:rPr lang="ru-RU" sz="1200" b="1" i="1" kern="1200" dirty="0" err="1" smtClean="0">
                <a:solidFill>
                  <a:schemeClr val="tx1"/>
                </a:solidFill>
                <a:latin typeface="+mn-lt"/>
                <a:ea typeface="+mn-ea"/>
                <a:cs typeface="+mn-cs"/>
              </a:rPr>
              <a:t>process</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software</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process</a:t>
            </a:r>
            <a:r>
              <a:rPr lang="ru-RU" sz="1200" b="0" i="0" kern="1200" dirty="0" smtClean="0">
                <a:solidFill>
                  <a:schemeClr val="tx1"/>
                </a:solidFill>
                <a:latin typeface="+mn-lt"/>
                <a:ea typeface="+mn-ea"/>
                <a:cs typeface="+mn-cs"/>
              </a:rPr>
              <a:t>) — структура, согласно которой построена разработка </a:t>
            </a:r>
            <a:r>
              <a:rPr lang="ru-RU" sz="1200" b="0" i="0" u="none" strike="noStrike" kern="1200" dirty="0" smtClean="0">
                <a:solidFill>
                  <a:schemeClr val="tx1"/>
                </a:solidFill>
                <a:latin typeface="+mn-lt"/>
                <a:ea typeface="+mn-ea"/>
                <a:cs typeface="+mn-cs"/>
                <a:hlinkClick r:id="rId12" tooltip="Программное обеспечение"/>
              </a:rPr>
              <a:t>программного обеспечения</a:t>
            </a:r>
            <a:r>
              <a:rPr lang="ru-RU" sz="1200" b="0" i="0" kern="1200" dirty="0" smtClean="0">
                <a:solidFill>
                  <a:schemeClr val="tx1"/>
                </a:solidFill>
                <a:latin typeface="+mn-lt"/>
                <a:ea typeface="+mn-ea"/>
                <a:cs typeface="+mn-cs"/>
              </a:rPr>
              <a:t> (ПО).</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Существует несколько моделей такого процесса, каждая из которых описывает свой подход, в виде задач и/или деятельности, которые имеют место в ходе процесса.</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Шаги процесса</a:t>
            </a:r>
          </a:p>
          <a:p>
            <a:r>
              <a:rPr lang="ru-RU" sz="1200" b="0" i="0" kern="1200" dirty="0" smtClean="0">
                <a:solidFill>
                  <a:schemeClr val="tx1"/>
                </a:solidFill>
                <a:latin typeface="+mn-lt"/>
                <a:ea typeface="+mn-ea"/>
                <a:cs typeface="+mn-cs"/>
              </a:rPr>
              <a:t>Процесс разработки состоит из множества </a:t>
            </a:r>
            <a:r>
              <a:rPr lang="ru-RU" sz="1200" b="0" i="0" kern="1200" dirty="0" err="1" smtClean="0">
                <a:solidFill>
                  <a:schemeClr val="tx1"/>
                </a:solidFill>
                <a:latin typeface="+mn-lt"/>
                <a:ea typeface="+mn-ea"/>
                <a:cs typeface="+mn-cs"/>
              </a:rPr>
              <a:t>подпроцессов</a:t>
            </a:r>
            <a:r>
              <a:rPr lang="ru-RU" sz="1200" b="0" i="0" kern="1200" dirty="0" smtClean="0">
                <a:solidFill>
                  <a:schemeClr val="tx1"/>
                </a:solidFill>
                <a:latin typeface="+mn-lt"/>
                <a:ea typeface="+mn-ea"/>
                <a:cs typeface="+mn-cs"/>
              </a:rPr>
              <a:t>, или дисциплин, некоторые из которых показаны ниже. В </a:t>
            </a:r>
            <a:r>
              <a:rPr lang="ru-RU" sz="1200" b="0" i="0" u="none" strike="noStrike" kern="1200" dirty="0" smtClean="0">
                <a:solidFill>
                  <a:schemeClr val="tx1"/>
                </a:solidFill>
                <a:latin typeface="+mn-lt"/>
                <a:ea typeface="+mn-ea"/>
                <a:cs typeface="+mn-cs"/>
                <a:hlinkClick r:id="rId29" tooltip="Модель водопада"/>
              </a:rPr>
              <a:t>модели водопада</a:t>
            </a:r>
            <a:r>
              <a:rPr lang="ru-RU" sz="1200" b="0" i="0" kern="1200" dirty="0" smtClean="0">
                <a:solidFill>
                  <a:schemeClr val="tx1"/>
                </a:solidFill>
                <a:latin typeface="+mn-lt"/>
                <a:ea typeface="+mn-ea"/>
                <a:cs typeface="+mn-cs"/>
              </a:rPr>
              <a:t> они идут одна за другой, в других процессах их порядок или состав изменяется.</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4" tooltip="Парадигма программирования"/>
              </a:rPr>
              <a:t>Парадигма программирования</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5" tooltip="Бизнес-моделирование"/>
              </a:rPr>
              <a:t>Бизнес-моделирование</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6" tooltip="Анализ требований (разработка ПО)"/>
              </a:rPr>
              <a:t>Анализ требований</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kern="1200" dirty="0" smtClean="0">
                <a:solidFill>
                  <a:schemeClr val="tx1"/>
                </a:solidFill>
                <a:latin typeface="+mn-lt"/>
                <a:ea typeface="+mn-ea"/>
                <a:cs typeface="+mn-cs"/>
              </a:rPr>
              <a:t>Планирование</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7" tooltip="Разработка архитектуры программного обеспечения (страница отсутствует)"/>
              </a:rPr>
              <a:t>Разработка архитектуры</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8" tooltip="Программирование"/>
              </a:rPr>
              <a:t>Кодирование</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3" tooltip="Тестирование программного обеспечения"/>
              </a:rPr>
              <a:t>Тестирование и отладка</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39" tooltip="Документация на программное обеспечение"/>
              </a:rPr>
              <a:t>Документирование</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40" tooltip="Внедрение программного обеспечения"/>
              </a:rPr>
              <a:t>Внедрение</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41" tooltip="Сопровождение программного обеспечения"/>
              </a:rPr>
              <a:t>Сопровождение</a:t>
            </a:r>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Модели процесса</a:t>
            </a:r>
          </a:p>
          <a:p>
            <a:pPr marL="228600" indent="-228600">
              <a:buFont typeface="+mj-lt"/>
              <a:buAutoNum type="arabicPeriod"/>
            </a:pPr>
            <a:r>
              <a:rPr lang="ru-RU" sz="1200" b="0" i="0" u="none" strike="noStrike" kern="1200" dirty="0" smtClean="0">
                <a:solidFill>
                  <a:schemeClr val="tx1"/>
                </a:solidFill>
                <a:latin typeface="+mn-lt"/>
                <a:ea typeface="+mn-ea"/>
                <a:cs typeface="+mn-cs"/>
                <a:hlinkClick r:id="rId29" tooltip="Модель водопада"/>
              </a:rPr>
              <a:t>Модель водопада</a:t>
            </a:r>
            <a:r>
              <a:rPr lang="ru-RU" sz="1200" b="0" i="0" kern="1200" dirty="0" smtClean="0">
                <a:solidFill>
                  <a:schemeClr val="tx1"/>
                </a:solidFill>
                <a:latin typeface="+mn-lt"/>
                <a:ea typeface="+mn-ea"/>
                <a:cs typeface="+mn-cs"/>
              </a:rPr>
              <a:t> (Каскадная модель)</a:t>
            </a: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42" tooltip="Структурное программирование"/>
              </a:rPr>
              <a:t>структурное проектирование</a:t>
            </a:r>
            <a:endParaRPr lang="ru-RU" sz="1200" b="0" i="0" kern="1200" dirty="0" smtClean="0">
              <a:solidFill>
                <a:schemeClr val="tx1"/>
              </a:solidFill>
              <a:latin typeface="+mn-lt"/>
              <a:ea typeface="+mn-ea"/>
              <a:cs typeface="+mn-cs"/>
            </a:endParaRP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23" tooltip="Тестирование программного обеспечения"/>
              </a:rPr>
              <a:t>тестирование программ</a:t>
            </a:r>
            <a:endParaRPr lang="ru-RU" sz="1200" b="0" i="0" kern="1200" dirty="0" smtClean="0">
              <a:solidFill>
                <a:schemeClr val="tx1"/>
              </a:solidFill>
              <a:latin typeface="+mn-lt"/>
              <a:ea typeface="+mn-ea"/>
              <a:cs typeface="+mn-cs"/>
            </a:endParaRP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43" tooltip="Сертификация"/>
              </a:rPr>
              <a:t>сертификация</a:t>
            </a:r>
            <a:r>
              <a:rPr lang="ru-RU" sz="1200" b="0" i="0" kern="1200" dirty="0" smtClean="0">
                <a:solidFill>
                  <a:schemeClr val="tx1"/>
                </a:solidFill>
                <a:latin typeface="+mn-lt"/>
                <a:ea typeface="+mn-ea"/>
                <a:cs typeface="+mn-cs"/>
              </a:rPr>
              <a:t> программ</a:t>
            </a:r>
          </a:p>
          <a:p>
            <a:pPr marL="228600" indent="-228600">
              <a:buFont typeface="+mj-lt"/>
              <a:buAutoNum type="arabicPeriod"/>
            </a:pPr>
            <a:r>
              <a:rPr lang="ru-RU" sz="1200" b="0" i="0" kern="1200" dirty="0" smtClean="0">
                <a:solidFill>
                  <a:schemeClr val="tx1"/>
                </a:solidFill>
                <a:latin typeface="+mn-lt"/>
                <a:ea typeface="+mn-ea"/>
                <a:cs typeface="+mn-cs"/>
              </a:rPr>
              <a:t>Итеративный процесс</a:t>
            </a: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28" tooltip="Гибкая методология разработки"/>
              </a:rPr>
              <a:t>Гибкие методологии разработки</a:t>
            </a:r>
            <a:endParaRPr lang="ru-RU" sz="1200" b="0" i="0" kern="1200" dirty="0" smtClean="0">
              <a:solidFill>
                <a:schemeClr val="tx1"/>
              </a:solidFill>
              <a:latin typeface="+mn-lt"/>
              <a:ea typeface="+mn-ea"/>
              <a:cs typeface="+mn-cs"/>
            </a:endParaRP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44" tooltip="Экстремальное программирование"/>
              </a:rPr>
              <a:t>Экстремальное программирование</a:t>
            </a:r>
            <a:endParaRPr lang="ru-RU" sz="1200" b="0" i="0" kern="1200" dirty="0" smtClean="0">
              <a:solidFill>
                <a:schemeClr val="tx1"/>
              </a:solidFill>
              <a:latin typeface="+mn-lt"/>
              <a:ea typeface="+mn-ea"/>
              <a:cs typeface="+mn-cs"/>
            </a:endParaRPr>
          </a:p>
          <a:p>
            <a:pPr marL="228600" indent="-228600">
              <a:buFont typeface="+mj-lt"/>
              <a:buAutoNum type="arabicPeriod"/>
            </a:pPr>
            <a:r>
              <a:rPr lang="ru-RU" sz="1200" b="0" i="0" kern="1200" dirty="0" smtClean="0">
                <a:solidFill>
                  <a:schemeClr val="tx1"/>
                </a:solidFill>
                <a:latin typeface="+mn-lt"/>
                <a:ea typeface="+mn-ea"/>
                <a:cs typeface="+mn-cs"/>
              </a:rPr>
              <a:t>Формальные методы</a:t>
            </a: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45" tooltip="Логическое программирование"/>
              </a:rPr>
              <a:t>логическое программирование</a:t>
            </a:r>
            <a:endParaRPr lang="ru-RU" sz="1200" b="0" i="0" kern="1200" dirty="0" smtClean="0">
              <a:solidFill>
                <a:schemeClr val="tx1"/>
              </a:solidFill>
              <a:latin typeface="+mn-lt"/>
              <a:ea typeface="+mn-ea"/>
              <a:cs typeface="+mn-cs"/>
            </a:endParaRPr>
          </a:p>
          <a:p>
            <a:pPr marL="685800" lvl="1" indent="-228600">
              <a:buFont typeface="Arial" pitchFamily="34" charset="0"/>
              <a:buChar char="•"/>
            </a:pPr>
            <a:r>
              <a:rPr lang="ru-RU" sz="1200" b="0" i="0" u="none" strike="noStrike" kern="1200" dirty="0" smtClean="0">
                <a:solidFill>
                  <a:schemeClr val="tx1"/>
                </a:solidFill>
                <a:latin typeface="+mn-lt"/>
                <a:ea typeface="+mn-ea"/>
                <a:cs typeface="+mn-cs"/>
                <a:hlinkClick r:id="rId46" tooltip="Доказательное программирование"/>
              </a:rPr>
              <a:t>доказательное программирование</a:t>
            </a:r>
            <a:endParaRPr lang="ru-RU" sz="1200" b="0" i="0" u="none" strike="noStrike" kern="1200" dirty="0" smtClean="0">
              <a:solidFill>
                <a:schemeClr val="tx1"/>
              </a:solidFill>
              <a:latin typeface="+mn-lt"/>
              <a:ea typeface="+mn-ea"/>
              <a:cs typeface="+mn-cs"/>
            </a:endParaRPr>
          </a:p>
          <a:p>
            <a:pPr marL="685800" lvl="1" indent="-228600">
              <a:buFont typeface="Arial" pitchFamily="34" charset="0"/>
              <a:buChar char="•"/>
            </a:pPr>
            <a:endParaRPr lang="ru-RU" sz="1200" b="0" i="0" u="none" strike="noStrike" kern="1200" dirty="0" smtClean="0">
              <a:solidFill>
                <a:schemeClr val="tx1"/>
              </a:solidFill>
              <a:latin typeface="+mn-lt"/>
              <a:ea typeface="+mn-ea"/>
              <a:cs typeface="+mn-cs"/>
            </a:endParaRPr>
          </a:p>
          <a:p>
            <a:pPr marL="685800" lvl="1" indent="-228600">
              <a:buFont typeface="Arial" pitchFamily="34" charset="0"/>
              <a:buNone/>
            </a:pPr>
            <a:endParaRPr lang="ru-RU" sz="1200" b="0" i="0" u="none" strike="noStrike"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3</a:t>
            </a:fld>
            <a:endParaRPr lang="ru-RU"/>
          </a:p>
        </p:txBody>
      </p:sp>
    </p:spTree>
    <p:extLst>
      <p:ext uri="{BB962C8B-B14F-4D97-AF65-F5344CB8AC3E}">
        <p14:creationId xmlns:p14="http://schemas.microsoft.com/office/powerpoint/2010/main" val="786730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effectLst/>
              </a:rPr>
              <a:t>Качество</a:t>
            </a:r>
            <a:r>
              <a:rPr lang="ru-RU" baseline="0" dirty="0" smtClean="0">
                <a:effectLst/>
              </a:rPr>
              <a:t> и производительность разработки ПО зависит от трех основных факторов:</a:t>
            </a:r>
            <a:r>
              <a:rPr lang="ru-RU" dirty="0" smtClean="0">
                <a:effectLst/>
              </a:rPr>
              <a:t> люди, процессы и технологии.</a:t>
            </a:r>
            <a:br>
              <a:rPr lang="ru-RU" dirty="0" smtClean="0">
                <a:effectLst/>
              </a:rPr>
            </a:br>
            <a:r>
              <a:rPr lang="ru-RU" dirty="0" smtClean="0">
                <a:effectLst/>
              </a:rPr>
              <a:t>То есть, конечное качество и производительность разрабатываемого ПО, зависит от навыков людей, участвующих в проекте разработки и важную</a:t>
            </a:r>
            <a:r>
              <a:rPr lang="ru-RU" baseline="0" dirty="0" smtClean="0">
                <a:effectLst/>
              </a:rPr>
              <a:t> роль играют инструменты разработки, но без руководителя проекта – менеджера ничего не произойдет, так как кто-то должен управлять всем процессом. Объединять всеми любимого заказчика с нашей командой умных программистов.</a:t>
            </a:r>
            <a:r>
              <a:rPr lang="ru-RU" dirty="0" smtClean="0">
                <a:effectLst/>
              </a:rPr>
              <a:t/>
            </a:r>
            <a:br>
              <a:rPr lang="ru-RU" dirty="0" smtClean="0">
                <a:effectLst/>
              </a:rPr>
            </a:br>
            <a:r>
              <a:rPr lang="ru-RU" b="1" dirty="0" smtClean="0">
                <a:effectLst/>
              </a:rPr>
              <a:t>Основная работа всех процессов</a:t>
            </a:r>
            <a:r>
              <a:rPr lang="ru-RU" b="1" baseline="0" dirty="0" smtClean="0">
                <a:effectLst/>
              </a:rPr>
              <a:t> должна быть направлена на результат! </a:t>
            </a: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effectLst/>
              </a:rPr>
              <a:t>Инструменты - вспомогательные средства, которые помогают людям выполнять некоторые задачи более эффективно</a:t>
            </a:r>
            <a:r>
              <a:rPr lang="ru-RU" baseline="0" dirty="0" smtClean="0">
                <a:effectLst/>
              </a:rPr>
              <a:t> и</a:t>
            </a:r>
            <a:r>
              <a:rPr lang="ru-RU" dirty="0" smtClean="0">
                <a:effectLst/>
              </a:rPr>
              <a:t> с меньшим количеством ошибок.</a:t>
            </a:r>
          </a:p>
          <a:p>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4</a:t>
            </a:fld>
            <a:endParaRPr lang="ru-RU"/>
          </a:p>
        </p:txBody>
      </p:sp>
    </p:spTree>
    <p:extLst>
      <p:ext uri="{BB962C8B-B14F-4D97-AF65-F5344CB8AC3E}">
        <p14:creationId xmlns:p14="http://schemas.microsoft.com/office/powerpoint/2010/main" val="382874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514350" indent="-514350">
              <a:buFont typeface="+mj-lt"/>
              <a:buAutoNum type="arabicPeriod"/>
            </a:pPr>
            <a:r>
              <a:rPr lang="ru-RU" dirty="0" smtClean="0"/>
              <a:t>системы работающие только с людьми </a:t>
            </a:r>
          </a:p>
          <a:p>
            <a:pPr lvl="1"/>
            <a:r>
              <a:rPr lang="ru-RU" dirty="0" smtClean="0"/>
              <a:t>например: информационные системы организаций – используются людьми для ввода, хранения поиска и отображения информации</a:t>
            </a:r>
            <a:r>
              <a:rPr lang="en-US" dirty="0" smtClean="0"/>
              <a:t>;</a:t>
            </a:r>
            <a:endParaRPr lang="ru-RU" dirty="0" smtClean="0"/>
          </a:p>
          <a:p>
            <a:pPr marL="514350" indent="-514350">
              <a:buFont typeface="+mj-lt"/>
              <a:buAutoNum type="arabicPeriod"/>
            </a:pPr>
            <a:r>
              <a:rPr lang="ru-RU" dirty="0" smtClean="0"/>
              <a:t>системы работающие с людьми и внешними техническими устройствами:</a:t>
            </a:r>
          </a:p>
          <a:p>
            <a:pPr lvl="1"/>
            <a:r>
              <a:rPr lang="ru-RU" dirty="0" smtClean="0"/>
              <a:t>например:  информационные системы соревнований</a:t>
            </a:r>
            <a:r>
              <a:rPr lang="en-US" dirty="0" smtClean="0"/>
              <a:t>.</a:t>
            </a:r>
            <a:endParaRPr lang="ru-RU" dirty="0" smtClean="0"/>
          </a:p>
          <a:p>
            <a:pPr marL="514350" indent="-514350">
              <a:buFont typeface="+mj-lt"/>
              <a:buAutoNum type="arabicPeriod"/>
            </a:pPr>
            <a:r>
              <a:rPr lang="ru-RU" dirty="0" smtClean="0"/>
              <a:t>системы работающие с внешними техническими устройствами</a:t>
            </a:r>
            <a:r>
              <a:rPr lang="en-US" dirty="0" smtClean="0"/>
              <a:t> </a:t>
            </a:r>
            <a:endParaRPr lang="ru-RU" dirty="0" smtClean="0"/>
          </a:p>
          <a:p>
            <a:pPr lvl="1"/>
            <a:r>
              <a:rPr lang="ru-RU" dirty="0" smtClean="0"/>
              <a:t>встроенные системы реального времени – встраиваются в технические устройства для выполнения управления ими.</a:t>
            </a: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5</a:t>
            </a:fld>
            <a:endParaRPr lang="ru-RU"/>
          </a:p>
        </p:txBody>
      </p:sp>
    </p:spTree>
    <p:extLst>
      <p:ext uri="{BB962C8B-B14F-4D97-AF65-F5344CB8AC3E}">
        <p14:creationId xmlns:p14="http://schemas.microsoft.com/office/powerpoint/2010/main" val="2028429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Понятно, что для достижения целей быстрой (производительной) разработки качественного ПО требуются правильные процессы организации работ.</a:t>
            </a:r>
          </a:p>
          <a:p>
            <a:r>
              <a:rPr lang="ru-RU" dirty="0" smtClean="0"/>
              <a:t>Процессы являются основными для разработки качественного ПО при заданных затратах и в заданные сроки.</a:t>
            </a:r>
          </a:p>
          <a:p>
            <a:r>
              <a:rPr lang="ru-RU" dirty="0" smtClean="0"/>
              <a:t>В связи с этим, </a:t>
            </a:r>
            <a:r>
              <a:rPr lang="en-US" dirty="0" smtClean="0"/>
              <a:t>SE </a:t>
            </a:r>
            <a:r>
              <a:rPr lang="ru-RU" dirty="0" smtClean="0"/>
              <a:t>основное внимание уделяет процессам, которые в ранее сделанном определении называются систематизированным подходом.</a:t>
            </a:r>
          </a:p>
          <a:p>
            <a:endParaRPr lang="ru-RU" sz="1200" kern="1200" baseline="0" dirty="0" smtClean="0">
              <a:solidFill>
                <a:schemeClr val="tx1"/>
              </a:solidFill>
              <a:latin typeface="+mn-lt"/>
              <a:ea typeface="+mn-ea"/>
              <a:cs typeface="+mn-cs"/>
            </a:endParaRPr>
          </a:p>
          <a:p>
            <a:r>
              <a:rPr lang="ru-RU" sz="1200" b="1" i="1" kern="1200" baseline="0" dirty="0" smtClean="0">
                <a:solidFill>
                  <a:schemeClr val="tx1"/>
                </a:solidFill>
                <a:latin typeface="+mn-lt"/>
                <a:ea typeface="+mn-ea"/>
                <a:cs typeface="+mn-cs"/>
              </a:rPr>
              <a:t>(Замечание: </a:t>
            </a:r>
          </a:p>
          <a:p>
            <a:r>
              <a:rPr lang="en-US" sz="1200" b="1" i="1" kern="1200" baseline="0" dirty="0" smtClean="0">
                <a:solidFill>
                  <a:schemeClr val="tx1"/>
                </a:solidFill>
                <a:latin typeface="+mn-lt"/>
                <a:ea typeface="+mn-ea"/>
                <a:cs typeface="+mn-cs"/>
              </a:rPr>
              <a:t>SE </a:t>
            </a:r>
            <a:r>
              <a:rPr lang="ru-RU" sz="1200" b="1" i="1" kern="1200" baseline="0" dirty="0" smtClean="0">
                <a:solidFill>
                  <a:schemeClr val="tx1"/>
                </a:solidFill>
                <a:latin typeface="+mn-lt"/>
                <a:ea typeface="+mn-ea"/>
                <a:cs typeface="+mn-cs"/>
              </a:rPr>
              <a:t>рассматривается, в основном, как процессы – управление проектом, а не способом разработки их требований –</a:t>
            </a:r>
            <a:r>
              <a:rPr lang="en-US" sz="1200" b="1" i="1" kern="1200" baseline="0" dirty="0" smtClean="0">
                <a:solidFill>
                  <a:schemeClr val="tx1"/>
                </a:solidFill>
                <a:latin typeface="+mn-lt"/>
                <a:ea typeface="+mn-ea"/>
                <a:cs typeface="+mn-cs"/>
              </a:rPr>
              <a:t>&gt; </a:t>
            </a:r>
            <a:r>
              <a:rPr lang="ru-RU" sz="1200" b="1" i="1" kern="1200" baseline="0" dirty="0" smtClean="0">
                <a:solidFill>
                  <a:schemeClr val="tx1"/>
                </a:solidFill>
                <a:latin typeface="+mn-lt"/>
                <a:ea typeface="+mn-ea"/>
                <a:cs typeface="+mn-cs"/>
              </a:rPr>
              <a:t>ПО.</a:t>
            </a:r>
          </a:p>
          <a:p>
            <a:r>
              <a:rPr lang="ru-RU" sz="1200" b="1" i="1" kern="1200" baseline="0" dirty="0" smtClean="0">
                <a:solidFill>
                  <a:schemeClr val="tx1"/>
                </a:solidFill>
                <a:latin typeface="+mn-lt"/>
                <a:ea typeface="+mn-ea"/>
                <a:cs typeface="+mn-cs"/>
              </a:rPr>
              <a:t>Слишком категорично.</a:t>
            </a:r>
          </a:p>
          <a:p>
            <a:r>
              <a:rPr lang="ru-RU" sz="1200" b="1" i="1" kern="1200" baseline="0" dirty="0" smtClean="0">
                <a:solidFill>
                  <a:schemeClr val="tx1"/>
                </a:solidFill>
                <a:latin typeface="+mn-lt"/>
                <a:ea typeface="+mn-ea"/>
                <a:cs typeface="+mn-cs"/>
              </a:rPr>
              <a:t>Может автор и анализ с проектированием считает процессом управления</a:t>
            </a:r>
            <a:r>
              <a:rPr lang="en-US" sz="1200" b="1" i="1" kern="1200" baseline="0" dirty="0" smtClean="0">
                <a:solidFill>
                  <a:schemeClr val="tx1"/>
                </a:solidFill>
                <a:latin typeface="+mn-lt"/>
                <a:ea typeface="+mn-ea"/>
                <a:cs typeface="+mn-cs"/>
              </a:rPr>
              <a:t>???</a:t>
            </a:r>
            <a:r>
              <a:rPr lang="ru-RU" sz="1200" b="1" i="1" kern="1200" baseline="0" dirty="0" smtClean="0">
                <a:solidFill>
                  <a:schemeClr val="tx1"/>
                </a:solidFill>
                <a:latin typeface="+mn-lt"/>
                <a:ea typeface="+mn-ea"/>
                <a:cs typeface="+mn-cs"/>
              </a:rPr>
              <a:t>)</a:t>
            </a: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6</a:t>
            </a:fld>
            <a:endParaRPr lang="ru-RU"/>
          </a:p>
        </p:txBody>
      </p:sp>
    </p:spTree>
    <p:extLst>
      <p:ext uri="{BB962C8B-B14F-4D97-AF65-F5344CB8AC3E}">
        <p14:creationId xmlns:p14="http://schemas.microsoft.com/office/powerpoint/2010/main" val="3934393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effectLst/>
              </a:rPr>
              <a:t>Процесс и проект</a:t>
            </a:r>
            <a:br>
              <a:rPr lang="ru-RU" dirty="0" smtClean="0">
                <a:effectLst/>
              </a:rPr>
            </a:br>
            <a:r>
              <a:rPr lang="ru-RU" dirty="0" smtClean="0">
                <a:effectLst/>
              </a:rPr>
              <a:t/>
            </a:r>
            <a:br>
              <a:rPr lang="ru-RU" dirty="0" smtClean="0">
                <a:effectLst/>
              </a:rPr>
            </a:br>
            <a:r>
              <a:rPr lang="ru-RU" dirty="0" smtClean="0">
                <a:effectLst/>
              </a:rPr>
              <a:t>Процесс представляет собой последовательность этапов, выполняемых для данной цели [52].</a:t>
            </a:r>
            <a:br>
              <a:rPr lang="ru-RU" dirty="0" smtClean="0">
                <a:effectLst/>
              </a:rPr>
            </a:br>
            <a:r>
              <a:rPr lang="ru-RU" dirty="0" smtClean="0">
                <a:effectLst/>
              </a:rPr>
              <a:t/>
            </a:r>
            <a:br>
              <a:rPr lang="ru-RU" dirty="0" smtClean="0">
                <a:effectLst/>
              </a:rPr>
            </a:br>
            <a:r>
              <a:rPr lang="ru-RU" dirty="0" smtClean="0">
                <a:effectLst/>
              </a:rPr>
              <a:t>Как уже упоминалось ранее, при разработке программного обеспечения (промышленная прочность), целью которых является разработка программного обеспечения для удовлетворения потребностей некоторых пользователей или клиентов, как это показано на рисунке 2.1.</a:t>
            </a:r>
            <a:br>
              <a:rPr lang="ru-RU" dirty="0" smtClean="0">
                <a:effectLst/>
              </a:rPr>
            </a:br>
            <a:r>
              <a:rPr lang="ru-RU" dirty="0" smtClean="0">
                <a:effectLst/>
              </a:rPr>
              <a:t/>
            </a:r>
            <a:br>
              <a:rPr lang="ru-RU" dirty="0" smtClean="0">
                <a:effectLst/>
              </a:rPr>
            </a:br>
            <a:r>
              <a:rPr lang="ru-RU" dirty="0" smtClean="0">
                <a:effectLst/>
              </a:rPr>
              <a:t>Проект программного обеспечения является один экземпляр этой проблемы, и процесс разработки является то, что используется для достижения этой цели.</a:t>
            </a:r>
          </a:p>
          <a:p>
            <a:pPr marL="0" marR="0" indent="0" algn="l" defTabSz="914400" rtl="0" eaLnBrk="1" fontAlgn="auto" latinLnBrk="0" hangingPunct="1">
              <a:lnSpc>
                <a:spcPct val="100000"/>
              </a:lnSpc>
              <a:spcBef>
                <a:spcPts val="0"/>
              </a:spcBef>
              <a:spcAft>
                <a:spcPts val="0"/>
              </a:spcAft>
              <a:buClrTx/>
              <a:buSzTx/>
              <a:buFontTx/>
              <a:buNone/>
              <a:tabLst/>
              <a:defRPr/>
            </a:pPr>
            <a:endParaRPr lang="ru-RU" altLang="ru-RU"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altLang="ru-RU" b="1" dirty="0" smtClean="0"/>
              <a:t>Проект</a:t>
            </a:r>
            <a:endParaRPr lang="ru-RU" b="1" dirty="0" smtClean="0">
              <a:effectLst/>
            </a:endParaRPr>
          </a:p>
          <a:p>
            <a:pPr eaLnBrk="1" hangingPunct="1"/>
            <a:r>
              <a:rPr lang="ru-RU" altLang="ru-RU" sz="1200" dirty="0" smtClean="0"/>
              <a:t>Одним из ключевых понятий технологии разработки программного обеспечения, как и многих других областей деятельности, является понятие </a:t>
            </a:r>
            <a:r>
              <a:rPr lang="ru-RU" altLang="ru-RU" sz="1200" i="1" dirty="0" smtClean="0"/>
              <a:t>проекта. </a:t>
            </a:r>
          </a:p>
          <a:p>
            <a:pPr eaLnBrk="1" hangingPunct="1"/>
            <a:r>
              <a:rPr lang="ru-RU" altLang="ru-RU" sz="1200" i="1" dirty="0" smtClean="0"/>
              <a:t>Проект </a:t>
            </a:r>
            <a:r>
              <a:rPr lang="ru-RU" altLang="ru-RU" sz="1200" dirty="0" smtClean="0"/>
              <a:t>есть уникальное временное предприятие, направленное на создание определенного, уникального продукта и услуги. </a:t>
            </a:r>
          </a:p>
          <a:p>
            <a:pPr eaLnBrk="1" hangingPunct="1"/>
            <a:r>
              <a:rPr lang="ru-RU" altLang="ru-RU" sz="1200" dirty="0" smtClean="0"/>
              <a:t>Технология </a:t>
            </a:r>
            <a:r>
              <a:rPr lang="ru-RU" altLang="ru-RU" sz="1200" i="1" dirty="0" smtClean="0"/>
              <a:t>управления проектом </a:t>
            </a:r>
            <a:r>
              <a:rPr lang="ru-RU" altLang="ru-RU" sz="1200" dirty="0" smtClean="0"/>
              <a:t>есть совокупность знаний, навыков, инструментов и методов для планирования и реализации действий, направленных на достижение поставленной в рамках проекта цели.</a:t>
            </a:r>
          </a:p>
          <a:p>
            <a:pPr eaLnBrk="1" hangingPunct="1"/>
            <a:endParaRPr lang="ru-RU" altLang="ru-RU" sz="1200" b="1" dirty="0" smtClean="0"/>
          </a:p>
          <a:p>
            <a:pPr eaLnBrk="1" hangingPunct="1"/>
            <a:r>
              <a:rPr lang="ru-RU" altLang="ru-RU" sz="1200" b="1" dirty="0" smtClean="0"/>
              <a:t>Четыре «П» разработки ПО</a:t>
            </a:r>
          </a:p>
          <a:p>
            <a:pPr eaLnBrk="1" hangingPunct="1"/>
            <a:endParaRPr lang="ru-RU" altLang="ru-RU" sz="1200" dirty="0" smtClean="0"/>
          </a:p>
          <a:p>
            <a:pPr eaLnBrk="1" hangingPunct="1"/>
            <a:r>
              <a:rPr lang="ru-RU" altLang="ru-RU" sz="2400" dirty="0" smtClean="0"/>
              <a:t>Персонал</a:t>
            </a:r>
          </a:p>
          <a:p>
            <a:pPr lvl="1" eaLnBrk="1" hangingPunct="1">
              <a:buFont typeface="Wingdings" panose="05000000000000000000" pitchFamily="2" charset="2"/>
              <a:buNone/>
            </a:pPr>
            <a:r>
              <a:rPr lang="ru-RU" altLang="ru-RU" dirty="0" smtClean="0"/>
              <a:t>(кто это делает)</a:t>
            </a:r>
          </a:p>
          <a:p>
            <a:pPr eaLnBrk="1" hangingPunct="1"/>
            <a:r>
              <a:rPr lang="ru-RU" altLang="ru-RU" sz="2400" dirty="0" smtClean="0"/>
              <a:t>Процесс</a:t>
            </a:r>
          </a:p>
          <a:p>
            <a:pPr lvl="1" eaLnBrk="1" hangingPunct="1">
              <a:buFont typeface="Wingdings" panose="05000000000000000000" pitchFamily="2" charset="2"/>
              <a:buNone/>
            </a:pPr>
            <a:r>
              <a:rPr lang="ru-RU" altLang="ru-RU" dirty="0" smtClean="0"/>
              <a:t>(способ, которым это делается)</a:t>
            </a:r>
          </a:p>
          <a:p>
            <a:pPr eaLnBrk="1" hangingPunct="1"/>
            <a:r>
              <a:rPr lang="ru-RU" altLang="ru-RU" sz="2400" dirty="0" smtClean="0"/>
              <a:t>Проект</a:t>
            </a:r>
          </a:p>
          <a:p>
            <a:pPr lvl="1" eaLnBrk="1" hangingPunct="1">
              <a:buFont typeface="Wingdings" panose="05000000000000000000" pitchFamily="2" charset="2"/>
              <a:buNone/>
            </a:pPr>
            <a:r>
              <a:rPr lang="ru-RU" altLang="ru-RU" dirty="0" smtClean="0"/>
              <a:t>(выполнение необходимых действий)</a:t>
            </a:r>
          </a:p>
          <a:p>
            <a:pPr eaLnBrk="1" hangingPunct="1"/>
            <a:r>
              <a:rPr lang="ru-RU" altLang="ru-RU" sz="2400" dirty="0" smtClean="0"/>
              <a:t>Продукт</a:t>
            </a:r>
          </a:p>
          <a:p>
            <a:pPr lvl="1" eaLnBrk="1" hangingPunct="1">
              <a:buFont typeface="Wingdings" panose="05000000000000000000" pitchFamily="2" charset="2"/>
              <a:buNone/>
            </a:pPr>
            <a:r>
              <a:rPr lang="ru-RU" altLang="ru-RU" dirty="0" smtClean="0"/>
              <a:t>(артефакты)</a:t>
            </a:r>
          </a:p>
          <a:p>
            <a:pPr marL="0" marR="0" indent="0" algn="l" defTabSz="914400" rtl="0" eaLnBrk="1" fontAlgn="auto" latinLnBrk="0" hangingPunct="1">
              <a:lnSpc>
                <a:spcPct val="100000"/>
              </a:lnSpc>
              <a:spcBef>
                <a:spcPts val="0"/>
              </a:spcBef>
              <a:spcAft>
                <a:spcPts val="0"/>
              </a:spcAft>
              <a:buClrTx/>
              <a:buSzTx/>
              <a:buFontTx/>
              <a:buNone/>
              <a:tabLst/>
              <a:defRPr/>
            </a:pPr>
            <a:endParaRPr lang="ru-RU" altLang="ru-RU"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ru-RU" altLang="ru-RU"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ru-RU" altLang="ru-RU" b="1" dirty="0" smtClean="0"/>
              <a:t>Продукт</a:t>
            </a:r>
            <a:endParaRPr lang="ru-RU" b="1" dirty="0" smtClean="0">
              <a:effectLst/>
            </a:endParaRPr>
          </a:p>
          <a:p>
            <a:pPr eaLnBrk="1" hangingPunct="1">
              <a:buFont typeface="Wingdings" panose="05000000000000000000" pitchFamily="2" charset="2"/>
              <a:buNone/>
            </a:pPr>
            <a:r>
              <a:rPr lang="ru-RU" altLang="ru-RU" b="1" dirty="0" smtClean="0">
                <a:solidFill>
                  <a:schemeClr val="hlink"/>
                </a:solidFill>
              </a:rPr>
              <a:t>Артефакт</a:t>
            </a:r>
            <a:r>
              <a:rPr lang="ru-RU" altLang="ru-RU" b="1" dirty="0" smtClean="0"/>
              <a:t> – любой вид информации, создаваемый, изменяемый и используемый сотрудниками при создании системы</a:t>
            </a:r>
          </a:p>
          <a:p>
            <a:pPr eaLnBrk="1" hangingPunct="1">
              <a:buFont typeface="Wingdings" panose="05000000000000000000" pitchFamily="2" charset="2"/>
              <a:buNone/>
            </a:pPr>
            <a:r>
              <a:rPr lang="ru-RU" altLang="ru-RU" dirty="0" smtClean="0"/>
              <a:t>Артефакты:</a:t>
            </a:r>
          </a:p>
          <a:p>
            <a:pPr eaLnBrk="1" hangingPunct="1"/>
            <a:r>
              <a:rPr lang="ru-RU" altLang="ru-RU" dirty="0" smtClean="0"/>
              <a:t>Само приложение</a:t>
            </a:r>
          </a:p>
          <a:p>
            <a:pPr eaLnBrk="1" hangingPunct="1"/>
            <a:r>
              <a:rPr lang="ru-RU" altLang="ru-RU" dirty="0" smtClean="0"/>
              <a:t>Спецификация требований</a:t>
            </a:r>
          </a:p>
          <a:p>
            <a:pPr eaLnBrk="1" hangingPunct="1"/>
            <a:r>
              <a:rPr lang="ru-RU" altLang="ru-RU" dirty="0" smtClean="0"/>
              <a:t>Проектная модель</a:t>
            </a:r>
          </a:p>
          <a:p>
            <a:pPr eaLnBrk="1" hangingPunct="1"/>
            <a:r>
              <a:rPr lang="ru-RU" altLang="ru-RU" dirty="0" smtClean="0"/>
              <a:t>Исходный и объектный код</a:t>
            </a:r>
          </a:p>
          <a:p>
            <a:pPr eaLnBrk="1" hangingPunct="1"/>
            <a:r>
              <a:rPr lang="ru-RU" altLang="ru-RU" dirty="0" smtClean="0"/>
              <a:t>Тестовые процедуры</a:t>
            </a:r>
          </a:p>
          <a:p>
            <a:pPr eaLnBrk="1" hangingPunct="1"/>
            <a:r>
              <a:rPr lang="ru-RU" altLang="ru-RU" dirty="0" smtClean="0"/>
              <a:t>…</a:t>
            </a:r>
          </a:p>
          <a:p>
            <a:endParaRPr lang="en-US" sz="1200" kern="1200" baseline="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7</a:t>
            </a:fld>
            <a:endParaRPr lang="ru-RU"/>
          </a:p>
        </p:txBody>
      </p:sp>
    </p:spTree>
    <p:extLst>
      <p:ext uri="{BB962C8B-B14F-4D97-AF65-F5344CB8AC3E}">
        <p14:creationId xmlns:p14="http://schemas.microsoft.com/office/powerpoint/2010/main" val="885939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Для программного проекта ключевую роль играет процесс разработки – в результате выполнение данного процесса достигается цель предоставления заказчику требуемого ПО.</a:t>
            </a:r>
          </a:p>
          <a:p>
            <a:r>
              <a:rPr lang="ru-RU" dirty="0" smtClean="0"/>
              <a:t>Однако не достаточно просто разработать требуемое ПО, нужно выполнить проект с </a:t>
            </a:r>
            <a:r>
              <a:rPr lang="ru-RU" b="1" i="1" dirty="0" smtClean="0"/>
              <a:t>наименьшими затратами</a:t>
            </a:r>
            <a:r>
              <a:rPr lang="ru-RU" dirty="0" smtClean="0"/>
              <a:t>, за </a:t>
            </a:r>
            <a:r>
              <a:rPr lang="ru-RU" b="1" i="1" dirty="0" smtClean="0"/>
              <a:t>наименьшее время</a:t>
            </a:r>
            <a:r>
              <a:rPr lang="ru-RU" dirty="0" smtClean="0"/>
              <a:t> и с </a:t>
            </a:r>
            <a:r>
              <a:rPr lang="ru-RU" b="1" i="1" dirty="0" smtClean="0"/>
              <a:t>требуемым качеством</a:t>
            </a:r>
            <a:r>
              <a:rPr lang="ru-RU" dirty="0" smtClean="0"/>
              <a:t>.</a:t>
            </a:r>
          </a:p>
          <a:p>
            <a:r>
              <a:rPr lang="ru-RU" dirty="0" smtClean="0"/>
              <a:t>В связи с этими дополнительными целями роль процессов возрастает. </a:t>
            </a:r>
          </a:p>
          <a:p>
            <a:r>
              <a:rPr lang="ru-RU" dirty="0" smtClean="0"/>
              <a:t>Существует много процессов разработки, позволяющих создать требуемое ПО, но </a:t>
            </a:r>
            <a:r>
              <a:rPr lang="ru-RU" b="1" i="1" dirty="0" smtClean="0"/>
              <a:t>для достижения высокого качества и производительности требуется некоторый «оптимальный» процесс</a:t>
            </a:r>
            <a:r>
              <a:rPr lang="ru-RU" dirty="0" smtClean="0"/>
              <a:t>.</a:t>
            </a:r>
          </a:p>
          <a:p>
            <a:endParaRPr lang="en-US" sz="1200" kern="1200" baseline="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8</a:t>
            </a:fld>
            <a:endParaRPr lang="ru-RU"/>
          </a:p>
        </p:txBody>
      </p:sp>
    </p:spTree>
    <p:extLst>
      <p:ext uri="{BB962C8B-B14F-4D97-AF65-F5344CB8AC3E}">
        <p14:creationId xmlns:p14="http://schemas.microsoft.com/office/powerpoint/2010/main" val="2583053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Нужно отличать спецификацию (детальное описание) процесса от самого процесса.</a:t>
            </a:r>
          </a:p>
          <a:p>
            <a:r>
              <a:rPr lang="ru-RU" b="1" i="1" dirty="0" smtClean="0"/>
              <a:t>Процесс</a:t>
            </a:r>
            <a:r>
              <a:rPr lang="ru-RU" dirty="0" smtClean="0"/>
              <a:t> является динамической сущностью, включающей выполненные действия.</a:t>
            </a:r>
            <a:r>
              <a:rPr lang="en-US" dirty="0" smtClean="0"/>
              <a:t> </a:t>
            </a:r>
          </a:p>
          <a:p>
            <a:r>
              <a:rPr lang="ru-RU" b="1" i="1" dirty="0" smtClean="0"/>
              <a:t>Спецификация процесса</a:t>
            </a:r>
            <a:r>
              <a:rPr lang="ru-RU" dirty="0" smtClean="0"/>
              <a:t> является </a:t>
            </a:r>
            <a:r>
              <a:rPr lang="en-US" dirty="0" smtClean="0"/>
              <a:t> </a:t>
            </a:r>
            <a:r>
              <a:rPr lang="ru-RU" dirty="0" smtClean="0"/>
              <a:t>описанием процесса, которому предположительно можно следовать в некотором проекте для достижения цели, для которой данный процесс был спроектирован</a:t>
            </a:r>
            <a:r>
              <a:rPr lang="en-US" dirty="0" smtClean="0"/>
              <a:t>.</a:t>
            </a:r>
          </a:p>
          <a:p>
            <a:r>
              <a:rPr lang="ru-RU" dirty="0" smtClean="0"/>
              <a:t>В проекте спецификация процесса может использоваться</a:t>
            </a:r>
            <a:r>
              <a:rPr lang="en-US" dirty="0" smtClean="0"/>
              <a:t>,</a:t>
            </a:r>
            <a:r>
              <a:rPr lang="ru-RU" dirty="0" smtClean="0"/>
              <a:t> в качестве процесса, который планирует использовать проект</a:t>
            </a:r>
            <a:r>
              <a:rPr lang="en-US" dirty="0" smtClean="0"/>
              <a:t>. </a:t>
            </a:r>
            <a:endParaRPr lang="ru-RU" dirty="0" smtClean="0"/>
          </a:p>
          <a:p>
            <a:r>
              <a:rPr lang="ru-RU" dirty="0" smtClean="0"/>
              <a:t>Реальный процесс это то, что в действительно выполняется в проекте.</a:t>
            </a:r>
            <a:r>
              <a:rPr lang="en-US" dirty="0" smtClean="0"/>
              <a:t> </a:t>
            </a:r>
            <a:endParaRPr lang="ru-RU" dirty="0" smtClean="0"/>
          </a:p>
          <a:p>
            <a:r>
              <a:rPr lang="ru-RU" dirty="0" smtClean="0"/>
              <a:t>Он может отличаться планируемого процесса.</a:t>
            </a:r>
          </a:p>
          <a:p>
            <a:endParaRPr lang="ru-RU" dirty="0" smtClean="0"/>
          </a:p>
          <a:p>
            <a:r>
              <a:rPr lang="ru-RU" b="1" dirty="0" smtClean="0"/>
              <a:t>ЧЕЛОВЕК ПРЕДПОЛАГАЕТ, А БОГ РАСПОЛАГАЕТ.</a:t>
            </a:r>
            <a:endParaRPr lang="en-US" b="1" dirty="0" smtClean="0"/>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9</a:t>
            </a:fld>
            <a:endParaRPr lang="ru-RU"/>
          </a:p>
        </p:txBody>
      </p:sp>
    </p:spTree>
    <p:extLst>
      <p:ext uri="{BB962C8B-B14F-4D97-AF65-F5344CB8AC3E}">
        <p14:creationId xmlns:p14="http://schemas.microsoft.com/office/powerpoint/2010/main" val="1562204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b="1" i="1" dirty="0" smtClean="0"/>
              <a:t>Модель процесса</a:t>
            </a:r>
            <a:r>
              <a:rPr lang="ru-RU" dirty="0" smtClean="0"/>
              <a:t> описывает (специфицирует) обобщенный процесс</a:t>
            </a:r>
            <a:r>
              <a:rPr lang="en-US" i="1" dirty="0" smtClean="0"/>
              <a:t>, </a:t>
            </a:r>
            <a:r>
              <a:rPr lang="ru-RU" i="1" dirty="0" smtClean="0"/>
              <a:t>который является «оптимальным» для </a:t>
            </a:r>
            <a:r>
              <a:rPr lang="ru-RU" b="1" i="1" dirty="0" smtClean="0"/>
              <a:t>некоторого класса проектов</a:t>
            </a:r>
            <a:r>
              <a:rPr lang="en-US" dirty="0" smtClean="0"/>
              <a:t>. </a:t>
            </a:r>
            <a:endParaRPr lang="ru-RU" dirty="0" smtClean="0"/>
          </a:p>
          <a:p>
            <a:r>
              <a:rPr lang="ru-RU" dirty="0" smtClean="0"/>
              <a:t>Т.е. в ситуациях, для которых данная модель является применимой</a:t>
            </a:r>
            <a:r>
              <a:rPr lang="en-US" dirty="0" smtClean="0"/>
              <a:t>, </a:t>
            </a:r>
            <a:r>
              <a:rPr lang="ru-RU" dirty="0" smtClean="0"/>
              <a:t>использование данной модели процесса приведет к достижению цели разработки ПО с высокими показателями К</a:t>
            </a:r>
            <a:r>
              <a:rPr lang="en-US" dirty="0" smtClean="0"/>
              <a:t>&amp;</a:t>
            </a:r>
            <a:r>
              <a:rPr lang="ru-RU" dirty="0" smtClean="0"/>
              <a:t>П</a:t>
            </a:r>
            <a:r>
              <a:rPr lang="en-US" dirty="0" smtClean="0"/>
              <a:t>. </a:t>
            </a:r>
            <a:endParaRPr lang="ru-RU" dirty="0" smtClean="0"/>
          </a:p>
          <a:p>
            <a:r>
              <a:rPr lang="ru-RU" dirty="0" smtClean="0"/>
              <a:t>Модель процесса фактически является объединением лучших практических решений в некоторый «рецепт» успешного выполнения проекта.</a:t>
            </a:r>
          </a:p>
          <a:p>
            <a:r>
              <a:rPr lang="ru-RU" dirty="0" smtClean="0"/>
              <a:t>Процесс часто специфицируется (детально описывается) в виде последовательностей высокоуровневых этапов.</a:t>
            </a:r>
          </a:p>
          <a:p>
            <a:r>
              <a:rPr lang="ru-RU" dirty="0" smtClean="0"/>
              <a:t>В свою очередь каждый из этапов состоит из более мелких шагов и иногда называется </a:t>
            </a:r>
            <a:r>
              <a:rPr lang="ru-RU" dirty="0" err="1" smtClean="0"/>
              <a:t>подпроцессом</a:t>
            </a:r>
            <a:r>
              <a:rPr lang="ru-RU" dirty="0" smtClean="0"/>
              <a:t>.</a:t>
            </a:r>
            <a:endParaRPr lang="en-US" dirty="0" smtClean="0"/>
          </a:p>
          <a:p>
            <a:endParaRPr lang="en-US" sz="1200" kern="1200" baseline="0" dirty="0" smtClean="0">
              <a:solidFill>
                <a:schemeClr val="tx1"/>
              </a:solidFill>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10</a:t>
            </a:fld>
            <a:endParaRPr lang="ru-RU"/>
          </a:p>
        </p:txBody>
      </p:sp>
    </p:spTree>
    <p:extLst>
      <p:ext uri="{BB962C8B-B14F-4D97-AF65-F5344CB8AC3E}">
        <p14:creationId xmlns:p14="http://schemas.microsoft.com/office/powerpoint/2010/main" val="3185440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Т.к. при разработке ПО требуется достижение разных целей, то требуются разные процессы.</a:t>
            </a:r>
          </a:p>
          <a:p>
            <a:r>
              <a:rPr lang="ru-RU" dirty="0" smtClean="0"/>
              <a:t>Многие из них не касаются ТРПО,</a:t>
            </a:r>
            <a:r>
              <a:rPr lang="en-US" dirty="0" smtClean="0"/>
              <a:t> </a:t>
            </a:r>
            <a:r>
              <a:rPr lang="ru-RU" dirty="0" smtClean="0"/>
              <a:t>но влияют на разработку  ПО.</a:t>
            </a:r>
          </a:p>
          <a:p>
            <a:r>
              <a:rPr lang="ru-RU" b="1" dirty="0" smtClean="0"/>
              <a:t>Все процессы можно разделить на две большие группы:</a:t>
            </a:r>
          </a:p>
          <a:p>
            <a:r>
              <a:rPr lang="ru-RU" dirty="0" smtClean="0"/>
              <a:t>Процессы не связанные непосредственно с разработкой ПО</a:t>
            </a:r>
          </a:p>
          <a:p>
            <a:r>
              <a:rPr lang="ru-RU" dirty="0" smtClean="0"/>
              <a:t>Процессы непосредственно связанные с разработкой ПО.</a:t>
            </a:r>
          </a:p>
          <a:p>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pPr>
              <a:buFontTx/>
              <a:buChar char="-"/>
            </a:pPr>
            <a:endParaRPr lang="ru-RU" sz="1200" kern="1200" baseline="0" dirty="0" smtClean="0">
              <a:solidFill>
                <a:schemeClr val="tx1"/>
              </a:solidFill>
              <a:latin typeface="+mn-lt"/>
              <a:ea typeface="+mn-ea"/>
              <a:cs typeface="+mn-cs"/>
            </a:endParaRPr>
          </a:p>
          <a:p>
            <a:pPr>
              <a:buFontTx/>
              <a:buChar char="-"/>
            </a:pPr>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11</a:t>
            </a:fld>
            <a:endParaRPr lang="ru-RU"/>
          </a:p>
        </p:txBody>
      </p:sp>
    </p:spTree>
    <p:extLst>
      <p:ext uri="{BB962C8B-B14F-4D97-AF65-F5344CB8AC3E}">
        <p14:creationId xmlns:p14="http://schemas.microsoft.com/office/powerpoint/2010/main" val="635127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b="1" dirty="0" smtClean="0"/>
              <a:t>Процесс это последовательность выполняемых шагов для достижения цели.</a:t>
            </a:r>
          </a:p>
          <a:p>
            <a:endParaRPr lang="ru-RU" sz="1200" b="1" kern="1200" baseline="0" dirty="0" smtClean="0">
              <a:solidFill>
                <a:schemeClr val="tx1"/>
              </a:solidFill>
              <a:latin typeface="+mn-lt"/>
              <a:ea typeface="+mn-ea"/>
              <a:cs typeface="+mn-cs"/>
            </a:endParaRPr>
          </a:p>
          <a:p>
            <a:r>
              <a:rPr lang="en-US" sz="1200" b="1" kern="1200" baseline="0" dirty="0" smtClean="0">
                <a:solidFill>
                  <a:schemeClr val="tx1"/>
                </a:solidFill>
                <a:latin typeface="+mn-lt"/>
                <a:ea typeface="+mn-ea"/>
                <a:cs typeface="+mn-cs"/>
              </a:rPr>
              <a:t>Component Software Processes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As defined above, a process is the sequence of steps executed to achieve a goal.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Since many different goals may have to be satisfied while developing software, multiple processes are needed.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Many of these do not concern software engineering, though they do impact software development. </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These could be considered </a:t>
            </a:r>
            <a:r>
              <a:rPr lang="en-US" sz="1200" kern="1200" baseline="0" dirty="0" err="1" smtClean="0">
                <a:solidFill>
                  <a:schemeClr val="tx1"/>
                </a:solidFill>
                <a:latin typeface="+mn-lt"/>
                <a:ea typeface="+mn-ea"/>
                <a:cs typeface="+mn-cs"/>
              </a:rPr>
              <a:t>nonsoftware</a:t>
            </a:r>
            <a:r>
              <a:rPr lang="en-US" sz="1200" kern="1200" baseline="0" dirty="0" smtClean="0">
                <a:solidFill>
                  <a:schemeClr val="tx1"/>
                </a:solidFill>
                <a:latin typeface="+mn-lt"/>
                <a:ea typeface="+mn-ea"/>
                <a:cs typeface="+mn-cs"/>
              </a:rPr>
              <a:t> process. </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Examples of </a:t>
            </a:r>
            <a:r>
              <a:rPr lang="en-US" sz="1200" kern="1200" baseline="0" dirty="0" err="1" smtClean="0">
                <a:solidFill>
                  <a:schemeClr val="tx1"/>
                </a:solidFill>
                <a:latin typeface="+mn-lt"/>
                <a:ea typeface="+mn-ea"/>
                <a:cs typeface="+mn-cs"/>
              </a:rPr>
              <a:t>nonsoftware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processes</a:t>
            </a:r>
            <a:r>
              <a:rPr lang="ru-RU" sz="1200" kern="1200" baseline="0" dirty="0" smtClean="0">
                <a:solidFill>
                  <a:schemeClr val="tx1"/>
                </a:solidFill>
                <a:latin typeface="+mn-lt"/>
                <a:ea typeface="+mn-ea"/>
                <a:cs typeface="+mn-cs"/>
              </a:rPr>
              <a:t>:</a:t>
            </a:r>
            <a:r>
              <a:rPr lang="en-US" sz="1200" kern="1200" baseline="0" dirty="0" smtClean="0">
                <a:solidFill>
                  <a:schemeClr val="tx1"/>
                </a:solidFill>
                <a:latin typeface="+mn-lt"/>
                <a:ea typeface="+mn-ea"/>
                <a:cs typeface="+mn-cs"/>
              </a:rPr>
              <a:t> </a:t>
            </a:r>
            <a:endParaRPr lang="ru-RU" sz="120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business processes </a:t>
            </a:r>
            <a:endParaRPr lang="ru-RU" sz="1200" b="1" i="1" kern="1200" baseline="0" dirty="0" smtClean="0">
              <a:solidFill>
                <a:schemeClr val="tx1"/>
              </a:solidFill>
              <a:latin typeface="+mn-lt"/>
              <a:ea typeface="+mn-ea"/>
              <a:cs typeface="+mn-cs"/>
            </a:endParaRPr>
          </a:p>
          <a:p>
            <a:pPr>
              <a:buFont typeface="Arial" pitchFamily="34" charset="0"/>
              <a:buNone/>
            </a:pPr>
            <a:r>
              <a:rPr lang="en-US" sz="1200" b="0" i="0" kern="1200" baseline="0" dirty="0" smtClean="0">
                <a:solidFill>
                  <a:schemeClr val="tx1"/>
                </a:solidFill>
                <a:latin typeface="+mn-lt"/>
                <a:ea typeface="+mn-ea"/>
                <a:cs typeface="+mn-cs"/>
              </a:rPr>
              <a:t>(</a:t>
            </a:r>
            <a:r>
              <a:rPr lang="ru-RU" sz="1200" b="0" i="0" kern="1200" baseline="0" dirty="0" smtClean="0">
                <a:solidFill>
                  <a:schemeClr val="tx1"/>
                </a:solidFill>
                <a:latin typeface="+mn-lt"/>
                <a:ea typeface="+mn-ea"/>
                <a:cs typeface="+mn-cs"/>
              </a:rPr>
              <a:t>бизнес-процессы - поиска заказчиков, ведение переговоров, убеждение в необходимости заключения  договора, оформление договора,  договор о цене, оформление оплаты</a:t>
            </a:r>
            <a:r>
              <a:rPr lang="en-US" sz="1200" b="0" i="0" kern="1200" baseline="0" dirty="0" smtClean="0">
                <a:solidFill>
                  <a:schemeClr val="tx1"/>
                </a:solidFill>
                <a:latin typeface="+mn-lt"/>
                <a:ea typeface="+mn-ea"/>
                <a:cs typeface="+mn-cs"/>
              </a:rPr>
              <a:t>);</a:t>
            </a:r>
            <a:endParaRPr lang="ru-RU" sz="1200" b="0" i="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social processes</a:t>
            </a:r>
            <a:r>
              <a:rPr lang="ru-RU" sz="1200" b="1" i="1" kern="1200" baseline="0" dirty="0" smtClean="0">
                <a:solidFill>
                  <a:schemeClr val="tx1"/>
                </a:solidFill>
                <a:latin typeface="+mn-lt"/>
                <a:ea typeface="+mn-ea"/>
                <a:cs typeface="+mn-cs"/>
              </a:rPr>
              <a:t> </a:t>
            </a:r>
          </a:p>
          <a:p>
            <a:pPr>
              <a:buFont typeface="Arial" pitchFamily="34" charset="0"/>
              <a:buNone/>
            </a:pPr>
            <a:r>
              <a:rPr lang="ru-RU" sz="1200" b="0" i="0" kern="1200" baseline="0" dirty="0" smtClean="0">
                <a:solidFill>
                  <a:schemeClr val="tx1"/>
                </a:solidFill>
                <a:latin typeface="+mn-lt"/>
                <a:ea typeface="+mn-ea"/>
                <a:cs typeface="+mn-cs"/>
              </a:rPr>
              <a:t>(социальные процессы - организация команд, творческая атмосфера, праздничные вечера, коллективные поездки)</a:t>
            </a:r>
            <a:r>
              <a:rPr lang="en-US" sz="1200" b="0" i="0" kern="1200" baseline="0" dirty="0" smtClean="0">
                <a:solidFill>
                  <a:schemeClr val="tx1"/>
                </a:solidFill>
                <a:latin typeface="+mn-lt"/>
                <a:ea typeface="+mn-ea"/>
                <a:cs typeface="+mn-cs"/>
              </a:rPr>
              <a:t>;</a:t>
            </a:r>
            <a:endParaRPr lang="ru-RU" sz="1200" b="0" i="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training processes</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 (процесс обучения – лекции, мастер-классы, участие в конференциях).</a:t>
            </a:r>
          </a:p>
          <a:p>
            <a:r>
              <a:rPr lang="en-US" sz="1200" kern="1200" baseline="0" dirty="0" smtClean="0">
                <a:solidFill>
                  <a:schemeClr val="tx1"/>
                </a:solidFill>
                <a:latin typeface="+mn-lt"/>
                <a:ea typeface="+mn-ea"/>
                <a:cs typeface="+mn-cs"/>
              </a:rPr>
              <a:t> </a:t>
            </a:r>
            <a:endParaRPr lang="ru-RU" sz="1200" kern="1200" baseline="0" dirty="0" smtClean="0">
              <a:solidFill>
                <a:schemeClr val="tx1"/>
              </a:solidFill>
              <a:latin typeface="+mn-lt"/>
              <a:ea typeface="+mn-ea"/>
              <a:cs typeface="+mn-cs"/>
            </a:endParaRPr>
          </a:p>
          <a:p>
            <a:r>
              <a:rPr lang="ru-RU" sz="1200" u="sng" kern="1200" baseline="0" dirty="0" smtClean="0">
                <a:solidFill>
                  <a:schemeClr val="tx1"/>
                </a:solidFill>
                <a:latin typeface="+mn-lt"/>
                <a:ea typeface="+mn-ea"/>
                <a:cs typeface="+mn-cs"/>
              </a:rPr>
              <a:t>Эти процессы также влияют на деятельность по разработке программного обеспечения, но находятся за пределами компетенции программной инженерии.</a:t>
            </a:r>
          </a:p>
          <a:p>
            <a:r>
              <a:rPr lang="ru-RU" sz="1200" b="1" u="sng" kern="1200" baseline="0" dirty="0" smtClean="0">
                <a:solidFill>
                  <a:schemeClr val="tx1"/>
                </a:solidFill>
                <a:latin typeface="+mn-lt"/>
                <a:ea typeface="+mn-ea"/>
                <a:cs typeface="+mn-cs"/>
              </a:rPr>
              <a:t>Процессы, которые имеют дело с техническим вопросам и вопросам управления разработки программного обеспечения все вместе называется процесс разработки программного обеспечения.</a:t>
            </a:r>
          </a:p>
          <a:p>
            <a:pPr>
              <a:buFontTx/>
              <a:buChar char="-"/>
            </a:pPr>
            <a:endParaRPr lang="ru-RU" sz="1200" kern="1200" baseline="0" dirty="0" smtClean="0">
              <a:solidFill>
                <a:schemeClr val="tx1"/>
              </a:solidFill>
              <a:latin typeface="+mn-lt"/>
              <a:ea typeface="+mn-ea"/>
              <a:cs typeface="+mn-cs"/>
            </a:endParaRPr>
          </a:p>
          <a:p>
            <a:pPr>
              <a:buFontTx/>
              <a:buChar char="-"/>
            </a:pPr>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12</a:t>
            </a:fld>
            <a:endParaRPr lang="ru-RU"/>
          </a:p>
        </p:txBody>
      </p:sp>
    </p:spTree>
    <p:extLst>
      <p:ext uri="{BB962C8B-B14F-4D97-AF65-F5344CB8AC3E}">
        <p14:creationId xmlns:p14="http://schemas.microsoft.com/office/powerpoint/2010/main" val="1537964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effectLst/>
              </a:rPr>
              <a:t>Задачи проекта, в отличие от цели должны быть сформулированы очень конкретно. Правильно сформулированная </a:t>
            </a:r>
            <a:r>
              <a:rPr lang="ru-RU" b="1" dirty="0" smtClean="0">
                <a:effectLst/>
              </a:rPr>
              <a:t>задача должна быть конкретной, измеряемой, достижимой, соответствовать общей цели и предполагать конкретные сроки выполнения. </a:t>
            </a:r>
            <a:r>
              <a:rPr lang="ru-RU" dirty="0" smtClean="0">
                <a:effectLst/>
              </a:rPr>
              <a:t> Каждая задача должна предполагать конкретные, легко наблюдаемые и измеряемые результаты.</a:t>
            </a:r>
          </a:p>
          <a:p>
            <a:r>
              <a:rPr lang="ru-RU" dirty="0" smtClean="0">
                <a:effectLst/>
              </a:rPr>
              <a:t>Задачи проекта представляют собой этапы, необходимые для достижения цели. Для того чтобы правильно сформулировать задачи, нужно ответить на следующие вопросы:</a:t>
            </a:r>
          </a:p>
          <a:p>
            <a:r>
              <a:rPr lang="ru-RU" dirty="0" smtClean="0">
                <a:effectLst/>
              </a:rPr>
              <a:t>Что именно вы хотите изменить этим проектом?</a:t>
            </a:r>
          </a:p>
          <a:p>
            <a:r>
              <a:rPr lang="ru-RU" dirty="0" smtClean="0">
                <a:effectLst/>
              </a:rPr>
              <a:t>Какой сегмент населения будет вовлечен в процессе изменения? Укажите не только целевую группу, но и категории населения, с которой она наиболее активно взаимодействует.</a:t>
            </a:r>
          </a:p>
          <a:p>
            <a:r>
              <a:rPr lang="ru-RU" dirty="0" smtClean="0">
                <a:effectLst/>
              </a:rPr>
              <a:t>Каково направление изменения, которое вы желаете осуществить (рост / улучшение, спад / сокращение)?</a:t>
            </a:r>
          </a:p>
          <a:p>
            <a:r>
              <a:rPr lang="ru-RU" dirty="0" smtClean="0">
                <a:effectLst/>
              </a:rPr>
              <a:t>Какова степень или величина изменения?</a:t>
            </a:r>
          </a:p>
          <a:p>
            <a:r>
              <a:rPr lang="ru-RU" dirty="0" smtClean="0">
                <a:effectLst/>
              </a:rPr>
              <a:t>Какой срок (или временной интервал) предусмотрен для выполнения задач?</a:t>
            </a:r>
          </a:p>
          <a:p>
            <a:r>
              <a:rPr lang="ru-RU" dirty="0" smtClean="0">
                <a:effectLst/>
              </a:rPr>
              <a:t>Для того чтобы проверить, правильно ли вы сформулировали задачи, можно применить метод SMART (</a:t>
            </a:r>
            <a:r>
              <a:rPr lang="ru-RU" dirty="0" err="1" smtClean="0">
                <a:effectLst/>
              </a:rPr>
              <a:t>Specific</a:t>
            </a:r>
            <a:r>
              <a:rPr lang="ru-RU" dirty="0" smtClean="0">
                <a:effectLst/>
              </a:rPr>
              <a:t>, </a:t>
            </a:r>
            <a:r>
              <a:rPr lang="ru-RU" dirty="0" err="1" smtClean="0">
                <a:effectLst/>
              </a:rPr>
              <a:t>Measurable</a:t>
            </a:r>
            <a:r>
              <a:rPr lang="ru-RU" dirty="0" smtClean="0">
                <a:effectLst/>
              </a:rPr>
              <a:t>, </a:t>
            </a:r>
            <a:r>
              <a:rPr lang="ru-RU" dirty="0" err="1" smtClean="0">
                <a:effectLst/>
              </a:rPr>
              <a:t>Achievable</a:t>
            </a:r>
            <a:r>
              <a:rPr lang="ru-RU" dirty="0" smtClean="0">
                <a:effectLst/>
              </a:rPr>
              <a:t>, </a:t>
            </a:r>
            <a:r>
              <a:rPr lang="ru-RU" dirty="0" err="1" smtClean="0">
                <a:effectLst/>
              </a:rPr>
              <a:t>Realistic</a:t>
            </a:r>
            <a:r>
              <a:rPr lang="ru-RU" dirty="0" smtClean="0">
                <a:effectLst/>
              </a:rPr>
              <a:t>, </a:t>
            </a:r>
            <a:r>
              <a:rPr lang="ru-RU" dirty="0" err="1" smtClean="0">
                <a:effectLst/>
              </a:rPr>
              <a:t>Time-limited</a:t>
            </a:r>
            <a:r>
              <a:rPr lang="ru-RU" dirty="0" smtClean="0">
                <a:effectLst/>
              </a:rPr>
              <a:t>):</a:t>
            </a:r>
          </a:p>
          <a:p>
            <a:r>
              <a:rPr lang="ru-RU" dirty="0" err="1" smtClean="0">
                <a:effectLst/>
              </a:rPr>
              <a:t>Specific</a:t>
            </a:r>
            <a:r>
              <a:rPr lang="ru-RU" dirty="0" smtClean="0">
                <a:effectLst/>
              </a:rPr>
              <a:t> (Определенными) — т.е. они должны указывать на определенный результат или продукт (кто, что, когда, где, как, для кого. Результат должен быть конкретным, не общим, с указанием временного периода, географической привязки, целевой группы.</a:t>
            </a:r>
          </a:p>
          <a:p>
            <a:r>
              <a:rPr lang="ru-RU" dirty="0" err="1" smtClean="0">
                <a:effectLst/>
              </a:rPr>
              <a:t>Measurable</a:t>
            </a:r>
            <a:r>
              <a:rPr lang="ru-RU" dirty="0" smtClean="0">
                <a:effectLst/>
              </a:rPr>
              <a:t> (Измеряемыми) — т.е. на каждом шагу должно быть ясно, насколько вы продвинулись в решении задачи (задача должна поддаваться измерению, как количественному, так и качественному). Для этих целей необходимо определить индикаторы, на основании которых впоследствии будут делаться выводы об успешности реализации этапов проекта</a:t>
            </a:r>
          </a:p>
          <a:p>
            <a:r>
              <a:rPr lang="ru-RU" dirty="0" err="1" smtClean="0">
                <a:effectLst/>
              </a:rPr>
              <a:t>Achievable</a:t>
            </a:r>
            <a:r>
              <a:rPr lang="ru-RU" dirty="0" smtClean="0">
                <a:effectLst/>
              </a:rPr>
              <a:t> (Достижимыми) — т.е. их решение должно быть в принципе возможно.</a:t>
            </a:r>
          </a:p>
          <a:p>
            <a:r>
              <a:rPr lang="ru-RU" dirty="0" err="1" smtClean="0">
                <a:effectLst/>
              </a:rPr>
              <a:t>Realistic</a:t>
            </a:r>
            <a:r>
              <a:rPr lang="ru-RU" dirty="0" smtClean="0">
                <a:effectLst/>
              </a:rPr>
              <a:t> (Реалистичными) — т.е. их решение одинаково возможно как с точки зрения персонала организации, так и с точки зрения ее целевой аудитории;</a:t>
            </a:r>
          </a:p>
          <a:p>
            <a:r>
              <a:rPr lang="ru-RU" dirty="0" err="1" smtClean="0">
                <a:effectLst/>
              </a:rPr>
              <a:t>Time-limited</a:t>
            </a:r>
            <a:r>
              <a:rPr lang="ru-RU" dirty="0" smtClean="0">
                <a:effectLst/>
              </a:rPr>
              <a:t> (Ограниченными во времени) — т.е. их решение должно происходить в обозримый период времени.</a:t>
            </a: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13</a:t>
            </a:fld>
            <a:endParaRPr lang="ru-RU"/>
          </a:p>
        </p:txBody>
      </p:sp>
    </p:spTree>
    <p:extLst>
      <p:ext uri="{BB962C8B-B14F-4D97-AF65-F5344CB8AC3E}">
        <p14:creationId xmlns:p14="http://schemas.microsoft.com/office/powerpoint/2010/main" val="2498647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SMART (</a:t>
            </a:r>
            <a:r>
              <a:rPr lang="ru-RU" dirty="0" err="1" smtClean="0"/>
              <a:t>Specific</a:t>
            </a:r>
            <a:r>
              <a:rPr lang="ru-RU" dirty="0" smtClean="0"/>
              <a:t>, </a:t>
            </a:r>
            <a:r>
              <a:rPr lang="ru-RU" dirty="0" err="1" smtClean="0"/>
              <a:t>Measurable</a:t>
            </a:r>
            <a:r>
              <a:rPr lang="ru-RU" dirty="0" smtClean="0"/>
              <a:t>, </a:t>
            </a:r>
            <a:r>
              <a:rPr lang="ru-RU" dirty="0" err="1" smtClean="0"/>
              <a:t>Achievable</a:t>
            </a:r>
            <a:r>
              <a:rPr lang="ru-RU" dirty="0" smtClean="0"/>
              <a:t>, </a:t>
            </a:r>
            <a:r>
              <a:rPr lang="ru-RU" dirty="0" err="1" smtClean="0"/>
              <a:t>Realistic</a:t>
            </a:r>
            <a:r>
              <a:rPr lang="ru-RU" dirty="0" smtClean="0"/>
              <a:t>, </a:t>
            </a:r>
            <a:r>
              <a:rPr lang="ru-RU" dirty="0" err="1" smtClean="0"/>
              <a:t>Time-limited</a:t>
            </a:r>
            <a:r>
              <a:rPr lang="ru-RU" dirty="0" smtClean="0"/>
              <a:t>):</a:t>
            </a:r>
          </a:p>
          <a:p>
            <a:r>
              <a:rPr lang="ru-RU" dirty="0" err="1" smtClean="0"/>
              <a:t>Specific</a:t>
            </a:r>
            <a:r>
              <a:rPr lang="ru-RU" dirty="0" smtClean="0"/>
              <a:t> (Определенными) — т.е. они должны указывать на определенный результат или продукт (кто, что, когда, где, как, для кого. Результат должен быть конкретным, не общим, с указанием временного периода, географической привязки, целевой группы.</a:t>
            </a:r>
          </a:p>
          <a:p>
            <a:r>
              <a:rPr lang="ru-RU" dirty="0" err="1" smtClean="0"/>
              <a:t>Measurable</a:t>
            </a:r>
            <a:r>
              <a:rPr lang="ru-RU" dirty="0" smtClean="0"/>
              <a:t> (Измеряемыми) — т.е. на каждом шагу должно быть ясно, насколько вы продвинулись в решении задачи (задача должна поддаваться измерению, как количественному, так и качественному). Для этих целей необходимо определить индикаторы, на основании которых впоследствии будут делаться выводы об успешности реализации этапов проекта</a:t>
            </a:r>
          </a:p>
          <a:p>
            <a:r>
              <a:rPr lang="ru-RU" dirty="0" err="1" smtClean="0"/>
              <a:t>Achievable</a:t>
            </a:r>
            <a:r>
              <a:rPr lang="ru-RU" dirty="0" smtClean="0"/>
              <a:t> (Достижимыми) — т.е. их решение должно быть в принципе возможно.</a:t>
            </a:r>
          </a:p>
          <a:p>
            <a:r>
              <a:rPr lang="ru-RU" dirty="0" err="1" smtClean="0"/>
              <a:t>Realistic</a:t>
            </a:r>
            <a:r>
              <a:rPr lang="ru-RU" dirty="0" smtClean="0"/>
              <a:t> (Реалистичными) — т.е. их решение одинаково возможно как с точки зрения персонала организации, так и с точки зрения ее целевой аудитории;</a:t>
            </a:r>
          </a:p>
          <a:p>
            <a:r>
              <a:rPr lang="ru-RU" dirty="0" err="1" smtClean="0"/>
              <a:t>Time-limited</a:t>
            </a:r>
            <a:r>
              <a:rPr lang="ru-RU" dirty="0" smtClean="0"/>
              <a:t> (Ограниченными во времени) — т.е. их решение должно происходить в обозримый период времени</a:t>
            </a:r>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14</a:t>
            </a:fld>
            <a:endParaRPr lang="ru-RU"/>
          </a:p>
        </p:txBody>
      </p:sp>
    </p:spTree>
    <p:extLst>
      <p:ext uri="{BB962C8B-B14F-4D97-AF65-F5344CB8AC3E}">
        <p14:creationId xmlns:p14="http://schemas.microsoft.com/office/powerpoint/2010/main" val="36390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Процесс это последовательность выполняемых шагов для достижения цели.</a:t>
            </a:r>
          </a:p>
          <a:p>
            <a:endParaRPr lang="ru-RU" sz="1200" b="1" kern="1200" baseline="0" dirty="0" smtClean="0">
              <a:solidFill>
                <a:schemeClr val="tx1"/>
              </a:solidFill>
              <a:latin typeface="+mn-lt"/>
              <a:ea typeface="+mn-ea"/>
              <a:cs typeface="+mn-cs"/>
            </a:endParaRPr>
          </a:p>
          <a:p>
            <a:r>
              <a:rPr lang="en-US" sz="1200" b="1" kern="1200" baseline="0" dirty="0" smtClean="0">
                <a:solidFill>
                  <a:schemeClr val="tx1"/>
                </a:solidFill>
                <a:latin typeface="+mn-lt"/>
                <a:ea typeface="+mn-ea"/>
                <a:cs typeface="+mn-cs"/>
              </a:rPr>
              <a:t>Component Software Processes</a:t>
            </a:r>
          </a:p>
          <a:p>
            <a:r>
              <a:rPr lang="ru-RU" i="1" dirty="0" smtClean="0"/>
              <a:t>Процессы, который непосредственно имеет дело с техническими и управленческими задачами разработки ПО в общем называются </a:t>
            </a:r>
            <a:r>
              <a:rPr lang="ru-RU" b="1" i="1" dirty="0" smtClean="0"/>
              <a:t>программным процессом</a:t>
            </a:r>
            <a:r>
              <a:rPr lang="ru-RU" i="1" dirty="0" smtClean="0"/>
              <a:t> (</a:t>
            </a:r>
            <a:r>
              <a:rPr lang="en-US" b="1" i="1" dirty="0" smtClean="0"/>
              <a:t>software process</a:t>
            </a:r>
            <a:r>
              <a:rPr lang="ru-RU" i="1" dirty="0" smtClean="0"/>
              <a:t>)</a:t>
            </a:r>
            <a:r>
              <a:rPr lang="en-US" dirty="0" smtClean="0"/>
              <a:t>. </a:t>
            </a:r>
            <a:endParaRPr lang="ru-RU" dirty="0" smtClean="0"/>
          </a:p>
          <a:p>
            <a:r>
              <a:rPr lang="ru-RU" dirty="0" smtClean="0"/>
              <a:t>Разработка ПО разделена по проектам – в каждом проекте создается ПО для  конкретного заказчика.</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Examples of </a:t>
            </a:r>
            <a:r>
              <a:rPr lang="en-US" sz="1200" kern="1200" baseline="0" dirty="0" err="1" smtClean="0">
                <a:solidFill>
                  <a:schemeClr val="tx1"/>
                </a:solidFill>
                <a:latin typeface="+mn-lt"/>
                <a:ea typeface="+mn-ea"/>
                <a:cs typeface="+mn-cs"/>
              </a:rPr>
              <a:t>nonsoftware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processes</a:t>
            </a:r>
            <a:r>
              <a:rPr lang="ru-RU" sz="1200" kern="1200" baseline="0" dirty="0" smtClean="0">
                <a:solidFill>
                  <a:schemeClr val="tx1"/>
                </a:solidFill>
                <a:latin typeface="+mn-lt"/>
                <a:ea typeface="+mn-ea"/>
                <a:cs typeface="+mn-cs"/>
              </a:rPr>
              <a:t>:</a:t>
            </a:r>
            <a:r>
              <a:rPr lang="en-US" sz="1200" kern="1200" baseline="0" dirty="0" smtClean="0">
                <a:solidFill>
                  <a:schemeClr val="tx1"/>
                </a:solidFill>
                <a:latin typeface="+mn-lt"/>
                <a:ea typeface="+mn-ea"/>
                <a:cs typeface="+mn-cs"/>
              </a:rPr>
              <a:t> </a:t>
            </a:r>
            <a:endParaRPr lang="ru-RU" sz="120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business processes </a:t>
            </a:r>
            <a:endParaRPr lang="ru-RU" sz="1200" b="1" i="1" kern="1200" baseline="0" dirty="0" smtClean="0">
              <a:solidFill>
                <a:schemeClr val="tx1"/>
              </a:solidFill>
              <a:latin typeface="+mn-lt"/>
              <a:ea typeface="+mn-ea"/>
              <a:cs typeface="+mn-cs"/>
            </a:endParaRPr>
          </a:p>
          <a:p>
            <a:pPr>
              <a:buFont typeface="Arial" pitchFamily="34" charset="0"/>
              <a:buNone/>
            </a:pPr>
            <a:r>
              <a:rPr lang="en-US" sz="1200" b="0" i="0" kern="1200" baseline="0" dirty="0" smtClean="0">
                <a:solidFill>
                  <a:schemeClr val="tx1"/>
                </a:solidFill>
                <a:latin typeface="+mn-lt"/>
                <a:ea typeface="+mn-ea"/>
                <a:cs typeface="+mn-cs"/>
              </a:rPr>
              <a:t>(</a:t>
            </a:r>
            <a:r>
              <a:rPr lang="ru-RU" sz="1200" b="0" i="0" kern="1200" baseline="0" dirty="0" smtClean="0">
                <a:solidFill>
                  <a:schemeClr val="tx1"/>
                </a:solidFill>
                <a:latin typeface="+mn-lt"/>
                <a:ea typeface="+mn-ea"/>
                <a:cs typeface="+mn-cs"/>
              </a:rPr>
              <a:t>бизнес-процессы - поиска заказчиков, ведение переговоров, убеждение в необходимости заключения  договора, оформление договора,  договор о цене, оформление оплаты</a:t>
            </a:r>
            <a:r>
              <a:rPr lang="en-US" sz="1200" b="0" i="0" kern="1200" baseline="0" dirty="0" smtClean="0">
                <a:solidFill>
                  <a:schemeClr val="tx1"/>
                </a:solidFill>
                <a:latin typeface="+mn-lt"/>
                <a:ea typeface="+mn-ea"/>
                <a:cs typeface="+mn-cs"/>
              </a:rPr>
              <a:t>);</a:t>
            </a:r>
            <a:endParaRPr lang="ru-RU" sz="1200" b="0" i="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social processes</a:t>
            </a:r>
            <a:r>
              <a:rPr lang="ru-RU" sz="1200" b="1" i="1" kern="1200" baseline="0" dirty="0" smtClean="0">
                <a:solidFill>
                  <a:schemeClr val="tx1"/>
                </a:solidFill>
                <a:latin typeface="+mn-lt"/>
                <a:ea typeface="+mn-ea"/>
                <a:cs typeface="+mn-cs"/>
              </a:rPr>
              <a:t> </a:t>
            </a:r>
          </a:p>
          <a:p>
            <a:pPr>
              <a:buFont typeface="Arial" pitchFamily="34" charset="0"/>
              <a:buNone/>
            </a:pPr>
            <a:r>
              <a:rPr lang="ru-RU" sz="1200" b="0" i="0" kern="1200" baseline="0" dirty="0" smtClean="0">
                <a:solidFill>
                  <a:schemeClr val="tx1"/>
                </a:solidFill>
                <a:latin typeface="+mn-lt"/>
                <a:ea typeface="+mn-ea"/>
                <a:cs typeface="+mn-cs"/>
              </a:rPr>
              <a:t>(социальные процессы - организация команд, творческая атмосфера, праздничные вечера, коллективные поездки)</a:t>
            </a:r>
            <a:r>
              <a:rPr lang="en-US" sz="1200" b="0" i="0" kern="1200" baseline="0" dirty="0" smtClean="0">
                <a:solidFill>
                  <a:schemeClr val="tx1"/>
                </a:solidFill>
                <a:latin typeface="+mn-lt"/>
                <a:ea typeface="+mn-ea"/>
                <a:cs typeface="+mn-cs"/>
              </a:rPr>
              <a:t>;</a:t>
            </a:r>
            <a:endParaRPr lang="ru-RU" sz="1200" b="0" i="0" kern="1200" baseline="0" dirty="0" smtClean="0">
              <a:solidFill>
                <a:schemeClr val="tx1"/>
              </a:solidFill>
              <a:latin typeface="+mn-lt"/>
              <a:ea typeface="+mn-ea"/>
              <a:cs typeface="+mn-cs"/>
            </a:endParaRPr>
          </a:p>
          <a:p>
            <a:pPr>
              <a:buFont typeface="Arial" pitchFamily="34" charset="0"/>
              <a:buChar char="•"/>
            </a:pPr>
            <a:r>
              <a:rPr lang="en-US" sz="1200" b="1" i="1" kern="1200" baseline="0" dirty="0" smtClean="0">
                <a:solidFill>
                  <a:schemeClr val="tx1"/>
                </a:solidFill>
                <a:latin typeface="+mn-lt"/>
                <a:ea typeface="+mn-ea"/>
                <a:cs typeface="+mn-cs"/>
              </a:rPr>
              <a:t>training processes</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 (процесс обучения – лекции, мастер-классы, участие в конференциях).</a:t>
            </a:r>
          </a:p>
          <a:p>
            <a:r>
              <a:rPr lang="en-US" sz="1200" kern="1200" baseline="0" dirty="0" smtClean="0">
                <a:solidFill>
                  <a:schemeClr val="tx1"/>
                </a:solidFill>
                <a:latin typeface="+mn-lt"/>
                <a:ea typeface="+mn-ea"/>
                <a:cs typeface="+mn-cs"/>
              </a:rPr>
              <a:t> </a:t>
            </a:r>
          </a:p>
          <a:p>
            <a:r>
              <a:rPr lang="en-US" sz="1200" kern="1200" baseline="0" dirty="0" smtClean="0">
                <a:solidFill>
                  <a:schemeClr val="tx1"/>
                </a:solidFill>
                <a:latin typeface="+mn-lt"/>
                <a:ea typeface="+mn-ea"/>
                <a:cs typeface="+mn-cs"/>
              </a:rPr>
              <a:t>These processes also affect the software development activity but are beyond the purview of software engineering.</a:t>
            </a:r>
          </a:p>
          <a:p>
            <a:endParaRPr lang="en-US" sz="1200" kern="1200" baseline="0" dirty="0" smtClean="0">
              <a:solidFill>
                <a:schemeClr val="tx1"/>
              </a:solidFill>
              <a:latin typeface="+mn-lt"/>
              <a:ea typeface="+mn-ea"/>
              <a:cs typeface="+mn-cs"/>
            </a:endParaRPr>
          </a:p>
          <a:p>
            <a:r>
              <a:rPr lang="en-US" sz="1200" b="0" i="1" kern="1200" baseline="0" dirty="0" smtClean="0">
                <a:solidFill>
                  <a:schemeClr val="tx1"/>
                </a:solidFill>
                <a:latin typeface="+mn-lt"/>
                <a:ea typeface="+mn-ea"/>
                <a:cs typeface="+mn-cs"/>
              </a:rPr>
              <a:t>The processes that deal with the technical and management issues of software development are collectively called the </a:t>
            </a:r>
            <a:r>
              <a:rPr lang="en-US" sz="1200" b="1" i="1" kern="1200" baseline="0" dirty="0" smtClean="0">
                <a:solidFill>
                  <a:schemeClr val="tx1"/>
                </a:solidFill>
                <a:latin typeface="+mn-lt"/>
                <a:ea typeface="+mn-ea"/>
                <a:cs typeface="+mn-cs"/>
              </a:rPr>
              <a:t>software process</a:t>
            </a:r>
            <a:r>
              <a:rPr lang="en-US"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pPr>
              <a:buFontTx/>
              <a:buChar char="-"/>
            </a:pPr>
            <a:endParaRPr lang="ru-RU" sz="1200" kern="1200" baseline="0" dirty="0" smtClean="0">
              <a:solidFill>
                <a:schemeClr val="tx1"/>
              </a:solidFill>
              <a:latin typeface="+mn-lt"/>
              <a:ea typeface="+mn-ea"/>
              <a:cs typeface="+mn-cs"/>
            </a:endParaRPr>
          </a:p>
          <a:p>
            <a:pPr>
              <a:buFontTx/>
              <a:buChar char="-"/>
            </a:pPr>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15</a:t>
            </a:fld>
            <a:endParaRPr lang="ru-RU"/>
          </a:p>
        </p:txBody>
      </p:sp>
    </p:spTree>
    <p:extLst>
      <p:ext uri="{BB962C8B-B14F-4D97-AF65-F5344CB8AC3E}">
        <p14:creationId xmlns:p14="http://schemas.microsoft.com/office/powerpoint/2010/main" val="757990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Программный проект (</a:t>
            </a:r>
            <a:r>
              <a:rPr lang="en-US" dirty="0" smtClean="0"/>
              <a:t>software</a:t>
            </a:r>
            <a:r>
              <a:rPr lang="ru-RU" dirty="0" smtClean="0"/>
              <a:t> </a:t>
            </a:r>
            <a:r>
              <a:rPr lang="en-US" dirty="0" smtClean="0"/>
              <a:t>project</a:t>
            </a:r>
            <a:r>
              <a:rPr lang="ru-RU" dirty="0" smtClean="0"/>
              <a:t>) должен </a:t>
            </a:r>
          </a:p>
          <a:p>
            <a:pPr marL="717550" lvl="1" indent="-247650">
              <a:buFont typeface="+mj-lt"/>
              <a:buAutoNum type="arabicPeriod"/>
            </a:pPr>
            <a:r>
              <a:rPr lang="ru-RU" dirty="0" smtClean="0"/>
              <a:t>разрабатывать программное обеспечение</a:t>
            </a:r>
            <a:r>
              <a:rPr lang="en-US" dirty="0" smtClean="0"/>
              <a:t>;</a:t>
            </a:r>
            <a:r>
              <a:rPr lang="ru-RU" dirty="0" smtClean="0"/>
              <a:t> </a:t>
            </a:r>
          </a:p>
          <a:p>
            <a:pPr marL="717550" lvl="1" indent="-247650">
              <a:buFont typeface="+mj-lt"/>
              <a:buAutoNum type="arabicPeriod"/>
            </a:pPr>
            <a:r>
              <a:rPr lang="ru-RU" dirty="0" smtClean="0"/>
              <a:t>выполнять правильное управление данным проектом.</a:t>
            </a:r>
          </a:p>
          <a:p>
            <a:r>
              <a:rPr lang="ru-RU" dirty="0" smtClean="0"/>
              <a:t>В связи с этим в программный процесс состоит из двух основных </a:t>
            </a:r>
            <a:r>
              <a:rPr lang="ru-RU" dirty="0" err="1" smtClean="0"/>
              <a:t>подпроцессов</a:t>
            </a:r>
            <a:r>
              <a:rPr lang="ru-RU" dirty="0" smtClean="0"/>
              <a:t>:</a:t>
            </a:r>
          </a:p>
          <a:p>
            <a:pPr marL="717550" lvl="1" indent="-247650">
              <a:buFont typeface="+mj-lt"/>
              <a:buAutoNum type="arabicPeriod"/>
              <a:tabLst>
                <a:tab pos="622300" algn="l"/>
              </a:tabLst>
            </a:pPr>
            <a:r>
              <a:rPr lang="ru-RU" dirty="0" smtClean="0"/>
              <a:t>процесс разработки – определяет все требуемые виды инженерной деятельности по созданию ПО</a:t>
            </a:r>
            <a:r>
              <a:rPr lang="en-US" dirty="0" smtClean="0"/>
              <a:t>;</a:t>
            </a:r>
            <a:endParaRPr lang="ru-RU" dirty="0" smtClean="0"/>
          </a:p>
          <a:p>
            <a:pPr marL="717550" lvl="1" indent="-247650">
              <a:buFont typeface="+mj-lt"/>
              <a:buAutoNum type="arabicPeriod"/>
              <a:tabLst>
                <a:tab pos="622300" algn="l"/>
              </a:tabLst>
            </a:pPr>
            <a:r>
              <a:rPr lang="ru-RU" dirty="0" smtClean="0"/>
              <a:t>процесс управления проектом – определяет то, как планируются и управляются эти виды деятельности.</a:t>
            </a:r>
          </a:p>
          <a:p>
            <a:pPr marL="317500" indent="-247650">
              <a:tabLst>
                <a:tab pos="622300" algn="l"/>
              </a:tabLst>
            </a:pPr>
            <a:r>
              <a:rPr lang="ru-RU" dirty="0" smtClean="0"/>
              <a:t>Процессы эффективной разработки ПО и управления проектом являются основными факторами достижения цели предоставления желаемого ПО, удовлетворяющего требованиям заказчика, при обеспечении высокой производительности и качества.</a:t>
            </a:r>
          </a:p>
        </p:txBody>
      </p:sp>
      <p:sp>
        <p:nvSpPr>
          <p:cNvPr id="4" name="Номер слайда 3"/>
          <p:cNvSpPr>
            <a:spLocks noGrp="1"/>
          </p:cNvSpPr>
          <p:nvPr>
            <p:ph type="sldNum" sz="quarter" idx="10"/>
          </p:nvPr>
        </p:nvSpPr>
        <p:spPr/>
        <p:txBody>
          <a:bodyPr/>
          <a:lstStyle/>
          <a:p>
            <a:fld id="{0A23FAD2-BB43-4743-ADCC-660877EE51E5}" type="slidenum">
              <a:rPr lang="ru-RU" smtClean="0"/>
              <a:pPr/>
              <a:t>16</a:t>
            </a:fld>
            <a:endParaRPr lang="ru-RU"/>
          </a:p>
        </p:txBody>
      </p:sp>
    </p:spTree>
    <p:extLst>
      <p:ext uri="{BB962C8B-B14F-4D97-AF65-F5344CB8AC3E}">
        <p14:creationId xmlns:p14="http://schemas.microsoft.com/office/powerpoint/2010/main" val="827242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dirty="0" smtClean="0"/>
              <a:t>Взаимосвязь между этими основными процессами компонентов показана на рисунке</a:t>
            </a:r>
            <a:br>
              <a:rPr lang="ru-RU" dirty="0" smtClean="0"/>
            </a:br>
            <a:r>
              <a:rPr lang="ru-RU" dirty="0" smtClean="0"/>
              <a:t>Эти составные процессы различны не только в типе деятельности, осуществляемой в них, но, как правило, и в</a:t>
            </a:r>
            <a:r>
              <a:rPr lang="ru-RU" baseline="0" dirty="0" smtClean="0"/>
              <a:t> исполнителях</a:t>
            </a:r>
            <a:r>
              <a:rPr lang="ru-RU" dirty="0" smtClean="0"/>
              <a:t>, которые выполняют виды деятельности, указанные в процессе.</a:t>
            </a:r>
            <a:br>
              <a:rPr lang="ru-RU" dirty="0" smtClean="0"/>
            </a:br>
            <a:r>
              <a:rPr lang="ru-RU" dirty="0" smtClean="0"/>
              <a:t>В типичном проекте, опытно-конструкторские работы выполняются программистами, дизайнерами, тестеровщиками и т. д .;</a:t>
            </a:r>
            <a:br>
              <a:rPr lang="ru-RU" dirty="0" smtClean="0"/>
            </a:br>
            <a:r>
              <a:rPr lang="ru-RU" dirty="0" smtClean="0"/>
              <a:t>Процесса управления проектом деятельность осуществляется Руководителем проектом;</a:t>
            </a:r>
            <a:br>
              <a:rPr lang="ru-RU" dirty="0" smtClean="0"/>
            </a:br>
            <a:r>
              <a:rPr lang="ru-RU" dirty="0" smtClean="0"/>
              <a:t>Процесс управления конфигурацией действия выполняются группой обычно называют контроллер конфигурации; а также</a:t>
            </a:r>
            <a:br>
              <a:rPr lang="ru-RU" dirty="0" smtClean="0"/>
            </a:br>
            <a:r>
              <a:rPr lang="ru-RU" dirty="0" smtClean="0"/>
              <a:t/>
            </a:r>
            <a:br>
              <a:rPr lang="ru-RU" dirty="0" smtClean="0"/>
            </a:br>
            <a:r>
              <a:rPr lang="ru-RU" dirty="0" smtClean="0"/>
              <a:t>Процесс управления процессом действия выполняются с помощью процесса разработки программного обеспечения группы (SEPG).</a:t>
            </a:r>
          </a:p>
          <a:p>
            <a:r>
              <a:rPr lang="ru-RU" sz="1200" b="1" dirty="0" smtClean="0"/>
              <a:t>SEPG - </a:t>
            </a:r>
            <a:r>
              <a:rPr lang="en-US" sz="1200" b="1" dirty="0" smtClean="0"/>
              <a:t>A Software Engineering Process Group (SEPG) </a:t>
            </a:r>
            <a:r>
              <a:rPr lang="ru-RU" sz="1200" dirty="0" smtClean="0"/>
              <a:t>- является координационным центром организации с деятельности по усовершенствованию процессов программного обеспечения.</a:t>
            </a:r>
          </a:p>
          <a:p>
            <a:r>
              <a:rPr lang="ru-RU" sz="1200" dirty="0" smtClean="0"/>
              <a:t>Эти люди выполняют оценку организационных возможностей, разрабатывают планы по осуществлению необходимых улучшений</a:t>
            </a:r>
            <a:r>
              <a:rPr lang="ru-RU" dirty="0" smtClean="0"/>
              <a:t/>
            </a:r>
            <a:br>
              <a:rPr lang="ru-RU" dirty="0" smtClean="0"/>
            </a:br>
            <a:r>
              <a:rPr lang="ru-RU" dirty="0" smtClean="0"/>
              <a:t/>
            </a:r>
            <a:br>
              <a:rPr lang="ru-RU" dirty="0" smtClean="0"/>
            </a:br>
            <a:r>
              <a:rPr lang="ru-RU" dirty="0" smtClean="0"/>
              <a:t>В нашем курсе мы </a:t>
            </a:r>
            <a:r>
              <a:rPr lang="ru-RU" baseline="0" dirty="0" smtClean="0"/>
              <a:t>с</a:t>
            </a:r>
            <a:r>
              <a:rPr lang="ru-RU" dirty="0" smtClean="0"/>
              <a:t>осредоточимся в первую очередь на </a:t>
            </a:r>
            <a:r>
              <a:rPr lang="ru-RU" b="1" dirty="0" smtClean="0"/>
              <a:t>процессах</a:t>
            </a:r>
            <a:r>
              <a:rPr lang="ru-RU" dirty="0" smtClean="0"/>
              <a:t>, связанные с </a:t>
            </a:r>
            <a:r>
              <a:rPr lang="ru-RU" b="1" dirty="0" smtClean="0"/>
              <a:t>проектированием</a:t>
            </a:r>
            <a:r>
              <a:rPr lang="ru-RU" dirty="0" smtClean="0"/>
              <a:t> ПО, в частности, процессы развития и управления проектами.</a:t>
            </a:r>
            <a:br>
              <a:rPr lang="ru-RU" dirty="0" smtClean="0"/>
            </a:br>
            <a:r>
              <a:rPr lang="ru-RU" dirty="0" smtClean="0"/>
              <a:t>Большая часть книги обсуждаются различные этапы процесса разработки и подпроцессы или методологий, используемых для выполнения этих этапов.</a:t>
            </a:r>
            <a:br>
              <a:rPr lang="ru-RU" dirty="0" smtClean="0"/>
            </a:br>
            <a:r>
              <a:rPr lang="ru-RU" dirty="0" smtClean="0"/>
              <a:t>Для остальной части книги, мы будем использовать термин процесс программного обеспечения означает продукт технологических процессов, если не указано иное.</a:t>
            </a:r>
            <a:endParaRPr lang="ru-RU" sz="1200" kern="1200" baseline="0" dirty="0" smtClean="0">
              <a:solidFill>
                <a:schemeClr val="tx1"/>
              </a:solidFill>
              <a:latin typeface="+mn-lt"/>
              <a:ea typeface="+mn-ea"/>
              <a:cs typeface="+mn-cs"/>
            </a:endParaRPr>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17</a:t>
            </a:fld>
            <a:endParaRPr lang="ru-RU"/>
          </a:p>
        </p:txBody>
      </p:sp>
    </p:spTree>
    <p:extLst>
      <p:ext uri="{BB962C8B-B14F-4D97-AF65-F5344CB8AC3E}">
        <p14:creationId xmlns:p14="http://schemas.microsoft.com/office/powerpoint/2010/main" val="1126174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18</a:t>
            </a:fld>
            <a:endParaRPr lang="ru-RU"/>
          </a:p>
        </p:txBody>
      </p:sp>
    </p:spTree>
    <p:extLst>
      <p:ext uri="{BB962C8B-B14F-4D97-AF65-F5344CB8AC3E}">
        <p14:creationId xmlns:p14="http://schemas.microsoft.com/office/powerpoint/2010/main" val="504469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В проекте разрабатываются много разных компонент (например, конечный исходный код может состоять из большого числа исходных файлов).</a:t>
            </a:r>
          </a:p>
          <a:p>
            <a:r>
              <a:rPr lang="ru-RU" dirty="0" smtClean="0"/>
              <a:t>Эти компоненты развиваются по мере выполнения проекта, создается большое число их версий.</a:t>
            </a:r>
          </a:p>
          <a:p>
            <a:r>
              <a:rPr lang="ru-RU" dirty="0" smtClean="0"/>
              <a:t>Для управления развитием и изменениями часто используется </a:t>
            </a:r>
            <a:r>
              <a:rPr lang="ru-RU" dirty="0" err="1" smtClean="0"/>
              <a:t>подпроцесс</a:t>
            </a:r>
            <a:r>
              <a:rPr lang="ru-RU" dirty="0" smtClean="0"/>
              <a:t> управления конфигурированием ПО.</a:t>
            </a:r>
          </a:p>
          <a:p>
            <a:r>
              <a:rPr lang="ru-RU" dirty="0" smtClean="0"/>
              <a:t>Данный </a:t>
            </a:r>
            <a:r>
              <a:rPr lang="ru-RU" dirty="0" err="1" smtClean="0"/>
              <a:t>подпроцесс</a:t>
            </a:r>
            <a:r>
              <a:rPr lang="ru-RU" dirty="0" smtClean="0"/>
              <a:t> в основном связан с таким управлением изменениями, чтобы при этом не нарушалась целостность программных продуктов.</a:t>
            </a:r>
            <a:endParaRPr lang="en-US" dirty="0" smtClean="0"/>
          </a:p>
          <a:p>
            <a:r>
              <a:rPr lang="ru-RU" dirty="0" smtClean="0"/>
              <a:t/>
            </a:r>
            <a:br>
              <a:rPr lang="ru-RU" dirty="0" smtClean="0"/>
            </a:br>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19</a:t>
            </a:fld>
            <a:endParaRPr lang="ru-RU"/>
          </a:p>
        </p:txBody>
      </p:sp>
    </p:spTree>
    <p:extLst>
      <p:ext uri="{BB962C8B-B14F-4D97-AF65-F5344CB8AC3E}">
        <p14:creationId xmlns:p14="http://schemas.microsoft.com/office/powerpoint/2010/main" val="16677520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Сами программные процессы изменяются, развиваются, чтобы приспособиться к улучшению понимания разработки ПО и доступности новых технологий и инструментов</a:t>
            </a:r>
          </a:p>
          <a:p>
            <a:r>
              <a:rPr lang="ru-RU" dirty="0" smtClean="0"/>
              <a:t>Основная цель процесс управления процессами разработки ПО является улучшение программного процесса.</a:t>
            </a:r>
          </a:p>
          <a:p>
            <a:r>
              <a:rPr lang="ru-RU" dirty="0" smtClean="0"/>
              <a:t>Под улучшением программного процесса понимается их совершенствование для разработки качественных продуктов при низких затратах.</a:t>
            </a:r>
          </a:p>
          <a:p>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20</a:t>
            </a:fld>
            <a:endParaRPr lang="ru-RU"/>
          </a:p>
        </p:txBody>
      </p:sp>
    </p:spTree>
    <p:extLst>
      <p:ext uri="{BB962C8B-B14F-4D97-AF65-F5344CB8AC3E}">
        <p14:creationId xmlns:p14="http://schemas.microsoft.com/office/powerpoint/2010/main" val="2695484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Процесса разработки ПО является базовым процессом и его целью является создание высококачественного программного продукта.</a:t>
            </a: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21</a:t>
            </a:fld>
            <a:endParaRPr lang="ru-RU"/>
          </a:p>
        </p:txBody>
      </p:sp>
    </p:spTree>
    <p:extLst>
      <p:ext uri="{BB962C8B-B14F-4D97-AF65-F5344CB8AC3E}">
        <p14:creationId xmlns:p14="http://schemas.microsoft.com/office/powerpoint/2010/main" val="2913416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sz="1200" b="1" i="0" kern="1200" dirty="0" smtClean="0">
                <a:solidFill>
                  <a:schemeClr val="tx1"/>
                </a:solidFill>
                <a:latin typeface="+mn-lt"/>
                <a:ea typeface="+mn-ea"/>
                <a:cs typeface="+mn-cs"/>
              </a:rPr>
              <a:t>Стадии жизненного цикла ПО, взаимосвязь между процессами и стадиями</a:t>
            </a:r>
          </a:p>
          <a:p>
            <a:endParaRPr lang="ru-RU" sz="1200" b="1" i="1"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Модель жизненного цикла ПО</a:t>
            </a:r>
            <a:r>
              <a:rPr lang="ru-RU" sz="1200" b="0" i="0" kern="1200" dirty="0" smtClean="0">
                <a:solidFill>
                  <a:schemeClr val="tx1"/>
                </a:solidFill>
                <a:latin typeface="+mn-lt"/>
                <a:ea typeface="+mn-ea"/>
                <a:cs typeface="+mn-cs"/>
              </a:rPr>
              <a:t> — структура, определяющая последовательность выполнения и взаимосвязи процессов, действий и задач на протяжении жизненного цикла. </a:t>
            </a:r>
          </a:p>
          <a:p>
            <a:r>
              <a:rPr lang="ru-RU" sz="1200" b="0" i="0" kern="1200" dirty="0" smtClean="0">
                <a:solidFill>
                  <a:schemeClr val="tx1"/>
                </a:solidFill>
                <a:latin typeface="+mn-lt"/>
                <a:ea typeface="+mn-ea"/>
                <a:cs typeface="+mn-cs"/>
              </a:rPr>
              <a:t>Модель жизненного цикла зависит от специфики, масштаба и сложности проекта и специфики условий, в которых система создается и функционирует.</a:t>
            </a:r>
          </a:p>
          <a:p>
            <a:r>
              <a:rPr lang="ru-RU" sz="1200" b="0" i="0" kern="1200" dirty="0" smtClean="0">
                <a:solidFill>
                  <a:schemeClr val="tx1"/>
                </a:solidFill>
                <a:latin typeface="+mn-lt"/>
                <a:ea typeface="+mn-ea"/>
                <a:cs typeface="+mn-cs"/>
              </a:rPr>
              <a:t>Стандарт ГОСТ Р ИСО/МЭК 12207-99 не предлагает конкретную модель жизненного цикла. Его положения являются общими для любых моделей жизненного цикла, методов и технологий создания ИС. Он описывает структуру процессов жизненного цикла, не конкретизируя, как реализовать или выполнить действия и задачи, включенные в эти процессы.</a:t>
            </a:r>
          </a:p>
          <a:p>
            <a:r>
              <a:rPr lang="ru-RU" sz="1200" b="0" i="0" kern="1200" dirty="0" smtClean="0">
                <a:solidFill>
                  <a:schemeClr val="tx1"/>
                </a:solidFill>
                <a:latin typeface="+mn-lt"/>
                <a:ea typeface="+mn-ea"/>
                <a:cs typeface="+mn-cs"/>
              </a:rPr>
              <a:t>Модель ЖЦ ПО включает в себя:</a:t>
            </a:r>
          </a:p>
          <a:p>
            <a:pPr marL="228600" indent="-228600">
              <a:buFont typeface="+mj-lt"/>
              <a:buAutoNum type="arabicPeriod"/>
            </a:pPr>
            <a:r>
              <a:rPr lang="ru-RU" sz="1200" b="0" i="0" kern="1200" dirty="0" smtClean="0">
                <a:solidFill>
                  <a:schemeClr val="tx1"/>
                </a:solidFill>
                <a:latin typeface="+mn-lt"/>
                <a:ea typeface="+mn-ea"/>
                <a:cs typeface="+mn-cs"/>
              </a:rPr>
              <a:t>Стадии;</a:t>
            </a:r>
          </a:p>
          <a:p>
            <a:pPr marL="228600" indent="-228600">
              <a:buFont typeface="+mj-lt"/>
              <a:buAutoNum type="arabicPeriod"/>
            </a:pPr>
            <a:r>
              <a:rPr lang="ru-RU" sz="1200" b="0" i="0" kern="1200" dirty="0" smtClean="0">
                <a:solidFill>
                  <a:schemeClr val="tx1"/>
                </a:solidFill>
                <a:latin typeface="+mn-lt"/>
                <a:ea typeface="+mn-ea"/>
                <a:cs typeface="+mn-cs"/>
              </a:rPr>
              <a:t>Результаты выполнения работ на каждой стадии;</a:t>
            </a:r>
          </a:p>
          <a:p>
            <a:pPr marL="228600" indent="-228600">
              <a:buFont typeface="+mj-lt"/>
              <a:buAutoNum type="arabicPeriod"/>
            </a:pPr>
            <a:r>
              <a:rPr lang="ru-RU" sz="1200" b="0" i="0" kern="1200" dirty="0" smtClean="0">
                <a:solidFill>
                  <a:schemeClr val="tx1"/>
                </a:solidFill>
                <a:latin typeface="+mn-lt"/>
                <a:ea typeface="+mn-ea"/>
                <a:cs typeface="+mn-cs"/>
              </a:rPr>
              <a:t>Ключевые события — точки завершения работ и принятия решений.</a:t>
            </a:r>
          </a:p>
          <a:p>
            <a:r>
              <a:rPr lang="ru-RU" sz="1200" b="1" i="0" u="none" strike="noStrike" kern="1200" dirty="0" smtClean="0">
                <a:solidFill>
                  <a:schemeClr val="tx1"/>
                </a:solidFill>
                <a:latin typeface="+mn-lt"/>
                <a:ea typeface="+mn-ea"/>
                <a:cs typeface="+mn-cs"/>
                <a:hlinkClick r:id="rId3" tooltip="Этап"/>
              </a:rPr>
              <a:t>Стадия</a:t>
            </a:r>
            <a:r>
              <a:rPr lang="ru-RU" sz="1200" b="0" i="0" kern="1200" dirty="0" smtClean="0">
                <a:solidFill>
                  <a:schemeClr val="tx1"/>
                </a:solidFill>
                <a:latin typeface="+mn-lt"/>
                <a:ea typeface="+mn-ea"/>
                <a:cs typeface="+mn-cs"/>
              </a:rPr>
              <a:t> — часть процесса создания ПО, ограниченная определенными временными рамками и заканчивающаяся выпуском конкретного продукта (моделей, программных компонентов, документации), определяемого заданными для данной стадии требованиями.</a:t>
            </a:r>
          </a:p>
          <a:p>
            <a:r>
              <a:rPr lang="ru-RU" sz="1200" b="0" i="0" kern="1200" dirty="0" smtClean="0">
                <a:solidFill>
                  <a:schemeClr val="tx1"/>
                </a:solidFill>
                <a:latin typeface="+mn-lt"/>
                <a:ea typeface="+mn-ea"/>
                <a:cs typeface="+mn-cs"/>
              </a:rPr>
              <a:t>На каждой стадии могут выполняться несколько процессов, определенных в стандарте ГОСТ Р ИСО/МЭК 12207-99, и наоборот, один и тот же процесс может выполняться на различных стадиях. Соотношение между процессами и стадиями также определяется используемой моделью жизненного цикла ПО.</a:t>
            </a: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22</a:t>
            </a:fld>
            <a:endParaRPr lang="ru-RU"/>
          </a:p>
        </p:txBody>
      </p:sp>
    </p:spTree>
    <p:extLst>
      <p:ext uri="{BB962C8B-B14F-4D97-AF65-F5344CB8AC3E}">
        <p14:creationId xmlns:p14="http://schemas.microsoft.com/office/powerpoint/2010/main" val="2096523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25000" lnSpcReduction="20000"/>
          </a:bodyPr>
          <a:lstStyle/>
          <a:p>
            <a:pPr marL="228600" indent="-228600">
              <a:buFont typeface="+mj-lt"/>
              <a:buNone/>
            </a:pPr>
            <a:r>
              <a:rPr lang="ru-RU" sz="1200" b="1" i="0" kern="1200" dirty="0" smtClean="0">
                <a:solidFill>
                  <a:schemeClr val="tx1"/>
                </a:solidFill>
                <a:latin typeface="+mn-lt"/>
                <a:ea typeface="+mn-ea"/>
                <a:cs typeface="+mn-cs"/>
              </a:rPr>
              <a:t>Жизненный цикл программного обеспечения</a:t>
            </a:r>
            <a:r>
              <a:rPr lang="ru-RU" sz="1200" b="0" i="0" kern="1200" dirty="0" smtClean="0">
                <a:solidFill>
                  <a:schemeClr val="tx1"/>
                </a:solidFill>
                <a:latin typeface="+mn-lt"/>
                <a:ea typeface="+mn-ea"/>
                <a:cs typeface="+mn-cs"/>
              </a:rPr>
              <a:t> (ПО) — период времени, который начинается с момента принятия решения о необходимости создания программного продукта и заканчивается в момент его полного изъятия из эксплуатации. Этот цикл — процесс построения и развития ПО.</a:t>
            </a:r>
          </a:p>
          <a:p>
            <a:endParaRPr lang="ru-RU" sz="1200" b="0" i="0" kern="120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Стандарты жизненного цикла ПО</a:t>
            </a:r>
          </a:p>
          <a:p>
            <a:pPr>
              <a:buFont typeface="Arial" pitchFamily="34" charset="0"/>
              <a:buChar char="•"/>
            </a:pPr>
            <a:r>
              <a:rPr lang="ru-RU" sz="1200" b="0" i="0" kern="1200" dirty="0" smtClean="0">
                <a:solidFill>
                  <a:schemeClr val="tx1"/>
                </a:solidFill>
                <a:latin typeface="+mn-lt"/>
                <a:ea typeface="+mn-ea"/>
                <a:cs typeface="+mn-cs"/>
              </a:rPr>
              <a:t>ГОСТ 34.601-90</a:t>
            </a:r>
          </a:p>
          <a:p>
            <a:pPr>
              <a:buFont typeface="Arial" pitchFamily="34" charset="0"/>
              <a:buChar char="•"/>
            </a:pPr>
            <a:r>
              <a:rPr lang="ru-RU" sz="1200" b="0" i="0" kern="1200" dirty="0" smtClean="0">
                <a:solidFill>
                  <a:schemeClr val="tx1"/>
                </a:solidFill>
                <a:latin typeface="+mn-lt"/>
                <a:ea typeface="+mn-ea"/>
                <a:cs typeface="+mn-cs"/>
              </a:rPr>
              <a:t>ISO/IEC 12207:1995 (российский аналог — ГОСТ Р ИСО/МЭК 12207-99)</a:t>
            </a:r>
          </a:p>
          <a:p>
            <a:pPr>
              <a:buFont typeface="Arial" pitchFamily="34" charset="0"/>
              <a:buChar char="•"/>
            </a:pPr>
            <a:r>
              <a:rPr lang="ru-RU" sz="1200" b="0" i="0" kern="1200" dirty="0" smtClean="0">
                <a:solidFill>
                  <a:schemeClr val="tx1"/>
                </a:solidFill>
                <a:latin typeface="+mn-lt"/>
                <a:ea typeface="+mn-ea"/>
                <a:cs typeface="+mn-cs"/>
              </a:rPr>
              <a:t>Стандарт ГОСТ 34.601-90</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Стандарт </a:t>
            </a:r>
            <a:r>
              <a:rPr lang="ru-RU" sz="1200" b="1" i="1" u="none" strike="noStrike" kern="1200" dirty="0" smtClean="0">
                <a:solidFill>
                  <a:schemeClr val="tx1"/>
                </a:solidFill>
                <a:latin typeface="+mn-lt"/>
                <a:ea typeface="+mn-ea"/>
                <a:cs typeface="+mn-cs"/>
                <a:hlinkClick r:id="rId3" tooltip="ГОСТ"/>
              </a:rPr>
              <a:t>ГОСТ</a:t>
            </a:r>
            <a:r>
              <a:rPr lang="ru-RU" sz="1200" b="1" i="1" kern="1200" dirty="0" smtClean="0">
                <a:solidFill>
                  <a:schemeClr val="tx1"/>
                </a:solidFill>
                <a:latin typeface="+mn-lt"/>
                <a:ea typeface="+mn-ea"/>
                <a:cs typeface="+mn-cs"/>
              </a:rPr>
              <a:t> 34.601-90</a:t>
            </a:r>
            <a:r>
              <a:rPr lang="ru-RU" sz="1200" b="0" i="0" kern="1200" dirty="0" smtClean="0">
                <a:solidFill>
                  <a:schemeClr val="tx1"/>
                </a:solidFill>
                <a:latin typeface="+mn-lt"/>
                <a:ea typeface="+mn-ea"/>
                <a:cs typeface="+mn-cs"/>
              </a:rPr>
              <a:t> предусматривает следующие стадии и этапы создания автоматизированной системы (АС):</a:t>
            </a:r>
          </a:p>
          <a:p>
            <a:pPr marL="228600" indent="-228600">
              <a:buFont typeface="+mj-lt"/>
              <a:buAutoNum type="arabicPeriod"/>
            </a:pPr>
            <a:r>
              <a:rPr lang="ru-RU" sz="1200" b="0" i="0" kern="1200" dirty="0" smtClean="0">
                <a:solidFill>
                  <a:schemeClr val="tx1"/>
                </a:solidFill>
                <a:latin typeface="+mn-lt"/>
                <a:ea typeface="+mn-ea"/>
                <a:cs typeface="+mn-cs"/>
              </a:rPr>
              <a:t>Формирование требований к АС</a:t>
            </a:r>
          </a:p>
          <a:p>
            <a:pPr lvl="1"/>
            <a:r>
              <a:rPr lang="ru-RU" sz="1200" b="0" i="0" kern="1200" dirty="0" smtClean="0">
                <a:solidFill>
                  <a:schemeClr val="tx1"/>
                </a:solidFill>
                <a:latin typeface="+mn-lt"/>
                <a:ea typeface="+mn-ea"/>
                <a:cs typeface="+mn-cs"/>
              </a:rPr>
              <a:t>Обследование объекта и обоснование необходимости создания АС</a:t>
            </a:r>
          </a:p>
          <a:p>
            <a:pPr lvl="1"/>
            <a:r>
              <a:rPr lang="ru-RU" sz="1200" b="0" i="0" kern="1200" dirty="0" smtClean="0">
                <a:solidFill>
                  <a:schemeClr val="tx1"/>
                </a:solidFill>
                <a:latin typeface="+mn-lt"/>
                <a:ea typeface="+mn-ea"/>
                <a:cs typeface="+mn-cs"/>
              </a:rPr>
              <a:t>Формирование требований пользователя к АС</a:t>
            </a:r>
          </a:p>
          <a:p>
            <a:pPr lvl="1"/>
            <a:r>
              <a:rPr lang="ru-RU" sz="1200" b="0" i="0" kern="1200" dirty="0" smtClean="0">
                <a:solidFill>
                  <a:schemeClr val="tx1"/>
                </a:solidFill>
                <a:latin typeface="+mn-lt"/>
                <a:ea typeface="+mn-ea"/>
                <a:cs typeface="+mn-cs"/>
              </a:rPr>
              <a:t>Оформление отчета о выполнении работ и заявки на разработку АС</a:t>
            </a:r>
          </a:p>
          <a:p>
            <a:pPr marL="228600" indent="-228600">
              <a:buFont typeface="+mj-lt"/>
              <a:buAutoNum type="arabicPeriod"/>
            </a:pPr>
            <a:r>
              <a:rPr lang="ru-RU" sz="1200" b="0" i="0" kern="1200" dirty="0" smtClean="0">
                <a:solidFill>
                  <a:schemeClr val="tx1"/>
                </a:solidFill>
                <a:latin typeface="+mn-lt"/>
                <a:ea typeface="+mn-ea"/>
                <a:cs typeface="+mn-cs"/>
              </a:rPr>
              <a:t>Разработка концепции АС</a:t>
            </a:r>
          </a:p>
          <a:p>
            <a:pPr lvl="1"/>
            <a:r>
              <a:rPr lang="ru-RU" sz="1200" b="0" i="0" kern="1200" dirty="0" smtClean="0">
                <a:solidFill>
                  <a:schemeClr val="tx1"/>
                </a:solidFill>
                <a:latin typeface="+mn-lt"/>
                <a:ea typeface="+mn-ea"/>
                <a:cs typeface="+mn-cs"/>
              </a:rPr>
              <a:t>Изучение объекта</a:t>
            </a:r>
          </a:p>
          <a:p>
            <a:pPr lvl="1"/>
            <a:r>
              <a:rPr lang="ru-RU" sz="1200" b="0" i="0" kern="1200" dirty="0" smtClean="0">
                <a:solidFill>
                  <a:schemeClr val="tx1"/>
                </a:solidFill>
                <a:latin typeface="+mn-lt"/>
                <a:ea typeface="+mn-ea"/>
                <a:cs typeface="+mn-cs"/>
              </a:rPr>
              <a:t>Проведение необходимых научно-исследовательских работ</a:t>
            </a:r>
          </a:p>
          <a:p>
            <a:pPr lvl="1"/>
            <a:r>
              <a:rPr lang="ru-RU" sz="1200" b="0" i="0" kern="1200" dirty="0" smtClean="0">
                <a:solidFill>
                  <a:schemeClr val="tx1"/>
                </a:solidFill>
                <a:latin typeface="+mn-lt"/>
                <a:ea typeface="+mn-ea"/>
                <a:cs typeface="+mn-cs"/>
              </a:rPr>
              <a:t>Разработка вариантов концепции АС и выбор варианта концепции АС, удовлетворяющего требованиям пользователей</a:t>
            </a:r>
          </a:p>
          <a:p>
            <a:pPr lvl="1"/>
            <a:r>
              <a:rPr lang="ru-RU" sz="1200" b="0" i="0" kern="1200" dirty="0" smtClean="0">
                <a:solidFill>
                  <a:schemeClr val="tx1"/>
                </a:solidFill>
                <a:latin typeface="+mn-lt"/>
                <a:ea typeface="+mn-ea"/>
                <a:cs typeface="+mn-cs"/>
              </a:rPr>
              <a:t>Оформление отчета о проделанной работе</a:t>
            </a:r>
          </a:p>
          <a:p>
            <a:pPr marL="228600" indent="-228600">
              <a:buFont typeface="+mj-lt"/>
              <a:buAutoNum type="arabicPeriod"/>
            </a:pPr>
            <a:r>
              <a:rPr lang="ru-RU" sz="1200" b="0" i="0" kern="1200" dirty="0" smtClean="0">
                <a:solidFill>
                  <a:schemeClr val="tx1"/>
                </a:solidFill>
                <a:latin typeface="+mn-lt"/>
                <a:ea typeface="+mn-ea"/>
                <a:cs typeface="+mn-cs"/>
              </a:rPr>
              <a:t>Техническое задание</a:t>
            </a:r>
          </a:p>
          <a:p>
            <a:pPr lvl="1"/>
            <a:r>
              <a:rPr lang="ru-RU" sz="1200" b="0" i="0" kern="1200" dirty="0" smtClean="0">
                <a:solidFill>
                  <a:schemeClr val="tx1"/>
                </a:solidFill>
                <a:latin typeface="+mn-lt"/>
                <a:ea typeface="+mn-ea"/>
                <a:cs typeface="+mn-cs"/>
              </a:rPr>
              <a:t>Разработка и утверждение технического задания на создание АС</a:t>
            </a:r>
          </a:p>
          <a:p>
            <a:pPr marL="228600" indent="-228600">
              <a:buFont typeface="+mj-lt"/>
              <a:buAutoNum type="arabicPeriod"/>
            </a:pPr>
            <a:r>
              <a:rPr lang="ru-RU" sz="1200" b="0" i="0" kern="1200" dirty="0" smtClean="0">
                <a:solidFill>
                  <a:schemeClr val="tx1"/>
                </a:solidFill>
                <a:latin typeface="+mn-lt"/>
                <a:ea typeface="+mn-ea"/>
                <a:cs typeface="+mn-cs"/>
              </a:rPr>
              <a:t>Эскизный проект</a:t>
            </a:r>
          </a:p>
          <a:p>
            <a:pPr lvl="1"/>
            <a:r>
              <a:rPr lang="ru-RU" sz="1200" b="0" i="0" kern="1200" dirty="0" smtClean="0">
                <a:solidFill>
                  <a:schemeClr val="tx1"/>
                </a:solidFill>
                <a:latin typeface="+mn-lt"/>
                <a:ea typeface="+mn-ea"/>
                <a:cs typeface="+mn-cs"/>
              </a:rPr>
              <a:t>Разработка предварительных проектных решений по системе и ее частям</a:t>
            </a:r>
          </a:p>
          <a:p>
            <a:pPr lvl="1"/>
            <a:r>
              <a:rPr lang="ru-RU" sz="1200" b="0" i="0" kern="1200" dirty="0" smtClean="0">
                <a:solidFill>
                  <a:schemeClr val="tx1"/>
                </a:solidFill>
                <a:latin typeface="+mn-lt"/>
                <a:ea typeface="+mn-ea"/>
                <a:cs typeface="+mn-cs"/>
              </a:rPr>
              <a:t>Разработка документации на АС и ее части</a:t>
            </a:r>
          </a:p>
          <a:p>
            <a:pPr marL="228600" indent="-228600">
              <a:buFont typeface="+mj-lt"/>
              <a:buAutoNum type="arabicPeriod"/>
            </a:pPr>
            <a:r>
              <a:rPr lang="ru-RU" sz="1200" b="0" i="0" kern="1200" dirty="0" smtClean="0">
                <a:solidFill>
                  <a:schemeClr val="tx1"/>
                </a:solidFill>
                <a:latin typeface="+mn-lt"/>
                <a:ea typeface="+mn-ea"/>
                <a:cs typeface="+mn-cs"/>
              </a:rPr>
              <a:t>Технический проект</a:t>
            </a:r>
          </a:p>
          <a:p>
            <a:pPr lvl="1"/>
            <a:r>
              <a:rPr lang="ru-RU" sz="1200" b="0" i="0" kern="1200" dirty="0" smtClean="0">
                <a:solidFill>
                  <a:schemeClr val="tx1"/>
                </a:solidFill>
                <a:latin typeface="+mn-lt"/>
                <a:ea typeface="+mn-ea"/>
                <a:cs typeface="+mn-cs"/>
              </a:rPr>
              <a:t>Разработка проектных решений по системе и ее частям</a:t>
            </a:r>
          </a:p>
          <a:p>
            <a:pPr lvl="1"/>
            <a:r>
              <a:rPr lang="ru-RU" sz="1200" b="0" i="0" kern="1200" dirty="0" smtClean="0">
                <a:solidFill>
                  <a:schemeClr val="tx1"/>
                </a:solidFill>
                <a:latin typeface="+mn-lt"/>
                <a:ea typeface="+mn-ea"/>
                <a:cs typeface="+mn-cs"/>
              </a:rPr>
              <a:t>Разработка документации на АС и ее части</a:t>
            </a:r>
          </a:p>
          <a:p>
            <a:pPr lvl="1"/>
            <a:r>
              <a:rPr lang="ru-RU" sz="1200" b="0" i="0" kern="1200" dirty="0" smtClean="0">
                <a:solidFill>
                  <a:schemeClr val="tx1"/>
                </a:solidFill>
                <a:latin typeface="+mn-lt"/>
                <a:ea typeface="+mn-ea"/>
                <a:cs typeface="+mn-cs"/>
              </a:rPr>
              <a:t>Разработка и оформление документации на поставку комплектующих изделий</a:t>
            </a:r>
          </a:p>
          <a:p>
            <a:pPr lvl="1"/>
            <a:r>
              <a:rPr lang="ru-RU" sz="1200" b="0" i="0" kern="1200" dirty="0" smtClean="0">
                <a:solidFill>
                  <a:schemeClr val="tx1"/>
                </a:solidFill>
                <a:latin typeface="+mn-lt"/>
                <a:ea typeface="+mn-ea"/>
                <a:cs typeface="+mn-cs"/>
              </a:rPr>
              <a:t>Разработка заданий на проектирование в смежных частях проекта</a:t>
            </a:r>
          </a:p>
          <a:p>
            <a:pPr marL="228600" indent="-228600">
              <a:buFont typeface="+mj-lt"/>
              <a:buAutoNum type="arabicPeriod"/>
            </a:pPr>
            <a:r>
              <a:rPr lang="ru-RU" sz="1200" b="0" i="0" kern="1200" dirty="0" smtClean="0">
                <a:solidFill>
                  <a:schemeClr val="tx1"/>
                </a:solidFill>
                <a:latin typeface="+mn-lt"/>
                <a:ea typeface="+mn-ea"/>
                <a:cs typeface="+mn-cs"/>
              </a:rPr>
              <a:t>Рабочая документация</a:t>
            </a:r>
          </a:p>
          <a:p>
            <a:pPr lvl="1"/>
            <a:r>
              <a:rPr lang="ru-RU" sz="1200" b="0" i="0" kern="1200" dirty="0" smtClean="0">
                <a:solidFill>
                  <a:schemeClr val="tx1"/>
                </a:solidFill>
                <a:latin typeface="+mn-lt"/>
                <a:ea typeface="+mn-ea"/>
                <a:cs typeface="+mn-cs"/>
              </a:rPr>
              <a:t>Разработка рабочей документации на АС и ее части</a:t>
            </a:r>
          </a:p>
          <a:p>
            <a:pPr lvl="1"/>
            <a:r>
              <a:rPr lang="ru-RU" sz="1200" b="0" i="0" kern="1200" dirty="0" smtClean="0">
                <a:solidFill>
                  <a:schemeClr val="tx1"/>
                </a:solidFill>
                <a:latin typeface="+mn-lt"/>
                <a:ea typeface="+mn-ea"/>
                <a:cs typeface="+mn-cs"/>
              </a:rPr>
              <a:t>Разработка и адаптация программ</a:t>
            </a:r>
          </a:p>
          <a:p>
            <a:pPr marL="228600" indent="-228600">
              <a:buFont typeface="+mj-lt"/>
              <a:buAutoNum type="arabicPeriod"/>
            </a:pPr>
            <a:r>
              <a:rPr lang="ru-RU" sz="1200" b="0" i="0" kern="1200" dirty="0" smtClean="0">
                <a:solidFill>
                  <a:schemeClr val="tx1"/>
                </a:solidFill>
                <a:latin typeface="+mn-lt"/>
                <a:ea typeface="+mn-ea"/>
                <a:cs typeface="+mn-cs"/>
              </a:rPr>
              <a:t>Ввод в действие</a:t>
            </a:r>
          </a:p>
          <a:p>
            <a:pPr lvl="1"/>
            <a:r>
              <a:rPr lang="ru-RU" sz="1200" b="0" i="0" kern="1200" dirty="0" smtClean="0">
                <a:solidFill>
                  <a:schemeClr val="tx1"/>
                </a:solidFill>
                <a:latin typeface="+mn-lt"/>
                <a:ea typeface="+mn-ea"/>
                <a:cs typeface="+mn-cs"/>
              </a:rPr>
              <a:t>Подготовка объекта автоматизации</a:t>
            </a:r>
          </a:p>
          <a:p>
            <a:pPr lvl="1"/>
            <a:r>
              <a:rPr lang="ru-RU" sz="1200" b="0" i="0" kern="1200" dirty="0" smtClean="0">
                <a:solidFill>
                  <a:schemeClr val="tx1"/>
                </a:solidFill>
                <a:latin typeface="+mn-lt"/>
                <a:ea typeface="+mn-ea"/>
                <a:cs typeface="+mn-cs"/>
              </a:rPr>
              <a:t>Подготовка персонала</a:t>
            </a:r>
          </a:p>
          <a:p>
            <a:pPr lvl="1"/>
            <a:r>
              <a:rPr lang="ru-RU" sz="1200" b="0" i="0" kern="1200" dirty="0" smtClean="0">
                <a:solidFill>
                  <a:schemeClr val="tx1"/>
                </a:solidFill>
                <a:latin typeface="+mn-lt"/>
                <a:ea typeface="+mn-ea"/>
                <a:cs typeface="+mn-cs"/>
              </a:rPr>
              <a:t>Комплектация АС поставляемыми изделиями (программными и техническими средствами, программно-техническими комплексами, информационными изделиями)</a:t>
            </a:r>
          </a:p>
          <a:p>
            <a:pPr lvl="1"/>
            <a:r>
              <a:rPr lang="ru-RU" sz="1200" b="0" i="0" kern="1200" dirty="0" smtClean="0">
                <a:solidFill>
                  <a:schemeClr val="tx1"/>
                </a:solidFill>
                <a:latin typeface="+mn-lt"/>
                <a:ea typeface="+mn-ea"/>
                <a:cs typeface="+mn-cs"/>
              </a:rPr>
              <a:t>Строительно-монтажные работы</a:t>
            </a:r>
          </a:p>
          <a:p>
            <a:pPr lvl="1"/>
            <a:r>
              <a:rPr lang="ru-RU" sz="1200" b="0" i="0" kern="1200" dirty="0" smtClean="0">
                <a:solidFill>
                  <a:schemeClr val="tx1"/>
                </a:solidFill>
                <a:latin typeface="+mn-lt"/>
                <a:ea typeface="+mn-ea"/>
                <a:cs typeface="+mn-cs"/>
              </a:rPr>
              <a:t>Пусконаладочные работы</a:t>
            </a:r>
          </a:p>
          <a:p>
            <a:pPr lvl="1"/>
            <a:r>
              <a:rPr lang="ru-RU" sz="1200" b="0" i="0" kern="1200" dirty="0" smtClean="0">
                <a:solidFill>
                  <a:schemeClr val="tx1"/>
                </a:solidFill>
                <a:latin typeface="+mn-lt"/>
                <a:ea typeface="+mn-ea"/>
                <a:cs typeface="+mn-cs"/>
              </a:rPr>
              <a:t>Проведение предварительных испытаний</a:t>
            </a:r>
          </a:p>
          <a:p>
            <a:pPr lvl="1"/>
            <a:r>
              <a:rPr lang="ru-RU" sz="1200" b="0" i="0" kern="1200" dirty="0" smtClean="0">
                <a:solidFill>
                  <a:schemeClr val="tx1"/>
                </a:solidFill>
                <a:latin typeface="+mn-lt"/>
                <a:ea typeface="+mn-ea"/>
                <a:cs typeface="+mn-cs"/>
              </a:rPr>
              <a:t>Проведение опытной эксплуатации</a:t>
            </a:r>
          </a:p>
          <a:p>
            <a:pPr lvl="1"/>
            <a:r>
              <a:rPr lang="ru-RU" sz="1200" b="0" i="0" kern="1200" dirty="0" smtClean="0">
                <a:solidFill>
                  <a:schemeClr val="tx1"/>
                </a:solidFill>
                <a:latin typeface="+mn-lt"/>
                <a:ea typeface="+mn-ea"/>
                <a:cs typeface="+mn-cs"/>
              </a:rPr>
              <a:t>Проведение приемочных испытаний</a:t>
            </a:r>
          </a:p>
          <a:p>
            <a:pPr marL="228600" indent="-228600">
              <a:buFont typeface="+mj-lt"/>
              <a:buAutoNum type="arabicPeriod"/>
            </a:pPr>
            <a:r>
              <a:rPr lang="ru-RU" sz="1200" b="0" i="0" kern="1200" dirty="0" smtClean="0">
                <a:solidFill>
                  <a:schemeClr val="tx1"/>
                </a:solidFill>
                <a:latin typeface="+mn-lt"/>
                <a:ea typeface="+mn-ea"/>
                <a:cs typeface="+mn-cs"/>
              </a:rPr>
              <a:t>Сопровождение АС.</a:t>
            </a:r>
          </a:p>
          <a:p>
            <a:pPr lvl="1"/>
            <a:r>
              <a:rPr lang="ru-RU" sz="1200" b="0" i="0" kern="1200" dirty="0" smtClean="0">
                <a:solidFill>
                  <a:schemeClr val="tx1"/>
                </a:solidFill>
                <a:latin typeface="+mn-lt"/>
                <a:ea typeface="+mn-ea"/>
                <a:cs typeface="+mn-cs"/>
              </a:rPr>
              <a:t>Выполнение работ в соответствии с гарантийными обязательствами</a:t>
            </a:r>
          </a:p>
          <a:p>
            <a:pPr lvl="1"/>
            <a:r>
              <a:rPr lang="ru-RU" sz="1200" b="0" i="0" kern="1200" dirty="0" smtClean="0">
                <a:solidFill>
                  <a:schemeClr val="tx1"/>
                </a:solidFill>
                <a:latin typeface="+mn-lt"/>
                <a:ea typeface="+mn-ea"/>
                <a:cs typeface="+mn-cs"/>
              </a:rPr>
              <a:t>Послегарантийное обслуживание</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Эскизный, технический проекты и рабочая документация — это последовательное построение все более точных проектных решений. Допускается исключать стадию «Эскизный проект» и отдельные этапы работ на всех стадиях, объединять стадии «Технический проект» и «Рабочая документация» в «</a:t>
            </a:r>
            <a:r>
              <a:rPr lang="ru-RU" sz="1200" b="0" i="0" kern="1200" dirty="0" err="1" smtClean="0">
                <a:solidFill>
                  <a:schemeClr val="tx1"/>
                </a:solidFill>
                <a:latin typeface="+mn-lt"/>
                <a:ea typeface="+mn-ea"/>
                <a:cs typeface="+mn-cs"/>
              </a:rPr>
              <a:t>Технорабочий</a:t>
            </a:r>
            <a:r>
              <a:rPr lang="ru-RU" sz="1200" b="0" i="0" kern="1200" dirty="0" smtClean="0">
                <a:solidFill>
                  <a:schemeClr val="tx1"/>
                </a:solidFill>
                <a:latin typeface="+mn-lt"/>
                <a:ea typeface="+mn-ea"/>
                <a:cs typeface="+mn-cs"/>
              </a:rPr>
              <a:t> проект», параллельно выполнять различные этапы и работы, включать дополнительные.</a:t>
            </a:r>
          </a:p>
          <a:p>
            <a:r>
              <a:rPr lang="ru-RU" sz="1200" b="0" i="0" kern="1200" dirty="0" smtClean="0">
                <a:solidFill>
                  <a:schemeClr val="tx1"/>
                </a:solidFill>
                <a:latin typeface="+mn-lt"/>
                <a:ea typeface="+mn-ea"/>
                <a:cs typeface="+mn-cs"/>
              </a:rPr>
              <a:t>Данный стандарт не вполне подходит для проведения разработок в настоящее время: многие процессы отражены недостаточно, а некоторые положения устарели.</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Стандарт ISO/IEC 12207/ и его применение</a:t>
            </a:r>
          </a:p>
          <a:p>
            <a:r>
              <a:rPr lang="ru-RU" sz="1200" b="0" i="0" kern="1200" dirty="0" smtClean="0">
                <a:solidFill>
                  <a:schemeClr val="tx1"/>
                </a:solidFill>
                <a:latin typeface="+mn-lt"/>
                <a:ea typeface="+mn-ea"/>
                <a:cs typeface="+mn-cs"/>
              </a:rPr>
              <a:t>Стандарт ISO/IEC 12207:1995 «</a:t>
            </a:r>
            <a:r>
              <a:rPr lang="ru-RU" sz="1200" b="0" i="0" kern="1200" dirty="0" err="1" smtClean="0">
                <a:solidFill>
                  <a:schemeClr val="tx1"/>
                </a:solidFill>
                <a:latin typeface="+mn-lt"/>
                <a:ea typeface="+mn-ea"/>
                <a:cs typeface="+mn-cs"/>
              </a:rPr>
              <a:t>Information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Technology</a:t>
            </a:r>
            <a:r>
              <a:rPr lang="ru-RU" sz="1200" b="0" i="0" kern="1200" dirty="0" smtClean="0">
                <a:solidFill>
                  <a:schemeClr val="tx1"/>
                </a:solidFill>
                <a:latin typeface="+mn-lt"/>
                <a:ea typeface="+mn-ea"/>
                <a:cs typeface="+mn-cs"/>
              </a:rPr>
              <a:t> — </a:t>
            </a:r>
            <a:r>
              <a:rPr lang="ru-RU" sz="1200" b="0" i="0" kern="1200" dirty="0" err="1" smtClean="0">
                <a:solidFill>
                  <a:schemeClr val="tx1"/>
                </a:solidFill>
                <a:latin typeface="+mn-lt"/>
                <a:ea typeface="+mn-ea"/>
                <a:cs typeface="+mn-cs"/>
              </a:rPr>
              <a:t>Software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Life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Cycle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Processes</a:t>
            </a:r>
            <a:r>
              <a:rPr lang="ru-RU" sz="1200" b="0" i="0" kern="1200" dirty="0" smtClean="0">
                <a:solidFill>
                  <a:schemeClr val="tx1"/>
                </a:solidFill>
                <a:latin typeface="+mn-lt"/>
                <a:ea typeface="+mn-ea"/>
                <a:cs typeface="+mn-cs"/>
              </a:rPr>
              <a:t>» является основным нормативным документом, регламентирующим состав процессов жизненного цикла ПО. Он определяет структуру жизненного цикла, содержащую </a:t>
            </a:r>
            <a:r>
              <a:rPr lang="ru-RU" sz="1200" b="0" i="0" u="none" strike="noStrike" kern="1200" dirty="0" smtClean="0">
                <a:solidFill>
                  <a:schemeClr val="tx1"/>
                </a:solidFill>
                <a:latin typeface="+mn-lt"/>
                <a:ea typeface="+mn-ea"/>
                <a:cs typeface="+mn-cs"/>
                <a:hlinkClick r:id="rId4" tooltip="Процесс"/>
              </a:rPr>
              <a:t>процессы</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5" tooltip="Деятельность"/>
              </a:rPr>
              <a:t>действия</a:t>
            </a:r>
            <a:r>
              <a:rPr lang="ru-RU" sz="1200" b="0" i="0" kern="1200" dirty="0" smtClean="0">
                <a:solidFill>
                  <a:schemeClr val="tx1"/>
                </a:solidFill>
                <a:latin typeface="+mn-lt"/>
                <a:ea typeface="+mn-ea"/>
                <a:cs typeface="+mn-cs"/>
              </a:rPr>
              <a:t> и </a:t>
            </a:r>
            <a:r>
              <a:rPr lang="ru-RU" sz="1200" b="0" i="0" u="none" strike="noStrike" kern="1200" dirty="0" smtClean="0">
                <a:solidFill>
                  <a:schemeClr val="tx1"/>
                </a:solidFill>
                <a:latin typeface="+mn-lt"/>
                <a:ea typeface="+mn-ea"/>
                <a:cs typeface="+mn-cs"/>
                <a:hlinkClick r:id="rId6" tooltip="Задача"/>
              </a:rPr>
              <a:t>задачи</a:t>
            </a:r>
            <a:r>
              <a:rPr lang="ru-RU" sz="1200" b="0" i="0" kern="1200" dirty="0" smtClean="0">
                <a:solidFill>
                  <a:schemeClr val="tx1"/>
                </a:solidFill>
                <a:latin typeface="+mn-lt"/>
                <a:ea typeface="+mn-ea"/>
                <a:cs typeface="+mn-cs"/>
              </a:rPr>
              <a:t>, которые должны быть выполнены во время создания ПО.</a:t>
            </a:r>
          </a:p>
          <a:p>
            <a:r>
              <a:rPr lang="ru-RU" sz="1200" b="0" i="0" kern="1200" dirty="0" smtClean="0">
                <a:solidFill>
                  <a:schemeClr val="tx1"/>
                </a:solidFill>
                <a:latin typeface="+mn-lt"/>
                <a:ea typeface="+mn-ea"/>
                <a:cs typeface="+mn-cs"/>
              </a:rPr>
              <a:t>Каждый процесс разделен на набор действий, каждое действие — на набор задач. Каждый процесс, действие или задача инициируется и выполняется другим процессом по мере необходимости, причем не существует заранее определенных последовательностей выполнения. Связи по входным данным при этом сохраняются.</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Процессы жизненного цикла ПО</a:t>
            </a:r>
          </a:p>
          <a:p>
            <a:pPr>
              <a:buFont typeface="Arial" pitchFamily="34" charset="0"/>
              <a:buChar char="•"/>
            </a:pPr>
            <a:r>
              <a:rPr lang="ru-RU" sz="1200" b="0" i="0" kern="1200" dirty="0" smtClean="0">
                <a:solidFill>
                  <a:schemeClr val="tx1"/>
                </a:solidFill>
                <a:latin typeface="+mn-lt"/>
                <a:ea typeface="+mn-ea"/>
                <a:cs typeface="+mn-cs"/>
              </a:rPr>
              <a:t> Основные:</a:t>
            </a:r>
          </a:p>
          <a:p>
            <a:pPr marL="685800" lvl="1" indent="-228600">
              <a:buFont typeface="+mj-lt"/>
              <a:buAutoNum type="arabicPeriod"/>
            </a:pPr>
            <a:r>
              <a:rPr lang="ru-RU" sz="1200" b="0" i="0" kern="1200" dirty="0" smtClean="0">
                <a:solidFill>
                  <a:schemeClr val="tx1"/>
                </a:solidFill>
                <a:latin typeface="+mn-lt"/>
                <a:ea typeface="+mn-ea"/>
                <a:cs typeface="+mn-cs"/>
              </a:rPr>
              <a:t>Приобретение (действия и задачи заказчика, приобретающего ПО)</a:t>
            </a:r>
          </a:p>
          <a:p>
            <a:pPr marL="685800" lvl="1" indent="-228600">
              <a:buFont typeface="+mj-lt"/>
              <a:buAutoNum type="arabicPeriod"/>
            </a:pPr>
            <a:r>
              <a:rPr lang="ru-RU" sz="1200" b="0" i="0" kern="1200" dirty="0" smtClean="0">
                <a:solidFill>
                  <a:schemeClr val="tx1"/>
                </a:solidFill>
                <a:latin typeface="+mn-lt"/>
                <a:ea typeface="+mn-ea"/>
                <a:cs typeface="+mn-cs"/>
              </a:rPr>
              <a:t>Поставка (действия и задачи поставщика, который снабжает заказчика программным продуктом или услугой)</a:t>
            </a:r>
          </a:p>
          <a:p>
            <a:pPr marL="685800" lvl="1" indent="-228600">
              <a:buFont typeface="+mj-lt"/>
              <a:buAutoNum type="arabicPeriod"/>
            </a:pPr>
            <a:r>
              <a:rPr lang="ru-RU" sz="1200" b="0" i="0" kern="1200" dirty="0" smtClean="0">
                <a:solidFill>
                  <a:schemeClr val="tx1"/>
                </a:solidFill>
                <a:latin typeface="+mn-lt"/>
                <a:ea typeface="+mn-ea"/>
                <a:cs typeface="+mn-cs"/>
              </a:rPr>
              <a:t>Разработка (действия и задачи, выполняемые разработчиком: создание ПО, оформление проектной и эксплуатационной документации, подготовка тестовых и учебных материалов и т. д.)</a:t>
            </a:r>
          </a:p>
          <a:p>
            <a:pPr marL="685800" lvl="1" indent="-228600">
              <a:buFont typeface="+mj-lt"/>
              <a:buAutoNum type="arabicPeriod"/>
            </a:pPr>
            <a:r>
              <a:rPr lang="ru-RU" sz="1200" b="0" i="0" kern="1200" dirty="0" smtClean="0">
                <a:solidFill>
                  <a:schemeClr val="tx1"/>
                </a:solidFill>
                <a:latin typeface="+mn-lt"/>
                <a:ea typeface="+mn-ea"/>
                <a:cs typeface="+mn-cs"/>
              </a:rPr>
              <a:t>Эксплуатация (действия и задачи оператора — организации, эксплуатирующей систему)</a:t>
            </a:r>
          </a:p>
          <a:p>
            <a:pPr marL="685800" lvl="1" indent="-228600">
              <a:buFont typeface="+mj-lt"/>
              <a:buAutoNum type="arabicPeriod"/>
            </a:pPr>
            <a:r>
              <a:rPr lang="ru-RU" sz="1200" b="0" i="0" kern="1200" dirty="0" smtClean="0">
                <a:solidFill>
                  <a:schemeClr val="tx1"/>
                </a:solidFill>
                <a:latin typeface="+mn-lt"/>
                <a:ea typeface="+mn-ea"/>
                <a:cs typeface="+mn-cs"/>
              </a:rPr>
              <a:t>Сопровождение (действия и задачи, выполняемые сопровождающей организацией, то есть службой сопровождения). Сопровождение — внесений изменений в ПО в целях исправления ошибок, повышения производительности или адаптации к изменившимся условиям работы или требованиям.</a:t>
            </a:r>
          </a:p>
          <a:p>
            <a:pPr>
              <a:buFont typeface="Arial" pitchFamily="34" charset="0"/>
              <a:buChar char="•"/>
            </a:pPr>
            <a:r>
              <a:rPr lang="ru-RU" sz="1200" b="0" i="0" kern="1200" dirty="0" smtClean="0">
                <a:solidFill>
                  <a:schemeClr val="tx1"/>
                </a:solidFill>
                <a:latin typeface="+mn-lt"/>
                <a:ea typeface="+mn-ea"/>
                <a:cs typeface="+mn-cs"/>
              </a:rPr>
              <a:t> Вспомогательные</a:t>
            </a:r>
          </a:p>
          <a:p>
            <a:pPr marL="685800" lvl="1" indent="-228600">
              <a:buFont typeface="+mj-lt"/>
              <a:buAutoNum type="arabicPeriod"/>
            </a:pPr>
            <a:r>
              <a:rPr lang="ru-RU" sz="1200" b="0" i="0" kern="1200" dirty="0" smtClean="0">
                <a:solidFill>
                  <a:schemeClr val="tx1"/>
                </a:solidFill>
                <a:latin typeface="+mn-lt"/>
                <a:ea typeface="+mn-ea"/>
                <a:cs typeface="+mn-cs"/>
              </a:rPr>
              <a:t>Документирование (формализованное описание информации, созданной в течение ЖЦ ПО)</a:t>
            </a:r>
          </a:p>
          <a:p>
            <a:pPr marL="685800" lvl="1" indent="-228600">
              <a:buFont typeface="+mj-lt"/>
              <a:buAutoNum type="arabicPeriod"/>
            </a:pPr>
            <a:r>
              <a:rPr lang="ru-RU" sz="1200" b="0" i="0" kern="1200" dirty="0" smtClean="0">
                <a:solidFill>
                  <a:schemeClr val="tx1"/>
                </a:solidFill>
                <a:latin typeface="+mn-lt"/>
                <a:ea typeface="+mn-ea"/>
                <a:cs typeface="+mn-cs"/>
              </a:rPr>
              <a:t>Управление конфигурацией (применение административных и технических процедур на всем протяжении ЖЦ ПО для определения состояния компонентов ПО, управления его модификациями).</a:t>
            </a:r>
          </a:p>
          <a:p>
            <a:pPr marL="685800" lvl="1" indent="-228600">
              <a:buFont typeface="+mj-lt"/>
              <a:buAutoNum type="arabicPeriod"/>
            </a:pPr>
            <a:r>
              <a:rPr lang="ru-RU" sz="1200" b="0" i="0" kern="1200" dirty="0" smtClean="0">
                <a:solidFill>
                  <a:schemeClr val="tx1"/>
                </a:solidFill>
                <a:latin typeface="+mn-lt"/>
                <a:ea typeface="+mn-ea"/>
                <a:cs typeface="+mn-cs"/>
              </a:rPr>
              <a:t>Обеспечение качества (обеспечение гарантий того, что ИС и процессы ее ЖЦ соответствуют заданным требованиям и утвержденным планам)</a:t>
            </a:r>
          </a:p>
          <a:p>
            <a:pPr marL="685800" lvl="1" indent="-228600">
              <a:buFont typeface="+mj-lt"/>
              <a:buAutoNum type="arabicPeriod"/>
            </a:pPr>
            <a:r>
              <a:rPr lang="ru-RU" sz="1200" b="0" i="0" kern="1200" dirty="0" smtClean="0">
                <a:solidFill>
                  <a:schemeClr val="tx1"/>
                </a:solidFill>
                <a:latin typeface="+mn-lt"/>
                <a:ea typeface="+mn-ea"/>
                <a:cs typeface="+mn-cs"/>
              </a:rPr>
              <a:t>Верификация (определение того, что программные продукты, являющиеся результатами некоторого действия, полностью удовлетворяют требованиям или условиям, обусловленным предшествующими действиями)</a:t>
            </a:r>
          </a:p>
          <a:p>
            <a:pPr marL="685800" lvl="1" indent="-228600">
              <a:buFont typeface="+mj-lt"/>
              <a:buAutoNum type="arabicPeriod"/>
            </a:pPr>
            <a:r>
              <a:rPr lang="ru-RU" sz="1200" b="0" i="0" kern="1200" dirty="0" smtClean="0">
                <a:solidFill>
                  <a:schemeClr val="tx1"/>
                </a:solidFill>
                <a:latin typeface="+mn-lt"/>
                <a:ea typeface="+mn-ea"/>
                <a:cs typeface="+mn-cs"/>
              </a:rPr>
              <a:t>Аттестация (определение полноты соответствия заданных требований и созданной системы их конкретному функциональному назначению)</a:t>
            </a:r>
          </a:p>
          <a:p>
            <a:pPr marL="685800" lvl="1" indent="-228600">
              <a:buFont typeface="+mj-lt"/>
              <a:buAutoNum type="arabicPeriod"/>
            </a:pPr>
            <a:r>
              <a:rPr lang="ru-RU" sz="1200" b="0" i="0" kern="1200" dirty="0" smtClean="0">
                <a:solidFill>
                  <a:schemeClr val="tx1"/>
                </a:solidFill>
                <a:latin typeface="+mn-lt"/>
                <a:ea typeface="+mn-ea"/>
                <a:cs typeface="+mn-cs"/>
              </a:rPr>
              <a:t>Совместная оценка (</a:t>
            </a:r>
            <a:r>
              <a:rPr lang="ru-RU" sz="1200" b="0" i="0" kern="1200" dirty="0" err="1" smtClean="0">
                <a:solidFill>
                  <a:schemeClr val="tx1"/>
                </a:solidFill>
                <a:latin typeface="+mn-lt"/>
                <a:ea typeface="+mn-ea"/>
                <a:cs typeface="+mn-cs"/>
              </a:rPr>
              <a:t>оценка</a:t>
            </a:r>
            <a:r>
              <a:rPr lang="ru-RU" sz="1200" b="0" i="0" kern="1200" dirty="0" smtClean="0">
                <a:solidFill>
                  <a:schemeClr val="tx1"/>
                </a:solidFill>
                <a:latin typeface="+mn-lt"/>
                <a:ea typeface="+mn-ea"/>
                <a:cs typeface="+mn-cs"/>
              </a:rPr>
              <a:t> состояния работ по проекту: контроль планирования и управления ресурсами, персоналом, аппаратурой, инструментальными средствами)</a:t>
            </a:r>
          </a:p>
          <a:p>
            <a:pPr marL="685800" lvl="1" indent="-228600">
              <a:buFont typeface="+mj-lt"/>
              <a:buAutoNum type="arabicPeriod"/>
            </a:pPr>
            <a:r>
              <a:rPr lang="ru-RU" sz="1200" b="0" i="0" kern="1200" dirty="0" smtClean="0">
                <a:solidFill>
                  <a:schemeClr val="tx1"/>
                </a:solidFill>
                <a:latin typeface="+mn-lt"/>
                <a:ea typeface="+mn-ea"/>
                <a:cs typeface="+mn-cs"/>
              </a:rPr>
              <a:t>Аудит (определение соответствия требованиям, планам и условиям договора)</a:t>
            </a:r>
          </a:p>
          <a:p>
            <a:pPr marL="685800" lvl="1" indent="-228600">
              <a:buFont typeface="+mj-lt"/>
              <a:buAutoNum type="arabicPeriod"/>
            </a:pPr>
            <a:r>
              <a:rPr lang="ru-RU" sz="1200" b="0" i="0" kern="1200" dirty="0" smtClean="0">
                <a:solidFill>
                  <a:schemeClr val="tx1"/>
                </a:solidFill>
                <a:latin typeface="+mn-lt"/>
                <a:ea typeface="+mn-ea"/>
                <a:cs typeface="+mn-cs"/>
              </a:rPr>
              <a:t>Разрешение проблем (анализ и решение проблем, независимо от их происхождения или источника, которые обнаружены в ходе разработки, эксплуатации, сопровождения или других процессов)</a:t>
            </a:r>
          </a:p>
          <a:p>
            <a:pPr>
              <a:buFont typeface="Arial" pitchFamily="34" charset="0"/>
              <a:buChar char="•"/>
            </a:pPr>
            <a:r>
              <a:rPr lang="ru-RU" sz="1200" b="0" i="0" kern="1200" dirty="0" smtClean="0">
                <a:solidFill>
                  <a:schemeClr val="tx1"/>
                </a:solidFill>
                <a:latin typeface="+mn-lt"/>
                <a:ea typeface="+mn-ea"/>
                <a:cs typeface="+mn-cs"/>
              </a:rPr>
              <a:t> Организационные</a:t>
            </a:r>
          </a:p>
          <a:p>
            <a:pPr lvl="1">
              <a:buFont typeface="Arial" pitchFamily="34" charset="0"/>
              <a:buChar char="•"/>
            </a:pPr>
            <a:r>
              <a:rPr lang="ru-RU" sz="1200" b="0" i="0" kern="1200" dirty="0" smtClean="0">
                <a:solidFill>
                  <a:schemeClr val="tx1"/>
                </a:solidFill>
                <a:latin typeface="+mn-lt"/>
                <a:ea typeface="+mn-ea"/>
                <a:cs typeface="+mn-cs"/>
              </a:rPr>
              <a:t>Управление (действия и задачи, которые могут выполняться любой стороной, управляющей своими процессами)</a:t>
            </a:r>
          </a:p>
          <a:p>
            <a:pPr lvl="1">
              <a:buFont typeface="Arial" pitchFamily="34" charset="0"/>
              <a:buChar char="•"/>
            </a:pPr>
            <a:r>
              <a:rPr lang="ru-RU" sz="1200" b="0" i="0" kern="1200" dirty="0" smtClean="0">
                <a:solidFill>
                  <a:schemeClr val="tx1"/>
                </a:solidFill>
                <a:latin typeface="+mn-lt"/>
                <a:ea typeface="+mn-ea"/>
                <a:cs typeface="+mn-cs"/>
              </a:rPr>
              <a:t>Создание инфраструктуры (выбор и сопровождение технологии, стандартов и инструментальных средств, выбор и установка аппаратных и программных средств, используемых для разработки, эксплуатации или сопровождения ПО)</a:t>
            </a:r>
          </a:p>
          <a:p>
            <a:pPr lvl="1">
              <a:buFont typeface="Arial" pitchFamily="34" charset="0"/>
              <a:buChar char="•"/>
            </a:pPr>
            <a:r>
              <a:rPr lang="ru-RU" sz="1200" b="0" i="0" kern="1200" dirty="0" smtClean="0">
                <a:solidFill>
                  <a:schemeClr val="tx1"/>
                </a:solidFill>
                <a:latin typeface="+mn-lt"/>
                <a:ea typeface="+mn-ea"/>
                <a:cs typeface="+mn-cs"/>
              </a:rPr>
              <a:t>Усовершенствование (оценка, измерение, контроль и усовершенствование процессов ЖЦ)</a:t>
            </a:r>
          </a:p>
          <a:p>
            <a:pPr lvl="1">
              <a:buFont typeface="Arial" pitchFamily="34" charset="0"/>
              <a:buChar char="•"/>
            </a:pPr>
            <a:r>
              <a:rPr lang="ru-RU" sz="1200" b="0" i="0" kern="1200" dirty="0" smtClean="0">
                <a:solidFill>
                  <a:schemeClr val="tx1"/>
                </a:solidFill>
                <a:latin typeface="+mn-lt"/>
                <a:ea typeface="+mn-ea"/>
                <a:cs typeface="+mn-cs"/>
              </a:rPr>
              <a:t>Обучение (первоначальное обучение и последующее постоянное повышение квалификации персонала)</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Каждый процесс включает ряд действий. Например, процесс приобретения охватывает следующие действия:</a:t>
            </a:r>
          </a:p>
          <a:p>
            <a:pPr marL="228600" indent="-228600">
              <a:buFont typeface="+mj-lt"/>
              <a:buAutoNum type="arabicPeriod"/>
            </a:pPr>
            <a:r>
              <a:rPr lang="ru-RU" sz="1200" b="0" i="0" kern="1200" dirty="0" smtClean="0">
                <a:solidFill>
                  <a:schemeClr val="tx1"/>
                </a:solidFill>
                <a:latin typeface="+mn-lt"/>
                <a:ea typeface="+mn-ea"/>
                <a:cs typeface="+mn-cs"/>
              </a:rPr>
              <a:t>Инициирование приобретения</a:t>
            </a:r>
          </a:p>
          <a:p>
            <a:pPr marL="228600" indent="-228600">
              <a:buFont typeface="+mj-lt"/>
              <a:buAutoNum type="arabicPeriod"/>
            </a:pPr>
            <a:r>
              <a:rPr lang="ru-RU" sz="1200" b="0" i="0" kern="1200" dirty="0" smtClean="0">
                <a:solidFill>
                  <a:schemeClr val="tx1"/>
                </a:solidFill>
                <a:latin typeface="+mn-lt"/>
                <a:ea typeface="+mn-ea"/>
                <a:cs typeface="+mn-cs"/>
              </a:rPr>
              <a:t>Подготовка заявочных предложений</a:t>
            </a:r>
          </a:p>
          <a:p>
            <a:pPr marL="228600" indent="-228600">
              <a:buFont typeface="+mj-lt"/>
              <a:buAutoNum type="arabicPeriod"/>
            </a:pPr>
            <a:r>
              <a:rPr lang="ru-RU" sz="1200" b="0" i="0" kern="1200" dirty="0" smtClean="0">
                <a:solidFill>
                  <a:schemeClr val="tx1"/>
                </a:solidFill>
                <a:latin typeface="+mn-lt"/>
                <a:ea typeface="+mn-ea"/>
                <a:cs typeface="+mn-cs"/>
              </a:rPr>
              <a:t>Подготовка и корректировка договора</a:t>
            </a:r>
          </a:p>
          <a:p>
            <a:pPr marL="228600" indent="-228600">
              <a:buFont typeface="+mj-lt"/>
              <a:buAutoNum type="arabicPeriod"/>
            </a:pPr>
            <a:r>
              <a:rPr lang="ru-RU" sz="1200" b="0" i="0" kern="1200" dirty="0" smtClean="0">
                <a:solidFill>
                  <a:schemeClr val="tx1"/>
                </a:solidFill>
                <a:latin typeface="+mn-lt"/>
                <a:ea typeface="+mn-ea"/>
                <a:cs typeface="+mn-cs"/>
              </a:rPr>
              <a:t>Надзор за деятельностью поставщика</a:t>
            </a:r>
          </a:p>
          <a:p>
            <a:pPr marL="228600" indent="-228600">
              <a:buFont typeface="+mj-lt"/>
              <a:buAutoNum type="arabicPeriod"/>
            </a:pPr>
            <a:r>
              <a:rPr lang="ru-RU" sz="1200" b="0" i="0" kern="1200" dirty="0" smtClean="0">
                <a:solidFill>
                  <a:schemeClr val="tx1"/>
                </a:solidFill>
                <a:latin typeface="+mn-lt"/>
                <a:ea typeface="+mn-ea"/>
                <a:cs typeface="+mn-cs"/>
              </a:rPr>
              <a:t>Приемка и завершение работ</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Каждое действие включает ряд задач. Например, подготовка заявочных предложений должна предусматривать:</a:t>
            </a:r>
          </a:p>
          <a:p>
            <a:pPr marL="228600" indent="-228600">
              <a:buFont typeface="+mj-lt"/>
              <a:buAutoNum type="arabicPeriod"/>
            </a:pPr>
            <a:r>
              <a:rPr lang="ru-RU" sz="1200" b="0" i="0" kern="1200" dirty="0" smtClean="0">
                <a:solidFill>
                  <a:schemeClr val="tx1"/>
                </a:solidFill>
                <a:latin typeface="+mn-lt"/>
                <a:ea typeface="+mn-ea"/>
                <a:cs typeface="+mn-cs"/>
              </a:rPr>
              <a:t>Формирование требований к системе</a:t>
            </a:r>
          </a:p>
          <a:p>
            <a:pPr marL="228600" indent="-228600">
              <a:buFont typeface="+mj-lt"/>
              <a:buAutoNum type="arabicPeriod"/>
            </a:pPr>
            <a:r>
              <a:rPr lang="ru-RU" sz="1200" b="0" i="0" kern="1200" dirty="0" smtClean="0">
                <a:solidFill>
                  <a:schemeClr val="tx1"/>
                </a:solidFill>
                <a:latin typeface="+mn-lt"/>
                <a:ea typeface="+mn-ea"/>
                <a:cs typeface="+mn-cs"/>
              </a:rPr>
              <a:t>Формирование списка программных продуктов</a:t>
            </a:r>
          </a:p>
          <a:p>
            <a:pPr marL="228600" indent="-228600">
              <a:buFont typeface="+mj-lt"/>
              <a:buAutoNum type="arabicPeriod"/>
            </a:pPr>
            <a:r>
              <a:rPr lang="ru-RU" sz="1200" b="0" i="0" kern="1200" dirty="0" smtClean="0">
                <a:solidFill>
                  <a:schemeClr val="tx1"/>
                </a:solidFill>
                <a:latin typeface="+mn-lt"/>
                <a:ea typeface="+mn-ea"/>
                <a:cs typeface="+mn-cs"/>
              </a:rPr>
              <a:t>Установление условий и соглашений</a:t>
            </a:r>
          </a:p>
          <a:p>
            <a:pPr marL="228600" indent="-228600">
              <a:buFont typeface="+mj-lt"/>
              <a:buAutoNum type="arabicPeriod"/>
            </a:pPr>
            <a:r>
              <a:rPr lang="ru-RU" sz="1200" b="0" i="0" kern="1200" dirty="0" smtClean="0">
                <a:solidFill>
                  <a:schemeClr val="tx1"/>
                </a:solidFill>
                <a:latin typeface="+mn-lt"/>
                <a:ea typeface="+mn-ea"/>
                <a:cs typeface="+mn-cs"/>
              </a:rPr>
              <a:t>Описание технических ограничений (среда функционирования системы и т. д.)</a:t>
            </a:r>
          </a:p>
          <a:p>
            <a:endParaRPr lang="ru-RU" sz="1200" b="0" i="0" kern="1200" dirty="0" smtClean="0">
              <a:solidFill>
                <a:schemeClr val="tx1"/>
              </a:solidFill>
              <a:latin typeface="+mn-lt"/>
              <a:ea typeface="+mn-ea"/>
              <a:cs typeface="+mn-cs"/>
            </a:endParaRPr>
          </a:p>
          <a:p>
            <a:pPr marL="228600" indent="-228600">
              <a:buFont typeface="+mj-lt"/>
              <a:buNone/>
            </a:pPr>
            <a:endParaRPr lang="ru-RU" sz="1200" b="0" i="0" kern="1200" dirty="0" smtClean="0">
              <a:solidFill>
                <a:schemeClr val="tx1"/>
              </a:solidFill>
              <a:latin typeface="+mn-lt"/>
              <a:ea typeface="+mn-ea"/>
              <a:cs typeface="+mn-cs"/>
            </a:endParaRPr>
          </a:p>
          <a:p>
            <a:pPr marL="228600" indent="-228600">
              <a:buFont typeface="+mj-lt"/>
              <a:buNone/>
            </a:pPr>
            <a:endParaRPr lang="ru-RU" sz="1200" b="0" i="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24</a:t>
            </a:fld>
            <a:endParaRPr lang="ru-RU"/>
          </a:p>
        </p:txBody>
      </p:sp>
    </p:spTree>
    <p:extLst>
      <p:ext uri="{BB962C8B-B14F-4D97-AF65-F5344CB8AC3E}">
        <p14:creationId xmlns:p14="http://schemas.microsoft.com/office/powerpoint/2010/main" val="3280113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dirty="0" smtClean="0"/>
              <a:t>Модель процесса (МП) описывает обобщенный процесс, и обычно включает:</a:t>
            </a:r>
          </a:p>
          <a:p>
            <a:pPr lvl="1"/>
            <a:r>
              <a:rPr lang="ru-RU" dirty="0" smtClean="0"/>
              <a:t>набор этапов, на которые должен быть разделен процесс</a:t>
            </a:r>
            <a:r>
              <a:rPr lang="en-US" dirty="0" smtClean="0"/>
              <a:t>;</a:t>
            </a:r>
            <a:endParaRPr lang="ru-RU" dirty="0" smtClean="0"/>
          </a:p>
          <a:p>
            <a:pPr lvl="1"/>
            <a:r>
              <a:rPr lang="ru-RU" dirty="0" smtClean="0"/>
              <a:t>порядок, в котором эти процессы должны выполняться</a:t>
            </a:r>
            <a:r>
              <a:rPr lang="en-US" dirty="0" smtClean="0"/>
              <a:t>; </a:t>
            </a:r>
            <a:endParaRPr lang="ru-RU" dirty="0" smtClean="0"/>
          </a:p>
          <a:p>
            <a:pPr lvl="1"/>
            <a:r>
              <a:rPr lang="ru-RU" dirty="0" smtClean="0"/>
              <a:t>разные ограничения и условия на выполнение  этих этапов</a:t>
            </a:r>
            <a:r>
              <a:rPr lang="en-US" dirty="0" smtClean="0"/>
              <a:t>. </a:t>
            </a:r>
            <a:endParaRPr lang="ru-RU" dirty="0" smtClean="0"/>
          </a:p>
          <a:p>
            <a:r>
              <a:rPr lang="ru-RU" dirty="0" smtClean="0"/>
              <a:t>Основное предположение для модели процесса заключается в том, что в тех ситуациях, когда данная модель является применимой</a:t>
            </a:r>
            <a:r>
              <a:rPr lang="en-US" dirty="0" smtClean="0"/>
              <a:t>, </a:t>
            </a:r>
            <a:r>
              <a:rPr lang="ru-RU" dirty="0" smtClean="0"/>
              <a:t>ее использование в качестве процесса проекта позволит:</a:t>
            </a:r>
          </a:p>
          <a:p>
            <a:pPr marL="628650" lvl="1" indent="-228600">
              <a:buFont typeface="+mj-lt"/>
              <a:buAutoNum type="arabicPeriod"/>
            </a:pPr>
            <a:r>
              <a:rPr lang="ru-RU" dirty="0" smtClean="0"/>
              <a:t> уменьшить расходы</a:t>
            </a:r>
            <a:r>
              <a:rPr lang="en-US" dirty="0" smtClean="0"/>
              <a:t>, </a:t>
            </a:r>
            <a:endParaRPr lang="ru-RU" dirty="0" smtClean="0"/>
          </a:p>
          <a:p>
            <a:pPr marL="628650" lvl="1" indent="-228600">
              <a:buFont typeface="+mj-lt"/>
              <a:buAutoNum type="arabicPeriod"/>
            </a:pPr>
            <a:r>
              <a:rPr lang="ru-RU" dirty="0" smtClean="0"/>
              <a:t> повысить качество</a:t>
            </a:r>
            <a:r>
              <a:rPr lang="en-US" dirty="0" smtClean="0"/>
              <a:t>, </a:t>
            </a:r>
            <a:endParaRPr lang="ru-RU" dirty="0" smtClean="0"/>
          </a:p>
          <a:p>
            <a:pPr marL="628650" lvl="1" indent="-228600">
              <a:buFont typeface="+mj-lt"/>
              <a:buAutoNum type="arabicPeriod"/>
            </a:pPr>
            <a:r>
              <a:rPr lang="ru-RU" dirty="0" smtClean="0"/>
              <a:t> уменьшить время разработки,</a:t>
            </a:r>
            <a:r>
              <a:rPr lang="en-US" dirty="0" smtClean="0"/>
              <a:t> </a:t>
            </a:r>
            <a:endParaRPr lang="ru-RU" dirty="0" smtClean="0"/>
          </a:p>
          <a:p>
            <a:pPr marL="628650" lvl="1" indent="-228600">
              <a:buFont typeface="+mj-lt"/>
              <a:buAutoNum type="arabicPeriod"/>
            </a:pPr>
            <a:r>
              <a:rPr lang="ru-RU" dirty="0" smtClean="0"/>
              <a:t> а также принести другие выгоды</a:t>
            </a:r>
            <a:r>
              <a:rPr lang="en-US" dirty="0" smtClean="0"/>
              <a:t>.</a:t>
            </a:r>
            <a:endParaRPr lang="ru-RU" dirty="0" smtClean="0"/>
          </a:p>
          <a:p>
            <a:pPr marL="228600" indent="-228600"/>
            <a:r>
              <a:rPr lang="ru-RU" dirty="0" smtClean="0"/>
              <a:t>Другими словами</a:t>
            </a:r>
            <a:r>
              <a:rPr lang="en-US" dirty="0" smtClean="0"/>
              <a:t>, </a:t>
            </a:r>
            <a:r>
              <a:rPr lang="ru-RU" dirty="0" smtClean="0"/>
              <a:t>модель процесса предоставляет общие методические указания для разработки подходящего процесса  выполнения проекта. </a:t>
            </a: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25</a:t>
            </a:fld>
            <a:endParaRPr lang="ru-RU"/>
          </a:p>
        </p:txBody>
      </p:sp>
    </p:spTree>
    <p:extLst>
      <p:ext uri="{BB962C8B-B14F-4D97-AF65-F5344CB8AC3E}">
        <p14:creationId xmlns:p14="http://schemas.microsoft.com/office/powerpoint/2010/main" val="12237048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kern="1200" baseline="0" dirty="0" smtClean="0">
                <a:solidFill>
                  <a:schemeClr val="tx1"/>
                </a:solidFill>
                <a:latin typeface="+mn-lt"/>
                <a:ea typeface="+mn-ea"/>
                <a:cs typeface="+mn-cs"/>
              </a:rPr>
              <a:t>Модели, методологии разработки ПО</a:t>
            </a:r>
          </a:p>
          <a:p>
            <a:endParaRPr lang="ru-RU" sz="1200" kern="1200" baseline="0" dirty="0" smtClean="0">
              <a:solidFill>
                <a:schemeClr val="tx1"/>
              </a:solidFill>
              <a:latin typeface="+mn-lt"/>
              <a:ea typeface="+mn-ea"/>
              <a:cs typeface="+mn-cs"/>
            </a:endParaRPr>
          </a:p>
          <a:p>
            <a:pPr marL="228600" indent="-228600">
              <a:buAutoNum type="arabicPeriod"/>
            </a:pPr>
            <a:r>
              <a:rPr lang="ru-RU" sz="1200" kern="1200" baseline="0" dirty="0" smtClean="0">
                <a:solidFill>
                  <a:schemeClr val="tx1"/>
                </a:solidFill>
                <a:latin typeface="+mn-lt"/>
                <a:ea typeface="+mn-ea"/>
                <a:cs typeface="+mn-cs"/>
              </a:rPr>
              <a:t>Модель водопада</a:t>
            </a:r>
          </a:p>
          <a:p>
            <a:pPr marL="228600" indent="-228600">
              <a:buAutoNum type="arabicPeriod"/>
            </a:pPr>
            <a:r>
              <a:rPr lang="ru-RU" sz="1200" kern="1200" baseline="0" dirty="0" smtClean="0">
                <a:solidFill>
                  <a:schemeClr val="tx1"/>
                </a:solidFill>
                <a:latin typeface="+mn-lt"/>
                <a:ea typeface="+mn-ea"/>
                <a:cs typeface="+mn-cs"/>
              </a:rPr>
              <a:t>Прототипирование </a:t>
            </a:r>
          </a:p>
          <a:p>
            <a:pPr marL="228600" indent="-228600">
              <a:buAutoNum type="arabicPeriod"/>
            </a:pPr>
            <a:r>
              <a:rPr lang="ru-RU" sz="1200" kern="1200" baseline="0" dirty="0" smtClean="0">
                <a:solidFill>
                  <a:schemeClr val="tx1"/>
                </a:solidFill>
                <a:latin typeface="+mn-lt"/>
                <a:ea typeface="+mn-ea"/>
                <a:cs typeface="+mn-cs"/>
              </a:rPr>
              <a:t>Итеративная разработка</a:t>
            </a:r>
          </a:p>
          <a:p>
            <a:pPr marL="228600" indent="-228600">
              <a:buAutoNum type="arabicPeriod"/>
            </a:pPr>
            <a:r>
              <a:rPr lang="en-US" sz="1200" kern="1200" baseline="0" dirty="0" smtClean="0">
                <a:solidFill>
                  <a:schemeClr val="tx1"/>
                </a:solidFill>
                <a:latin typeface="+mn-lt"/>
                <a:ea typeface="+mn-ea"/>
                <a:cs typeface="+mn-cs"/>
              </a:rPr>
              <a:t>Rational Unified Process RUP</a:t>
            </a:r>
            <a:endParaRPr lang="ru-RU" sz="1200" kern="1200" baseline="0" dirty="0" smtClean="0">
              <a:solidFill>
                <a:schemeClr val="tx1"/>
              </a:solidFill>
              <a:latin typeface="+mn-lt"/>
              <a:ea typeface="+mn-ea"/>
              <a:cs typeface="+mn-cs"/>
            </a:endParaRPr>
          </a:p>
          <a:p>
            <a:pPr marL="228600" indent="-228600">
              <a:buAutoNum type="arabicPeriod"/>
            </a:pPr>
            <a:r>
              <a:rPr lang="ru-RU" sz="1200" kern="1200" baseline="0" dirty="0" smtClean="0">
                <a:solidFill>
                  <a:schemeClr val="tx1"/>
                </a:solidFill>
                <a:latin typeface="+mn-lt"/>
                <a:ea typeface="+mn-ea"/>
                <a:cs typeface="+mn-cs"/>
              </a:rPr>
              <a:t>Модель временных ящиков</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ru-RU" dirty="0" smtClean="0"/>
              <a:t>Гибкая разработка.</a:t>
            </a:r>
          </a:p>
          <a:p>
            <a:pPr marL="228600" indent="-228600">
              <a:buAutoNum type="arabicPeriod"/>
            </a:pPr>
            <a:endParaRPr lang="ru-RU" sz="1200" kern="1200" baseline="0" dirty="0" smtClean="0">
              <a:solidFill>
                <a:schemeClr val="tx1"/>
              </a:solidFill>
              <a:latin typeface="+mn-lt"/>
              <a:ea typeface="+mn-ea"/>
              <a:cs typeface="+mn-cs"/>
            </a:endParaRPr>
          </a:p>
          <a:p>
            <a:pPr marL="228600" indent="-228600">
              <a:buAutoNum type="arabicPeriod"/>
            </a:pPr>
            <a:endParaRPr lang="ru-RU" dirty="0" smtClean="0"/>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26</a:t>
            </a:fld>
            <a:endParaRPr lang="ru-RU"/>
          </a:p>
        </p:txBody>
      </p:sp>
    </p:spTree>
    <p:extLst>
      <p:ext uri="{BB962C8B-B14F-4D97-AF65-F5344CB8AC3E}">
        <p14:creationId xmlns:p14="http://schemas.microsoft.com/office/powerpoint/2010/main" val="30438510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en-US" sz="1200" kern="1200" baseline="0" dirty="0" smtClean="0">
              <a:solidFill>
                <a:schemeClr val="tx1"/>
              </a:solidFill>
              <a:latin typeface="+mn-lt"/>
              <a:ea typeface="+mn-ea"/>
              <a:cs typeface="+mn-cs"/>
            </a:endParaRPr>
          </a:p>
          <a:p>
            <a:r>
              <a:rPr lang="ru-RU" b="1" i="1" dirty="0" smtClean="0"/>
              <a:t>Модель процесса</a:t>
            </a:r>
            <a:r>
              <a:rPr lang="ru-RU" dirty="0" smtClean="0"/>
              <a:t> описывает (специфицирует) общий процесс</a:t>
            </a:r>
            <a:r>
              <a:rPr lang="en-US" i="1" dirty="0" smtClean="0"/>
              <a:t>, </a:t>
            </a:r>
            <a:r>
              <a:rPr lang="ru-RU" i="1" dirty="0" smtClean="0"/>
              <a:t>который является «оптимальным» для </a:t>
            </a:r>
            <a:r>
              <a:rPr lang="ru-RU" b="1" i="1" dirty="0" smtClean="0"/>
              <a:t>некоторого класса проектов</a:t>
            </a:r>
            <a:r>
              <a:rPr lang="en-US" dirty="0" smtClean="0"/>
              <a:t>. </a:t>
            </a:r>
            <a:endParaRPr lang="ru-RU" dirty="0" smtClean="0"/>
          </a:p>
          <a:p>
            <a:r>
              <a:rPr lang="ru-RU" dirty="0" smtClean="0"/>
              <a:t>Т.е. в ситуациях, для которых данная модель является применимой</a:t>
            </a:r>
            <a:r>
              <a:rPr lang="en-US" dirty="0" smtClean="0"/>
              <a:t>, </a:t>
            </a:r>
            <a:r>
              <a:rPr lang="ru-RU" dirty="0" smtClean="0"/>
              <a:t>использование данной модели процесса приведет к достижению цели разработки ПО с высокими показателями К</a:t>
            </a:r>
            <a:r>
              <a:rPr lang="en-US" dirty="0" smtClean="0"/>
              <a:t>&amp;</a:t>
            </a:r>
            <a:r>
              <a:rPr lang="ru-RU" dirty="0" smtClean="0"/>
              <a:t>П</a:t>
            </a:r>
            <a:r>
              <a:rPr lang="en-US" dirty="0" smtClean="0"/>
              <a:t>. </a:t>
            </a:r>
            <a:endParaRPr lang="ru-RU" dirty="0" smtClean="0"/>
          </a:p>
          <a:p>
            <a:r>
              <a:rPr lang="ru-RU" dirty="0" smtClean="0"/>
              <a:t>Модель процесса фактически является объединением лучших практических решений в некоторый «рецепт» успешного выполнения проекта.</a:t>
            </a:r>
          </a:p>
          <a:p>
            <a:r>
              <a:rPr lang="ru-RU" dirty="0" smtClean="0"/>
              <a:t>Процесс часто специфицируется (детально описывается) в виде последовательностей высокоуровневых этапов.</a:t>
            </a:r>
          </a:p>
          <a:p>
            <a:r>
              <a:rPr lang="ru-RU" dirty="0" smtClean="0"/>
              <a:t>В свою очередь каждый из этапов состоит из более мелких шагов и иногда называется </a:t>
            </a:r>
            <a:r>
              <a:rPr lang="ru-RU" dirty="0" err="1" smtClean="0"/>
              <a:t>подпроцессом</a:t>
            </a:r>
            <a:r>
              <a:rPr lang="ru-RU" dirty="0" smtClean="0"/>
              <a:t>.</a:t>
            </a:r>
            <a:endParaRPr lang="en-US"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27</a:t>
            </a:fld>
            <a:endParaRPr lang="ru-RU"/>
          </a:p>
        </p:txBody>
      </p:sp>
    </p:spTree>
    <p:extLst>
      <p:ext uri="{BB962C8B-B14F-4D97-AF65-F5344CB8AC3E}">
        <p14:creationId xmlns:p14="http://schemas.microsoft.com/office/powerpoint/2010/main" val="3200723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0000" lnSpcReduction="20000"/>
          </a:bodyPr>
          <a:lstStyle/>
          <a:p>
            <a:r>
              <a:rPr lang="ru-RU" sz="1200" b="1" kern="1200" baseline="0" dirty="0" smtClean="0">
                <a:solidFill>
                  <a:schemeClr val="tx1"/>
                </a:solidFill>
                <a:latin typeface="+mn-lt"/>
                <a:ea typeface="+mn-ea"/>
                <a:cs typeface="+mn-cs"/>
              </a:rPr>
              <a:t>Каскадная модель, модель водопада, водопадная модель</a:t>
            </a:r>
          </a:p>
          <a:p>
            <a:r>
              <a:rPr lang="en-US" sz="1200" b="1" kern="1200" baseline="0" dirty="0" smtClean="0">
                <a:solidFill>
                  <a:schemeClr val="tx1"/>
                </a:solidFill>
                <a:latin typeface="+mn-lt"/>
                <a:ea typeface="+mn-ea"/>
                <a:cs typeface="+mn-cs"/>
              </a:rPr>
              <a:t>Waterfall Model</a:t>
            </a:r>
            <a:endParaRPr lang="ru-RU" sz="1200" b="1" kern="1200" baseline="0" dirty="0" smtClean="0">
              <a:solidFill>
                <a:schemeClr val="tx1"/>
              </a:solidFill>
              <a:latin typeface="+mn-lt"/>
              <a:ea typeface="+mn-ea"/>
              <a:cs typeface="+mn-cs"/>
            </a:endParaRPr>
          </a:p>
          <a:p>
            <a:endParaRPr lang="en-US" sz="1200" b="1" kern="1200" baseline="0" dirty="0" smtClean="0">
              <a:solidFill>
                <a:schemeClr val="tx1"/>
              </a:solidFill>
              <a:latin typeface="+mn-lt"/>
              <a:ea typeface="+mn-ea"/>
              <a:cs typeface="+mn-cs"/>
            </a:endParaRPr>
          </a:p>
          <a:p>
            <a:r>
              <a:rPr lang="ru-RU" dirty="0" smtClean="0"/>
              <a:t>Самой простой моделью процесса является модель водопада, в соответствии с которой все этапы организованы в линейном порядке. </a:t>
            </a:r>
          </a:p>
          <a:p>
            <a:r>
              <a:rPr lang="ru-RU" dirty="0" smtClean="0"/>
              <a:t>Имеется много вариантов данной модели, включающих разные виды работ и разный поток управления между ними.</a:t>
            </a:r>
          </a:p>
          <a:p>
            <a:r>
              <a:rPr lang="ru-RU" dirty="0" smtClean="0"/>
              <a:t>В данной модели проект начинается с </a:t>
            </a:r>
            <a:r>
              <a:rPr lang="ru-RU" b="1" i="1" dirty="0" smtClean="0"/>
              <a:t>анализа осуществимости</a:t>
            </a:r>
            <a:r>
              <a:rPr lang="ru-RU" dirty="0" smtClean="0"/>
              <a:t>.</a:t>
            </a:r>
          </a:p>
          <a:p>
            <a:r>
              <a:rPr lang="ru-RU" dirty="0" smtClean="0"/>
              <a:t>При успешной демонстрации осуществимости проекта, начинается </a:t>
            </a:r>
            <a:r>
              <a:rPr lang="ru-RU" b="1" i="1" dirty="0" smtClean="0"/>
              <a:t>анализ требований и планирование проекта</a:t>
            </a:r>
            <a:r>
              <a:rPr lang="ru-RU" dirty="0" smtClean="0"/>
              <a:t>.</a:t>
            </a:r>
          </a:p>
          <a:p>
            <a:r>
              <a:rPr lang="ru-RU" dirty="0" smtClean="0"/>
              <a:t>После завершения анализа требований начинается </a:t>
            </a:r>
            <a:r>
              <a:rPr lang="ru-RU" b="1" i="1" dirty="0" smtClean="0"/>
              <a:t>проектирование</a:t>
            </a:r>
            <a:r>
              <a:rPr lang="ru-RU" dirty="0" smtClean="0"/>
              <a:t>, а после него начинается </a:t>
            </a:r>
            <a:r>
              <a:rPr lang="ru-RU" b="1" i="1" dirty="0" smtClean="0"/>
              <a:t>составление (кодирование) программы</a:t>
            </a:r>
            <a:r>
              <a:rPr lang="ru-RU" dirty="0" smtClean="0"/>
              <a:t>.</a:t>
            </a:r>
          </a:p>
          <a:p>
            <a:r>
              <a:rPr lang="ru-RU" dirty="0" smtClean="0"/>
              <a:t>После успешного завершения программирования, созданный код объединяется и выполняется тестирование.</a:t>
            </a:r>
          </a:p>
          <a:p>
            <a:r>
              <a:rPr lang="ru-RU" dirty="0" smtClean="0"/>
              <a:t>После успешного завершения тестирования, система устанавливается у заказчика.</a:t>
            </a:r>
          </a:p>
          <a:p>
            <a:r>
              <a:rPr lang="ru-RU" dirty="0" smtClean="0"/>
              <a:t>После этого выполняется постоянное использование созданного ПО и его поддержка.</a:t>
            </a:r>
          </a:p>
          <a:p>
            <a:endParaRPr lang="ru-RU" sz="1200" kern="1200" baseline="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Водопадная (каскадная, последовательная) модель</a:t>
            </a:r>
          </a:p>
          <a:p>
            <a:r>
              <a:rPr lang="ru-RU" i="1" dirty="0" smtClean="0"/>
              <a:t>Основная статья</a:t>
            </a:r>
            <a:r>
              <a:rPr lang="ru-RU" dirty="0" smtClean="0"/>
              <a:t>: </a:t>
            </a:r>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28</a:t>
            </a:fld>
            <a:endParaRPr lang="ru-RU"/>
          </a:p>
        </p:txBody>
      </p:sp>
    </p:spTree>
    <p:extLst>
      <p:ext uri="{BB962C8B-B14F-4D97-AF65-F5344CB8AC3E}">
        <p14:creationId xmlns:p14="http://schemas.microsoft.com/office/powerpoint/2010/main" val="9559541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en-US" dirty="0" smtClean="0"/>
              <a:t>Validation </a:t>
            </a:r>
            <a:r>
              <a:rPr lang="ru-RU" dirty="0" smtClean="0"/>
              <a:t>	</a:t>
            </a:r>
            <a:r>
              <a:rPr lang="en-US" dirty="0" smtClean="0"/>
              <a:t>– </a:t>
            </a:r>
            <a:r>
              <a:rPr lang="ru-RU" dirty="0" smtClean="0"/>
              <a:t>утверждение</a:t>
            </a:r>
            <a:endParaRPr lang="en-US" dirty="0" smtClean="0"/>
          </a:p>
          <a:p>
            <a:r>
              <a:rPr lang="en-US" dirty="0" smtClean="0"/>
              <a:t>Verification</a:t>
            </a:r>
            <a:r>
              <a:rPr lang="ru-RU" dirty="0" smtClean="0"/>
              <a:t> 	</a:t>
            </a:r>
            <a:r>
              <a:rPr lang="en-US" dirty="0" smtClean="0"/>
              <a:t>–</a:t>
            </a:r>
            <a:r>
              <a:rPr lang="ru-RU" dirty="0" smtClean="0"/>
              <a:t> проверка (верификация)</a:t>
            </a:r>
          </a:p>
          <a:p>
            <a:r>
              <a:rPr lang="ru-RU" dirty="0" smtClean="0"/>
              <a:t>===================</a:t>
            </a:r>
          </a:p>
          <a:p>
            <a:endParaRPr lang="ru-RU" dirty="0" smtClean="0"/>
          </a:p>
          <a:p>
            <a:r>
              <a:rPr lang="ru-RU" sz="1200" b="1" i="1" u="none" strike="noStrike" kern="1200" dirty="0" smtClean="0">
                <a:solidFill>
                  <a:schemeClr val="tx1"/>
                </a:solidFill>
                <a:latin typeface="+mn-lt"/>
                <a:ea typeface="+mn-ea"/>
                <a:cs typeface="+mn-cs"/>
                <a:hlinkClick r:id="rId3" tooltip="Модель водопада"/>
              </a:rPr>
              <a:t>Модель водопада</a:t>
            </a:r>
            <a:endParaRPr lang="ru-RU" dirty="0" smtClean="0"/>
          </a:p>
          <a:p>
            <a:r>
              <a:rPr lang="ru-RU" sz="1200" b="0" i="0" kern="1200" dirty="0" smtClean="0">
                <a:solidFill>
                  <a:schemeClr val="tx1"/>
                </a:solidFill>
                <a:latin typeface="+mn-lt"/>
                <a:ea typeface="+mn-ea"/>
                <a:cs typeface="+mn-cs"/>
              </a:rPr>
              <a:t>Водопадная модель жизненного цикла (</a:t>
            </a:r>
            <a:r>
              <a:rPr lang="ru-RU" sz="1200" b="0" i="0" u="none" strike="noStrike" kern="1200" dirty="0" smtClean="0">
                <a:solidFill>
                  <a:schemeClr val="tx1"/>
                </a:solidFill>
                <a:latin typeface="+mn-lt"/>
                <a:ea typeface="+mn-ea"/>
                <a:cs typeface="+mn-cs"/>
                <a:hlinkClick r:id="rId4" tooltip="Английский язык"/>
              </a:rPr>
              <a:t>англ.</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waterfall</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model</a:t>
            </a:r>
            <a:r>
              <a:rPr lang="ru-RU" sz="1200" b="0" i="0" kern="1200" dirty="0" smtClean="0">
                <a:solidFill>
                  <a:schemeClr val="tx1"/>
                </a:solidFill>
                <a:latin typeface="+mn-lt"/>
                <a:ea typeface="+mn-ea"/>
                <a:cs typeface="+mn-cs"/>
              </a:rPr>
              <a:t>) была предложена в 1970 г. </a:t>
            </a:r>
            <a:r>
              <a:rPr lang="ru-RU" sz="1200" b="0" i="0" u="none" strike="noStrike" kern="1200" dirty="0" smtClean="0">
                <a:solidFill>
                  <a:schemeClr val="tx1"/>
                </a:solidFill>
                <a:latin typeface="+mn-lt"/>
                <a:ea typeface="+mn-ea"/>
                <a:cs typeface="+mn-cs"/>
                <a:hlinkClick r:id="rId5" tooltip="Уинстон Ройс (страница отсутствует)"/>
              </a:rPr>
              <a:t>Уинстоном </a:t>
            </a:r>
            <a:r>
              <a:rPr lang="ru-RU" sz="1200" b="0" i="0" u="none" strike="noStrike" kern="1200" dirty="0" err="1" smtClean="0">
                <a:solidFill>
                  <a:schemeClr val="tx1"/>
                </a:solidFill>
                <a:latin typeface="+mn-lt"/>
                <a:ea typeface="+mn-ea"/>
                <a:cs typeface="+mn-cs"/>
                <a:hlinkClick r:id="rId5" tooltip="Уинстон Ройс (страница отсутствует)"/>
              </a:rPr>
              <a:t>Ройсом</a:t>
            </a:r>
            <a:r>
              <a:rPr lang="ru-RU" sz="1200" b="0" i="0" kern="1200" dirty="0" smtClean="0">
                <a:solidFill>
                  <a:schemeClr val="tx1"/>
                </a:solidFill>
                <a:latin typeface="+mn-lt"/>
                <a:ea typeface="+mn-ea"/>
                <a:cs typeface="+mn-cs"/>
              </a:rPr>
              <a:t>. Она предусматривает последовательное выполнение всех этапов проекта в строго фиксированном порядке. Переход на следующий этап означает полное завершение работ на предыдущем этапе. Требования, определенные на стадии формирования требований, строго документируются в виде технического задания и фиксируются на все время разработки проекта. Каждая стадия завершается выпуском полного комплекта документации, достаточной для того, чтобы разработка могла быть продолжена другой командой разработчиков.</a:t>
            </a:r>
          </a:p>
          <a:p>
            <a:r>
              <a:rPr lang="ru-RU" sz="1200" b="1" i="0" kern="1200" dirty="0" smtClean="0">
                <a:solidFill>
                  <a:schemeClr val="tx1"/>
                </a:solidFill>
                <a:latin typeface="+mn-lt"/>
                <a:ea typeface="+mn-ea"/>
                <a:cs typeface="+mn-cs"/>
              </a:rPr>
              <a:t>Этапы проекта в соответствии с каскадной моделью:</a:t>
            </a:r>
          </a:p>
          <a:p>
            <a:r>
              <a:rPr lang="ru-RU" sz="1200" b="0" i="0" kern="1200" dirty="0" smtClean="0">
                <a:solidFill>
                  <a:schemeClr val="tx1"/>
                </a:solidFill>
                <a:latin typeface="+mn-lt"/>
                <a:ea typeface="+mn-ea"/>
                <a:cs typeface="+mn-cs"/>
              </a:rPr>
              <a:t>Формирование требований;</a:t>
            </a:r>
          </a:p>
          <a:p>
            <a:r>
              <a:rPr lang="ru-RU" sz="1200" b="0" i="0" kern="1200" dirty="0" smtClean="0">
                <a:solidFill>
                  <a:schemeClr val="tx1"/>
                </a:solidFill>
                <a:latin typeface="+mn-lt"/>
                <a:ea typeface="+mn-ea"/>
                <a:cs typeface="+mn-cs"/>
              </a:rPr>
              <a:t>Проектирование;</a:t>
            </a:r>
          </a:p>
          <a:p>
            <a:r>
              <a:rPr lang="ru-RU" sz="1200" b="0" i="0" kern="1200" dirty="0" smtClean="0">
                <a:solidFill>
                  <a:schemeClr val="tx1"/>
                </a:solidFill>
                <a:latin typeface="+mn-lt"/>
                <a:ea typeface="+mn-ea"/>
                <a:cs typeface="+mn-cs"/>
              </a:rPr>
              <a:t>Реализация;</a:t>
            </a:r>
          </a:p>
          <a:p>
            <a:r>
              <a:rPr lang="ru-RU" sz="1200" b="0" i="0" kern="1200" dirty="0" smtClean="0">
                <a:solidFill>
                  <a:schemeClr val="tx1"/>
                </a:solidFill>
                <a:latin typeface="+mn-lt"/>
                <a:ea typeface="+mn-ea"/>
                <a:cs typeface="+mn-cs"/>
              </a:rPr>
              <a:t>Тестирование;</a:t>
            </a:r>
          </a:p>
          <a:p>
            <a:r>
              <a:rPr lang="ru-RU" sz="1200" b="0" i="0" kern="1200" dirty="0" smtClean="0">
                <a:solidFill>
                  <a:schemeClr val="tx1"/>
                </a:solidFill>
                <a:latin typeface="+mn-lt"/>
                <a:ea typeface="+mn-ea"/>
                <a:cs typeface="+mn-cs"/>
              </a:rPr>
              <a:t>Внедрение;</a:t>
            </a:r>
          </a:p>
          <a:p>
            <a:r>
              <a:rPr lang="ru-RU" sz="1200" b="0" i="0" kern="1200" dirty="0" smtClean="0">
                <a:solidFill>
                  <a:schemeClr val="tx1"/>
                </a:solidFill>
                <a:latin typeface="+mn-lt"/>
                <a:ea typeface="+mn-ea"/>
                <a:cs typeface="+mn-cs"/>
              </a:rPr>
              <a:t>Эксплуатация и сопровождение.</a:t>
            </a:r>
          </a:p>
          <a:p>
            <a:endParaRPr lang="ru-RU" dirty="0" smtClean="0"/>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29</a:t>
            </a:fld>
            <a:endParaRPr lang="ru-RU"/>
          </a:p>
        </p:txBody>
      </p:sp>
    </p:spTree>
    <p:extLst>
      <p:ext uri="{BB962C8B-B14F-4D97-AF65-F5344CB8AC3E}">
        <p14:creationId xmlns:p14="http://schemas.microsoft.com/office/powerpoint/2010/main" val="37962009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requirements analysis phase is mentioned as “analysis and planning.”</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Planning is a critical activity in software development.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 good plan is based on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requirements of the system and should be done before later phases begin.</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However, in practice, detailed requirements are not necessary for planning.</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Consequently, planning usually overlaps with the requirements analysis, and a</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plan is ready before the later phases begin.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plan is an additional input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all the later phases.</a:t>
            </a: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30</a:t>
            </a:fld>
            <a:endParaRPr lang="ru-RU"/>
          </a:p>
        </p:txBody>
      </p:sp>
    </p:spTree>
    <p:extLst>
      <p:ext uri="{BB962C8B-B14F-4D97-AF65-F5344CB8AC3E}">
        <p14:creationId xmlns:p14="http://schemas.microsoft.com/office/powerpoint/2010/main" val="42903662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55000" lnSpcReduction="20000"/>
          </a:bodyPr>
          <a:lstStyle/>
          <a:p>
            <a:r>
              <a:rPr lang="en-US" sz="1200" kern="1200" baseline="0" dirty="0" smtClean="0">
                <a:solidFill>
                  <a:schemeClr val="tx1"/>
                </a:solidFill>
                <a:latin typeface="+mn-lt"/>
                <a:ea typeface="+mn-ea"/>
                <a:cs typeface="+mn-cs"/>
              </a:rPr>
              <a:t>Linear ordering of activities has some important consequences.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Для явного распознавания завершения очередного этапа и начала следующего, требуются использовать некоторые способ подтверждения в конце каждого этапа.</a:t>
            </a:r>
          </a:p>
          <a:p>
            <a:r>
              <a:rPr lang="en-US" sz="1200" kern="1200" baseline="0" dirty="0" smtClean="0">
                <a:solidFill>
                  <a:schemeClr val="tx1"/>
                </a:solidFill>
                <a:latin typeface="+mn-lt"/>
                <a:ea typeface="+mn-ea"/>
                <a:cs typeface="+mn-cs"/>
              </a:rPr>
              <a:t>First,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clearly identify the end of a phase and the beginning of the next, some certification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mechanism has to be employed at the end of each phase.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Это обычно выполняется с помощью некоторой проверки (</a:t>
            </a:r>
            <a:r>
              <a:rPr lang="en-US" sz="1200" kern="1200" baseline="0" dirty="0" smtClean="0">
                <a:solidFill>
                  <a:schemeClr val="tx1"/>
                </a:solidFill>
                <a:latin typeface="+mn-lt"/>
                <a:ea typeface="+mn-ea"/>
                <a:cs typeface="+mn-cs"/>
              </a:rPr>
              <a:t>verification</a:t>
            </a:r>
            <a:r>
              <a:rPr lang="ru-RU" sz="1200" kern="1200" baseline="0" dirty="0" smtClean="0">
                <a:solidFill>
                  <a:schemeClr val="tx1"/>
                </a:solidFill>
                <a:latin typeface="+mn-lt"/>
                <a:ea typeface="+mn-ea"/>
                <a:cs typeface="+mn-cs"/>
              </a:rPr>
              <a:t>) и утверждения (</a:t>
            </a:r>
            <a:r>
              <a:rPr lang="en-US" sz="1200" kern="1200" baseline="0" dirty="0" smtClean="0">
                <a:solidFill>
                  <a:schemeClr val="tx1"/>
                </a:solidFill>
                <a:latin typeface="+mn-lt"/>
                <a:ea typeface="+mn-ea"/>
                <a:cs typeface="+mn-cs"/>
              </a:rPr>
              <a:t>validation</a:t>
            </a:r>
            <a:r>
              <a:rPr lang="ru-RU" sz="1200" kern="1200" baseline="0" dirty="0" smtClean="0">
                <a:solidFill>
                  <a:schemeClr val="tx1"/>
                </a:solidFill>
                <a:latin typeface="+mn-lt"/>
                <a:ea typeface="+mn-ea"/>
                <a:cs typeface="+mn-cs"/>
              </a:rPr>
              <a:t>), которые будут гарантировать, что:</a:t>
            </a:r>
          </a:p>
          <a:p>
            <a:r>
              <a:rPr lang="en-US" sz="1200" kern="1200" baseline="0" dirty="0" smtClean="0">
                <a:solidFill>
                  <a:schemeClr val="tx1"/>
                </a:solidFill>
                <a:latin typeface="+mn-lt"/>
                <a:ea typeface="+mn-ea"/>
                <a:cs typeface="+mn-cs"/>
              </a:rPr>
              <a:t>This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usually done by some verification and validation means that will ensure that</a:t>
            </a:r>
            <a:r>
              <a:rPr lang="ru-RU" sz="1200" kern="1200" baseline="0" dirty="0" smtClean="0">
                <a:solidFill>
                  <a:schemeClr val="tx1"/>
                </a:solidFill>
                <a:latin typeface="+mn-lt"/>
                <a:ea typeface="+mn-ea"/>
                <a:cs typeface="+mn-cs"/>
              </a:rPr>
              <a:t> </a:t>
            </a:r>
          </a:p>
          <a:p>
            <a:pPr>
              <a:buFont typeface="Arial" pitchFamily="34" charset="0"/>
              <a:buChar char="•"/>
            </a:pPr>
            <a:endParaRPr lang="ru-RU" sz="1200" kern="1200" baseline="0" dirty="0" smtClean="0">
              <a:solidFill>
                <a:schemeClr val="tx1"/>
              </a:solidFill>
              <a:latin typeface="+mn-lt"/>
              <a:ea typeface="+mn-ea"/>
              <a:cs typeface="+mn-cs"/>
            </a:endParaRPr>
          </a:p>
          <a:p>
            <a:pPr>
              <a:buFont typeface="Arial" pitchFamily="34" charset="0"/>
              <a:buNone/>
            </a:pPr>
            <a:r>
              <a:rPr lang="ru-RU" sz="1200" kern="1200" baseline="0" dirty="0" smtClean="0">
                <a:solidFill>
                  <a:schemeClr val="tx1"/>
                </a:solidFill>
                <a:latin typeface="+mn-lt"/>
                <a:ea typeface="+mn-ea"/>
                <a:cs typeface="+mn-cs"/>
              </a:rPr>
              <a:t>результат выполнения этапа согласуется с его входными данными (что являлось результатом работы (выходом) предыдущего этапа)</a:t>
            </a:r>
            <a:r>
              <a:rPr lang="en-US" sz="1200" kern="1200" baseline="0" dirty="0" smtClean="0">
                <a:solidFill>
                  <a:schemeClr val="tx1"/>
                </a:solidFill>
                <a:latin typeface="+mn-lt"/>
                <a:ea typeface="+mn-ea"/>
                <a:cs typeface="+mn-cs"/>
              </a:rPr>
              <a:t>;</a:t>
            </a:r>
            <a:endParaRPr lang="ru-RU" sz="1200" kern="1200" baseline="0" dirty="0" smtClean="0">
              <a:solidFill>
                <a:schemeClr val="tx1"/>
              </a:solidFill>
              <a:latin typeface="+mn-lt"/>
              <a:ea typeface="+mn-ea"/>
              <a:cs typeface="+mn-cs"/>
            </a:endParaRPr>
          </a:p>
          <a:p>
            <a:pPr>
              <a:buFont typeface="Arial" pitchFamily="34" charset="0"/>
              <a:buChar char="•"/>
            </a:pP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output of a phase is consistent with its input (which is the output of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previous phase), and </a:t>
            </a:r>
          </a:p>
          <a:p>
            <a:pPr>
              <a:buFont typeface="Arial" pitchFamily="34" charset="0"/>
              <a:buNone/>
            </a:pPr>
            <a:r>
              <a:rPr lang="ru-RU" sz="1200" kern="1200" baseline="0" dirty="0" smtClean="0">
                <a:solidFill>
                  <a:schemeClr val="tx1"/>
                </a:solidFill>
                <a:latin typeface="+mn-lt"/>
                <a:ea typeface="+mn-ea"/>
                <a:cs typeface="+mn-cs"/>
              </a:rPr>
              <a:t>результат выполнения данного этапа согласуется с общими требованиями заказчика к системе.</a:t>
            </a:r>
          </a:p>
          <a:p>
            <a:pPr>
              <a:buFont typeface="Arial" pitchFamily="34" charset="0"/>
              <a:buChar char="•"/>
            </a:pP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that the output of the phase is consistent with the overall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requirements of the system.</a:t>
            </a:r>
            <a:endParaRPr lang="ru-RU" sz="1200" kern="1200" baseline="0" dirty="0" smtClean="0">
              <a:solidFill>
                <a:schemeClr val="tx1"/>
              </a:solidFill>
              <a:latin typeface="+mn-lt"/>
              <a:ea typeface="+mn-ea"/>
              <a:cs typeface="+mn-cs"/>
            </a:endParaRPr>
          </a:p>
          <a:p>
            <a:endParaRPr lang="ru-RU" dirty="0" smtClean="0"/>
          </a:p>
          <a:p>
            <a:r>
              <a:rPr lang="ru-RU" sz="1200" kern="1200" baseline="0" dirty="0" smtClean="0">
                <a:solidFill>
                  <a:schemeClr val="tx1"/>
                </a:solidFill>
                <a:latin typeface="+mn-lt"/>
                <a:ea typeface="+mn-ea"/>
                <a:cs typeface="+mn-cs"/>
              </a:rPr>
              <a:t>Следствием потребности в подтверждении является то, что каждый этап должен иметь конкретный результат, который м.б. оценен и утвержден.</a:t>
            </a:r>
          </a:p>
          <a:p>
            <a:r>
              <a:rPr lang="en-US" sz="1200" kern="1200" baseline="0" dirty="0" smtClean="0">
                <a:solidFill>
                  <a:schemeClr val="tx1"/>
                </a:solidFill>
                <a:latin typeface="+mn-lt"/>
                <a:ea typeface="+mn-ea"/>
                <a:cs typeface="+mn-cs"/>
              </a:rPr>
              <a:t>The consequence of the need for certification is that each phase must have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some defined output that can be evaluated and certified.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That is, when the activities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a phase are completed, there should be some product that is produced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by that phase.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Результат каждого последующего этапа часто называется продуктом труда и обычно имеет форму некоторого документа (например, описания требований или описание проекта).</a:t>
            </a:r>
          </a:p>
          <a:p>
            <a:r>
              <a:rPr lang="en-US" sz="1200" kern="1200" baseline="0" dirty="0" smtClean="0">
                <a:solidFill>
                  <a:schemeClr val="tx1"/>
                </a:solidFill>
                <a:latin typeface="+mn-lt"/>
                <a:ea typeface="+mn-ea"/>
                <a:cs typeface="+mn-cs"/>
              </a:rPr>
              <a:t>The outputs of the earlier phases are often called work products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are usually in the form of documents like the requirements document or</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design document.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For the coding phase, the output is the code.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Though the set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documents that should be produced in a project is dependent on how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 is implemented,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following documents generally form a reasonable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set that should be produced in each project:</a:t>
            </a:r>
          </a:p>
          <a:p>
            <a:pPr marL="228600" indent="-228600">
              <a:buFont typeface="+mj-lt"/>
              <a:buAutoNum type="arabicPeriod"/>
            </a:pPr>
            <a:r>
              <a:rPr lang="en-US" sz="1200" kern="1200" baseline="0" dirty="0" smtClean="0">
                <a:solidFill>
                  <a:schemeClr val="tx1"/>
                </a:solidFill>
                <a:latin typeface="+mn-lt"/>
                <a:ea typeface="+mn-ea"/>
                <a:cs typeface="+mn-cs"/>
              </a:rPr>
              <a:t>Requirements document</a:t>
            </a:r>
          </a:p>
          <a:p>
            <a:pPr marL="228600" indent="-228600">
              <a:buFont typeface="+mj-lt"/>
              <a:buAutoNum type="arabicPeriod"/>
            </a:pPr>
            <a:r>
              <a:rPr lang="en-US" sz="1200" kern="1200" baseline="0" dirty="0" smtClean="0">
                <a:solidFill>
                  <a:schemeClr val="tx1"/>
                </a:solidFill>
                <a:latin typeface="+mn-lt"/>
                <a:ea typeface="+mn-ea"/>
                <a:cs typeface="+mn-cs"/>
              </a:rPr>
              <a:t>Project plan</a:t>
            </a:r>
          </a:p>
          <a:p>
            <a:pPr marL="228600" indent="-228600">
              <a:buFont typeface="+mj-lt"/>
              <a:buAutoNum type="arabicPeriod"/>
            </a:pPr>
            <a:r>
              <a:rPr lang="en-US" sz="1200" kern="1200" baseline="0" dirty="0" smtClean="0">
                <a:solidFill>
                  <a:schemeClr val="tx1"/>
                </a:solidFill>
                <a:latin typeface="+mn-lt"/>
                <a:ea typeface="+mn-ea"/>
                <a:cs typeface="+mn-cs"/>
              </a:rPr>
              <a:t>Design documents (architecture, system, detailed)</a:t>
            </a:r>
          </a:p>
          <a:p>
            <a:pPr marL="228600" indent="-228600">
              <a:buFont typeface="+mj-lt"/>
              <a:buAutoNum type="arabicPeriod"/>
            </a:pPr>
            <a:r>
              <a:rPr lang="en-US" sz="1200" kern="1200" baseline="0" dirty="0" smtClean="0">
                <a:solidFill>
                  <a:schemeClr val="tx1"/>
                </a:solidFill>
                <a:latin typeface="+mn-lt"/>
                <a:ea typeface="+mn-ea"/>
                <a:cs typeface="+mn-cs"/>
              </a:rPr>
              <a:t>Test plan and test reports</a:t>
            </a:r>
          </a:p>
          <a:p>
            <a:pPr marL="228600" indent="-228600">
              <a:buFont typeface="+mj-lt"/>
              <a:buAutoNum type="arabicPeriod"/>
            </a:pPr>
            <a:r>
              <a:rPr lang="en-US" sz="1200" kern="1200" baseline="0" dirty="0" smtClean="0">
                <a:solidFill>
                  <a:schemeClr val="tx1"/>
                </a:solidFill>
                <a:latin typeface="+mn-lt"/>
                <a:ea typeface="+mn-ea"/>
                <a:cs typeface="+mn-cs"/>
              </a:rPr>
              <a:t>Final code</a:t>
            </a:r>
          </a:p>
          <a:p>
            <a:pPr marL="228600" indent="-228600">
              <a:buFont typeface="+mj-lt"/>
              <a:buAutoNum type="arabicPeriod"/>
            </a:pPr>
            <a:r>
              <a:rPr lang="en-US" sz="1200" kern="1200" baseline="0" dirty="0" smtClean="0">
                <a:solidFill>
                  <a:schemeClr val="tx1"/>
                </a:solidFill>
                <a:latin typeface="+mn-lt"/>
                <a:ea typeface="+mn-ea"/>
                <a:cs typeface="+mn-cs"/>
              </a:rPr>
              <a:t>Software manuals (e.g., user, installation, etc.)</a:t>
            </a:r>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31</a:t>
            </a:fld>
            <a:endParaRPr lang="ru-RU"/>
          </a:p>
        </p:txBody>
      </p:sp>
    </p:spTree>
    <p:extLst>
      <p:ext uri="{BB962C8B-B14F-4D97-AF65-F5344CB8AC3E}">
        <p14:creationId xmlns:p14="http://schemas.microsoft.com/office/powerpoint/2010/main" val="19823965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en-US" sz="1200" kern="1200" baseline="0" dirty="0" smtClean="0">
                <a:solidFill>
                  <a:schemeClr val="tx1"/>
                </a:solidFill>
                <a:latin typeface="+mn-lt"/>
                <a:ea typeface="+mn-ea"/>
                <a:cs typeface="+mn-cs"/>
              </a:rPr>
              <a:t>That is, when the activities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a phase are completed, there should be some product that is produced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by that phase.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Результат каждого последующего этапа часто называется продуктом труда и обычно имеет форму некоторого документа (например, описания требований или описание проекта).</a:t>
            </a:r>
          </a:p>
          <a:p>
            <a:r>
              <a:rPr lang="en-US" sz="1200" kern="1200" baseline="0" dirty="0" smtClean="0">
                <a:solidFill>
                  <a:schemeClr val="tx1"/>
                </a:solidFill>
                <a:latin typeface="+mn-lt"/>
                <a:ea typeface="+mn-ea"/>
                <a:cs typeface="+mn-cs"/>
              </a:rPr>
              <a:t>The outputs of the earlier phases are often called work products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are usually in the form of documents like the requirements document or</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design document.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For the coding phase, the output is the code.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Though the set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documents that should be produced in a project is dependent on how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 is implemented,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following documents generally form a reasonable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set that should be produced in each project:</a:t>
            </a:r>
          </a:p>
          <a:p>
            <a:pPr marL="228600" indent="-228600">
              <a:buFont typeface="+mj-lt"/>
              <a:buAutoNum type="arabicPeriod"/>
            </a:pPr>
            <a:r>
              <a:rPr lang="en-US" sz="1200" kern="1200" baseline="0" dirty="0" smtClean="0">
                <a:solidFill>
                  <a:schemeClr val="tx1"/>
                </a:solidFill>
                <a:latin typeface="+mn-lt"/>
                <a:ea typeface="+mn-ea"/>
                <a:cs typeface="+mn-cs"/>
              </a:rPr>
              <a:t>Requirements document</a:t>
            </a:r>
          </a:p>
          <a:p>
            <a:pPr marL="228600" indent="-228600">
              <a:buFont typeface="+mj-lt"/>
              <a:buAutoNum type="arabicPeriod"/>
            </a:pPr>
            <a:r>
              <a:rPr lang="en-US" sz="1200" kern="1200" baseline="0" dirty="0" smtClean="0">
                <a:solidFill>
                  <a:schemeClr val="tx1"/>
                </a:solidFill>
                <a:latin typeface="+mn-lt"/>
                <a:ea typeface="+mn-ea"/>
                <a:cs typeface="+mn-cs"/>
              </a:rPr>
              <a:t>Project plan</a:t>
            </a:r>
          </a:p>
          <a:p>
            <a:pPr marL="228600" indent="-228600">
              <a:buFont typeface="+mj-lt"/>
              <a:buAutoNum type="arabicPeriod"/>
            </a:pPr>
            <a:r>
              <a:rPr lang="en-US" sz="1200" kern="1200" baseline="0" dirty="0" smtClean="0">
                <a:solidFill>
                  <a:schemeClr val="tx1"/>
                </a:solidFill>
                <a:latin typeface="+mn-lt"/>
                <a:ea typeface="+mn-ea"/>
                <a:cs typeface="+mn-cs"/>
              </a:rPr>
              <a:t>Design documents (architecture, system, detailed)</a:t>
            </a:r>
          </a:p>
          <a:p>
            <a:pPr marL="228600" indent="-228600">
              <a:buFont typeface="+mj-lt"/>
              <a:buAutoNum type="arabicPeriod"/>
            </a:pPr>
            <a:r>
              <a:rPr lang="en-US" sz="1200" kern="1200" baseline="0" dirty="0" smtClean="0">
                <a:solidFill>
                  <a:schemeClr val="tx1"/>
                </a:solidFill>
                <a:latin typeface="+mn-lt"/>
                <a:ea typeface="+mn-ea"/>
                <a:cs typeface="+mn-cs"/>
              </a:rPr>
              <a:t>Test plan and test reports</a:t>
            </a:r>
          </a:p>
          <a:p>
            <a:pPr marL="228600" indent="-228600">
              <a:buFont typeface="+mj-lt"/>
              <a:buAutoNum type="arabicPeriod"/>
            </a:pPr>
            <a:r>
              <a:rPr lang="en-US" sz="1200" kern="1200" baseline="0" dirty="0" smtClean="0">
                <a:solidFill>
                  <a:schemeClr val="tx1"/>
                </a:solidFill>
                <a:latin typeface="+mn-lt"/>
                <a:ea typeface="+mn-ea"/>
                <a:cs typeface="+mn-cs"/>
              </a:rPr>
              <a:t>Final code</a:t>
            </a:r>
          </a:p>
          <a:p>
            <a:pPr marL="228600" indent="-228600">
              <a:buFont typeface="+mj-lt"/>
              <a:buAutoNum type="arabicPeriod"/>
            </a:pPr>
            <a:r>
              <a:rPr lang="en-US" sz="1200" kern="1200" baseline="0" dirty="0" smtClean="0">
                <a:solidFill>
                  <a:schemeClr val="tx1"/>
                </a:solidFill>
                <a:latin typeface="+mn-lt"/>
                <a:ea typeface="+mn-ea"/>
                <a:cs typeface="+mn-cs"/>
              </a:rPr>
              <a:t>Software manuals (e.g., user, installation, etc.)</a:t>
            </a:r>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32</a:t>
            </a:fld>
            <a:endParaRPr lang="ru-RU"/>
          </a:p>
        </p:txBody>
      </p:sp>
    </p:spTree>
    <p:extLst>
      <p:ext uri="{BB962C8B-B14F-4D97-AF65-F5344CB8AC3E}">
        <p14:creationId xmlns:p14="http://schemas.microsoft.com/office/powerpoint/2010/main" val="3570283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One of the main advantages of the waterfall model is its simplicity.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It is conceptually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straightforward and divides the large task of building a software system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into a series of cleanly divided phases,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each phase dealing with a separate logical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concern.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It is also easy to administer in a contractual setup</a:t>
            </a:r>
            <a:r>
              <a:rPr lang="ru-RU" sz="1200" kern="1200" baseline="0" dirty="0" smtClean="0">
                <a:solidFill>
                  <a:schemeClr val="tx1"/>
                </a:solidFill>
                <a:latin typeface="+mn-lt"/>
                <a:ea typeface="+mn-ea"/>
                <a:cs typeface="+mn-cs"/>
              </a:rPr>
              <a:t> - </a:t>
            </a:r>
            <a:r>
              <a:rPr lang="en-US" sz="1200" kern="1200" baseline="0" dirty="0" smtClean="0">
                <a:solidFill>
                  <a:schemeClr val="tx1"/>
                </a:solidFill>
                <a:latin typeface="+mn-lt"/>
                <a:ea typeface="+mn-ea"/>
                <a:cs typeface="+mn-cs"/>
              </a:rPr>
              <a:t>as each phase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is completed and its work product produced, some amount of money is given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by the customer to the developing organization.</a:t>
            </a:r>
          </a:p>
          <a:p>
            <a:endParaRPr lang="ru-RU" sz="1200" kern="1200" baseline="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Преимущества</a:t>
            </a:r>
            <a:r>
              <a:rPr lang="ru-RU" sz="1200" b="0" i="0" kern="1200" dirty="0" smtClean="0">
                <a:solidFill>
                  <a:schemeClr val="tx1"/>
                </a:solidFill>
                <a:latin typeface="+mn-lt"/>
                <a:ea typeface="+mn-ea"/>
                <a:cs typeface="+mn-cs"/>
              </a:rPr>
              <a:t>:</a:t>
            </a:r>
          </a:p>
          <a:p>
            <a:pPr marL="228600" indent="-228600">
              <a:buFont typeface="+mj-lt"/>
              <a:buAutoNum type="arabicPeriod"/>
            </a:pPr>
            <a:r>
              <a:rPr lang="ru-RU" sz="1200" b="0" i="0" kern="1200" dirty="0" smtClean="0">
                <a:solidFill>
                  <a:schemeClr val="tx1"/>
                </a:solidFill>
                <a:latin typeface="+mn-lt"/>
                <a:ea typeface="+mn-ea"/>
                <a:cs typeface="+mn-cs"/>
              </a:rPr>
              <a:t>Простота</a:t>
            </a:r>
          </a:p>
          <a:p>
            <a:pPr marL="228600" indent="-228600">
              <a:buFont typeface="+mj-lt"/>
              <a:buAutoNum type="arabicPeriod"/>
            </a:pPr>
            <a:r>
              <a:rPr lang="ru-RU" sz="1200" b="0" i="0" kern="1200" dirty="0" smtClean="0">
                <a:solidFill>
                  <a:schemeClr val="tx1"/>
                </a:solidFill>
                <a:latin typeface="+mn-lt"/>
                <a:ea typeface="+mn-ea"/>
                <a:cs typeface="+mn-cs"/>
              </a:rPr>
              <a:t>Полная и согласованная документация на каждом этапе;</a:t>
            </a:r>
          </a:p>
          <a:p>
            <a:pPr marL="228600" indent="-228600">
              <a:buFont typeface="+mj-lt"/>
              <a:buAutoNum type="arabicPeriod"/>
            </a:pPr>
            <a:r>
              <a:rPr lang="ru-RU" sz="1200" b="0" i="0" kern="1200" dirty="0" smtClean="0">
                <a:solidFill>
                  <a:schemeClr val="tx1"/>
                </a:solidFill>
                <a:latin typeface="+mn-lt"/>
                <a:ea typeface="+mn-ea"/>
                <a:cs typeface="+mn-cs"/>
              </a:rPr>
              <a:t>Легко определить сроки и затраты на проект.</a:t>
            </a: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33</a:t>
            </a:fld>
            <a:endParaRPr lang="ru-RU"/>
          </a:p>
        </p:txBody>
      </p:sp>
    </p:spTree>
    <p:extLst>
      <p:ext uri="{BB962C8B-B14F-4D97-AF65-F5344CB8AC3E}">
        <p14:creationId xmlns:p14="http://schemas.microsoft.com/office/powerpoint/2010/main" val="3237534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mn-lt"/>
                <a:ea typeface="+mn-ea"/>
                <a:cs typeface="+mn-cs"/>
              </a:rPr>
              <a:t>The waterfall model, although widely used, has some strong limitations.</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Some of the key limitations are:</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Предполагается, что </a:t>
            </a:r>
            <a:r>
              <a:rPr lang="ru-RU" b="1" i="1" dirty="0" smtClean="0"/>
              <a:t>требования к разрабатываемой системе м.б. неизменными (заморожены) </a:t>
            </a:r>
            <a:r>
              <a:rPr lang="ru-RU" dirty="0" smtClean="0"/>
              <a:t>до начала проектирования.</a:t>
            </a:r>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b="1" i="1" dirty="0" smtClean="0"/>
              <a:t>Замораживание требований обычно требует выбора технического обеспечения</a:t>
            </a:r>
            <a:r>
              <a:rPr lang="en-US" b="1" i="1" dirty="0" smtClean="0"/>
              <a:t> </a:t>
            </a:r>
            <a:r>
              <a:rPr lang="en-US" dirty="0" smtClean="0"/>
              <a:t>(</a:t>
            </a:r>
            <a:r>
              <a:rPr lang="ru-RU" dirty="0" smtClean="0"/>
              <a:t>т.к. это составляет часть спецификации требований</a:t>
            </a:r>
            <a:r>
              <a:rPr lang="en-US" dirty="0" smtClean="0"/>
              <a:t>). </a:t>
            </a:r>
            <a:endParaRPr lang="ru-RU" dirty="0" smtClean="0"/>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Вызывает подход «большого взрыва» - полное ПО предоставляется за один раз, в конце разработки.</a:t>
            </a:r>
          </a:p>
          <a:p>
            <a:endParaRPr lang="ru-RU" sz="1200" kern="1200" baseline="0" dirty="0" smtClean="0">
              <a:solidFill>
                <a:schemeClr val="tx1"/>
              </a:solidFill>
              <a:latin typeface="+mn-lt"/>
              <a:ea typeface="+mn-ea"/>
              <a:cs typeface="+mn-cs"/>
            </a:endParaRPr>
          </a:p>
          <a:p>
            <a:pPr marL="514350" marR="0" indent="-514350" algn="l" defTabSz="914400" rtl="0" eaLnBrk="1" fontAlgn="auto" latinLnBrk="0" hangingPunct="1">
              <a:lnSpc>
                <a:spcPct val="100000"/>
              </a:lnSpc>
              <a:spcBef>
                <a:spcPts val="0"/>
              </a:spcBef>
              <a:spcAft>
                <a:spcPts val="0"/>
              </a:spcAft>
              <a:buClrTx/>
              <a:buSzTx/>
              <a:buFont typeface="+mj-lt"/>
              <a:buNone/>
              <a:tabLst/>
              <a:defRPr/>
            </a:pPr>
            <a:r>
              <a:rPr lang="ru-RU" dirty="0" smtClean="0"/>
              <a:t>Поощряется «раздувание требований». </a:t>
            </a:r>
          </a:p>
          <a:p>
            <a:endParaRPr lang="ru-RU" sz="1200" kern="1200" baseline="0" dirty="0" smtClean="0">
              <a:solidFill>
                <a:schemeClr val="tx1"/>
              </a:solidFill>
              <a:latin typeface="+mn-lt"/>
              <a:ea typeface="+mn-ea"/>
              <a:cs typeface="+mn-cs"/>
            </a:endParaRPr>
          </a:p>
          <a:p>
            <a:r>
              <a:rPr lang="ru-RU" dirty="0" smtClean="0"/>
              <a:t>Данная модель является управляемой документами, что требует создание формального документа в конце каждого этапа.</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Недостатки</a:t>
            </a:r>
            <a:r>
              <a:rPr lang="ru-RU" sz="1200" b="0" i="0" kern="1200" dirty="0" smtClean="0">
                <a:solidFill>
                  <a:schemeClr val="tx1"/>
                </a:solidFill>
                <a:latin typeface="+mn-lt"/>
                <a:ea typeface="+mn-ea"/>
                <a:cs typeface="+mn-cs"/>
              </a:rPr>
              <a:t>:</a:t>
            </a:r>
          </a:p>
          <a:p>
            <a:r>
              <a:rPr lang="ru-RU" sz="1200" b="0" i="0" kern="1200" dirty="0" smtClean="0">
                <a:solidFill>
                  <a:schemeClr val="tx1"/>
                </a:solidFill>
                <a:latin typeface="+mn-lt"/>
                <a:ea typeface="+mn-ea"/>
                <a:cs typeface="+mn-cs"/>
              </a:rPr>
              <a:t>В водопадной модели переход от одной фазы проекта к другой предполагает полную корректность результата (выхода) предыдущей фазы.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Однако неточность какого-либо требования или некорректная его интерпретация в результате приводит к тому, что приходится «откатываться» к ранней фазе проекта и требуемая переработка не просто выбивает проектную команду из графика, но приводит часто к качественному росту затрат и, не исключено, к прекращению проекта в той форме, в которой он изначально задумывался.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По мнению современных специалистов, основное заблуждение авторов водопадной модели состоит в предположениях, что </a:t>
            </a:r>
          </a:p>
          <a:p>
            <a:pPr>
              <a:buFont typeface="Arial" pitchFamily="34" charset="0"/>
              <a:buChar char="•"/>
            </a:pPr>
            <a:r>
              <a:rPr lang="ru-RU" sz="1200" b="0" i="0" kern="1200" dirty="0" smtClean="0">
                <a:solidFill>
                  <a:schemeClr val="tx1"/>
                </a:solidFill>
                <a:latin typeface="+mn-lt"/>
                <a:ea typeface="+mn-ea"/>
                <a:cs typeface="+mn-cs"/>
              </a:rPr>
              <a:t> проект проходит через весь процесс один раз, </a:t>
            </a:r>
          </a:p>
          <a:p>
            <a:pPr>
              <a:buFont typeface="Arial" pitchFamily="34" charset="0"/>
              <a:buChar char="•"/>
            </a:pPr>
            <a:r>
              <a:rPr lang="ru-RU" sz="1200" b="0" i="0" kern="1200" dirty="0" smtClean="0">
                <a:solidFill>
                  <a:schemeClr val="tx1"/>
                </a:solidFill>
                <a:latin typeface="+mn-lt"/>
                <a:ea typeface="+mn-ea"/>
                <a:cs typeface="+mn-cs"/>
              </a:rPr>
              <a:t> спроектированная архитектура хороша и проста в использовании, </a:t>
            </a:r>
          </a:p>
          <a:p>
            <a:pPr>
              <a:buFont typeface="Arial" pitchFamily="34" charset="0"/>
              <a:buChar char="•"/>
            </a:pPr>
            <a:r>
              <a:rPr lang="ru-RU" sz="1200" b="0" i="0" kern="1200" dirty="0" smtClean="0">
                <a:solidFill>
                  <a:schemeClr val="tx1"/>
                </a:solidFill>
                <a:latin typeface="+mn-lt"/>
                <a:ea typeface="+mn-ea"/>
                <a:cs typeface="+mn-cs"/>
              </a:rPr>
              <a:t> проект осуществления разумен, а ошибки в реализации легко устраняются по мере тестирования. </a:t>
            </a:r>
          </a:p>
          <a:p>
            <a:pPr>
              <a:buFont typeface="Arial" pitchFamily="34" charset="0"/>
              <a:buNone/>
            </a:pPr>
            <a:endParaRPr lang="ru-RU" sz="1200" b="0" i="0" kern="1200" dirty="0" smtClean="0">
              <a:solidFill>
                <a:schemeClr val="tx1"/>
              </a:solidFill>
              <a:latin typeface="+mn-lt"/>
              <a:ea typeface="+mn-ea"/>
              <a:cs typeface="+mn-cs"/>
            </a:endParaRPr>
          </a:p>
          <a:p>
            <a:pPr>
              <a:buFont typeface="Arial" pitchFamily="34" charset="0"/>
              <a:buNone/>
            </a:pPr>
            <a:r>
              <a:rPr lang="ru-RU" sz="1200" b="0" i="0" kern="1200" dirty="0" smtClean="0">
                <a:solidFill>
                  <a:schemeClr val="tx1"/>
                </a:solidFill>
                <a:latin typeface="+mn-lt"/>
                <a:ea typeface="+mn-ea"/>
                <a:cs typeface="+mn-cs"/>
              </a:rPr>
              <a:t>Эта модель исходит из того, что все ошибки будут сосредоточены в реализации, а потому их устранение происходит равномерно во время тестирования компонентов и </a:t>
            </a:r>
            <a:r>
              <a:rPr lang="ru-RU" sz="1200" b="0" i="0" kern="1200" dirty="0" smtClean="0">
                <a:solidFill>
                  <a:schemeClr val="tx1"/>
                </a:solidFill>
                <a:latin typeface="+mn-lt"/>
                <a:ea typeface="+mn-ea"/>
                <a:cs typeface="+mn-cs"/>
              </a:rPr>
              <a:t>системы</a:t>
            </a:r>
            <a:endParaRPr lang="ru-RU" sz="1200" b="0" i="0" kern="1200" dirty="0" smtClean="0">
              <a:solidFill>
                <a:schemeClr val="tx1"/>
              </a:solidFill>
              <a:latin typeface="+mn-lt"/>
              <a:ea typeface="+mn-ea"/>
              <a:cs typeface="+mn-cs"/>
            </a:endParaRPr>
          </a:p>
          <a:p>
            <a:pPr>
              <a:buFont typeface="Arial" pitchFamily="34" charset="0"/>
              <a:buNone/>
            </a:pPr>
            <a:endParaRPr lang="ru-RU" sz="1200" b="0" i="0" kern="1200" dirty="0" smtClean="0">
              <a:solidFill>
                <a:schemeClr val="tx1"/>
              </a:solidFill>
              <a:latin typeface="+mn-lt"/>
              <a:ea typeface="+mn-ea"/>
              <a:cs typeface="+mn-cs"/>
            </a:endParaRPr>
          </a:p>
          <a:p>
            <a:pPr>
              <a:buFont typeface="Arial" pitchFamily="34" charset="0"/>
              <a:buNone/>
            </a:pPr>
            <a:r>
              <a:rPr lang="ru-RU" sz="1200" b="1" i="0" kern="1200" dirty="0" smtClean="0">
                <a:solidFill>
                  <a:schemeClr val="tx1"/>
                </a:solidFill>
                <a:latin typeface="+mn-lt"/>
                <a:ea typeface="+mn-ea"/>
                <a:cs typeface="+mn-cs"/>
              </a:rPr>
              <a:t>Таким образом, водопадная модель для крупных проектов мало реалистична и может быть эффективно использована только для создания небольших </a:t>
            </a:r>
            <a:r>
              <a:rPr lang="ru-RU" sz="1200" b="1" i="0" kern="1200" dirty="0" smtClean="0">
                <a:solidFill>
                  <a:schemeClr val="tx1"/>
                </a:solidFill>
                <a:latin typeface="+mn-lt"/>
                <a:ea typeface="+mn-ea"/>
                <a:cs typeface="+mn-cs"/>
              </a:rPr>
              <a:t>систем</a:t>
            </a:r>
            <a:endParaRPr lang="ru-RU" sz="1200" b="1" i="0" kern="1200" dirty="0" smtClean="0">
              <a:solidFill>
                <a:schemeClr val="tx1"/>
              </a:solidFill>
              <a:latin typeface="+mn-lt"/>
              <a:ea typeface="+mn-ea"/>
              <a:cs typeface="+mn-cs"/>
            </a:endParaRPr>
          </a:p>
          <a:p>
            <a:endParaRPr lang="ru-RU" dirty="0" smtClean="0"/>
          </a:p>
          <a:p>
            <a:r>
              <a:rPr lang="ru-RU" dirty="0" smtClean="0"/>
              <a:t>Несмотря на эти недостатки, модель водопада была одной из наиболее широко используемых моделей процесса разработки ПО</a:t>
            </a:r>
            <a:r>
              <a:rPr lang="en-US" dirty="0" smtClean="0"/>
              <a:t>. </a:t>
            </a:r>
            <a:endParaRPr lang="ru-RU" dirty="0" smtClean="0"/>
          </a:p>
          <a:p>
            <a:r>
              <a:rPr lang="ru-RU" dirty="0" smtClean="0"/>
              <a:t>Данная модель хорошо подходит для рутинных проектов, в которых хорошо понятны требования</a:t>
            </a:r>
            <a:r>
              <a:rPr lang="en-US" dirty="0" smtClean="0"/>
              <a:t>. </a:t>
            </a:r>
            <a:endParaRPr lang="ru-RU" dirty="0" smtClean="0"/>
          </a:p>
          <a:p>
            <a:r>
              <a:rPr lang="ru-RU" dirty="0" smtClean="0"/>
              <a:t>Таким образом, если:</a:t>
            </a:r>
          </a:p>
          <a:p>
            <a:pPr marL="628650" lvl="1" indent="-228600">
              <a:buFont typeface="+mj-lt"/>
              <a:buAutoNum type="arabicPeriod"/>
            </a:pPr>
            <a:r>
              <a:rPr lang="ru-RU" dirty="0" smtClean="0"/>
              <a:t>разрабатывающая организация достаточно хорошо знакома с предметной областью,</a:t>
            </a:r>
          </a:p>
          <a:p>
            <a:pPr marL="628650" lvl="1" indent="-228600">
              <a:buFont typeface="+mj-lt"/>
              <a:buAutoNum type="arabicPeriod"/>
            </a:pPr>
            <a:r>
              <a:rPr lang="ru-RU" dirty="0" smtClean="0"/>
              <a:t> требования к ПО являются достаточно ясными</a:t>
            </a:r>
            <a:r>
              <a:rPr lang="en-US" dirty="0" smtClean="0"/>
              <a:t>, </a:t>
            </a:r>
            <a:r>
              <a:rPr lang="ru-RU" dirty="0" smtClean="0"/>
              <a:t>тогда модель водопада хорошо работает и может быть наиболее эффективным процессом</a:t>
            </a:r>
            <a:r>
              <a:rPr lang="en-US" dirty="0" smtClean="0"/>
              <a:t>.</a:t>
            </a:r>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34</a:t>
            </a:fld>
            <a:endParaRPr lang="ru-RU"/>
          </a:p>
        </p:txBody>
      </p:sp>
    </p:spTree>
    <p:extLst>
      <p:ext uri="{BB962C8B-B14F-4D97-AF65-F5344CB8AC3E}">
        <p14:creationId xmlns:p14="http://schemas.microsoft.com/office/powerpoint/2010/main" val="1200233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a:bodyPr>
          <a:lstStyle/>
          <a:p>
            <a:r>
              <a:rPr lang="ru-RU" sz="1200" b="1" i="0" kern="1200" dirty="0" smtClean="0">
                <a:solidFill>
                  <a:schemeClr val="tx1"/>
                </a:solidFill>
                <a:latin typeface="+mn-lt"/>
                <a:ea typeface="+mn-ea"/>
                <a:cs typeface="+mn-cs"/>
              </a:rPr>
              <a:t>V-образная модель</a:t>
            </a:r>
          </a:p>
          <a:p>
            <a:r>
              <a:rPr lang="ru-RU" sz="1200" b="0" i="0" kern="1200" dirty="0" smtClean="0">
                <a:solidFill>
                  <a:schemeClr val="tx1"/>
                </a:solidFill>
                <a:latin typeface="+mn-lt"/>
                <a:ea typeface="+mn-ea"/>
                <a:cs typeface="+mn-cs"/>
              </a:rPr>
              <a:t>Была предложена именно для того, чтобы устранить недостатки каскадной модели, а название – V-образная, или шарнирная – появилось из-за ее специфического графического представления </a:t>
            </a:r>
            <a:r>
              <a:rPr lang="ru-RU" sz="1200" b="0" i="0" kern="1200" dirty="0" smtClean="0">
                <a:solidFill>
                  <a:schemeClr val="tx1"/>
                </a:solidFill>
                <a:latin typeface="+mn-lt"/>
                <a:ea typeface="+mn-ea"/>
                <a:cs typeface="+mn-cs"/>
              </a:rPr>
              <a:t>на рисунке</a:t>
            </a:r>
            <a:endParaRPr lang="ru-RU" sz="1200" b="0" i="0" kern="1200" dirty="0" smtClean="0">
              <a:solidFill>
                <a:schemeClr val="tx1"/>
              </a:solidFill>
              <a:latin typeface="+mn-lt"/>
              <a:ea typeface="+mn-ea"/>
              <a:cs typeface="+mn-cs"/>
            </a:endParaRPr>
          </a:p>
          <a:p>
            <a:endParaRPr lang="ru-RU" dirty="0" smtClean="0"/>
          </a:p>
          <a:p>
            <a:r>
              <a:rPr lang="ru-RU" sz="1200" b="0" i="1" kern="1200" dirty="0" smtClean="0">
                <a:solidFill>
                  <a:schemeClr val="tx1"/>
                </a:solidFill>
                <a:latin typeface="+mn-lt"/>
                <a:ea typeface="+mn-ea"/>
                <a:cs typeface="+mn-cs"/>
              </a:rPr>
              <a:t>V-образная </a:t>
            </a:r>
            <a:r>
              <a:rPr lang="ru-RU" sz="1200" b="0" i="1" kern="1200" dirty="0" smtClean="0">
                <a:solidFill>
                  <a:schemeClr val="tx1"/>
                </a:solidFill>
                <a:latin typeface="+mn-lt"/>
                <a:ea typeface="+mn-ea"/>
                <a:cs typeface="+mn-cs"/>
              </a:rPr>
              <a:t>модель позволяет гораздо лучше контролировать результат на предмет его соответствия ожиданиям, поскольку сфокусирована на тестировании.</a:t>
            </a:r>
          </a:p>
          <a:p>
            <a:r>
              <a:rPr lang="ru-RU" sz="1200" b="0" i="0" kern="1200" dirty="0" smtClean="0">
                <a:solidFill>
                  <a:schemeClr val="tx1"/>
                </a:solidFill>
                <a:latin typeface="+mn-lt"/>
                <a:ea typeface="+mn-ea"/>
                <a:cs typeface="+mn-cs"/>
              </a:rPr>
              <a:t>V-образная модель дала возможность значительно повысить качество ПО за счет своей ориентации на тестирование, а также во многом разрешила проблему соответствия созданного продукта выдвигаемым требованиям благодаря процедурам верификации и аттестации на ранних стадиях разработки (пунктирные линии на рисунке указывают на зависимость этапов планирования/постановки задачи и тестирования/приемки).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Однако в целом V-образная модель является всего лишь модификацией каскадной и обладает многими ее недостатками. </a:t>
            </a:r>
          </a:p>
          <a:p>
            <a:r>
              <a:rPr lang="ru-RU" sz="1200" b="0" i="0" kern="1200" dirty="0" smtClean="0">
                <a:solidFill>
                  <a:schemeClr val="tx1"/>
                </a:solidFill>
                <a:latin typeface="+mn-lt"/>
                <a:ea typeface="+mn-ea"/>
                <a:cs typeface="+mn-cs"/>
              </a:rPr>
              <a:t>В частности, и та и другая слабо приспособлены к возможным изменениям требований заказчика. </a:t>
            </a:r>
          </a:p>
          <a:p>
            <a:r>
              <a:rPr lang="ru-RU" sz="1200" b="0" i="0" kern="1200" dirty="0" smtClean="0">
                <a:solidFill>
                  <a:schemeClr val="tx1"/>
                </a:solidFill>
                <a:latin typeface="+mn-lt"/>
                <a:ea typeface="+mn-ea"/>
                <a:cs typeface="+mn-cs"/>
              </a:rPr>
              <a:t>Если процесс разработки занимает продолжительное время (иногда до нескольких лет), то полученный в результате продукт может оказаться фактически ненужным заказчику, поскольку его потребности существенно изменились.</a:t>
            </a:r>
          </a:p>
          <a:p>
            <a:endParaRPr lang="ru-RU" dirty="0" smtClean="0"/>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35</a:t>
            </a:fld>
            <a:endParaRPr lang="ru-RU"/>
          </a:p>
        </p:txBody>
      </p:sp>
    </p:spTree>
    <p:extLst>
      <p:ext uri="{BB962C8B-B14F-4D97-AF65-F5344CB8AC3E}">
        <p14:creationId xmlns:p14="http://schemas.microsoft.com/office/powerpoint/2010/main" val="10586297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Prototyping</a:t>
            </a:r>
            <a:r>
              <a:rPr lang="ru-RU" sz="1200" b="1"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model</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goal of a prototyping-based development process is to counter the first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limitation of the waterfall model.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basic idea here is that instead of freezing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requirements before any design or coding can proceed,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 throwaway prototype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is built to help understand the 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prototype is developed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based on the currently known 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Development of the prototype obviously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undergoes design, coding, and testing, but each of these phases is not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done very formally or thoroughly.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By using this prototype, the client can get an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actual feel of the system, which can enable the client to better understand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requirements of the desired system.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results in more stable requirements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that change less frequently.</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37</a:t>
            </a:fld>
            <a:endParaRPr lang="ru-RU"/>
          </a:p>
        </p:txBody>
      </p:sp>
    </p:spTree>
    <p:extLst>
      <p:ext uri="{BB962C8B-B14F-4D97-AF65-F5344CB8AC3E}">
        <p14:creationId xmlns:p14="http://schemas.microsoft.com/office/powerpoint/2010/main" val="5224551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ru-RU" sz="1200" kern="1200" baseline="0" dirty="0" smtClean="0">
                <a:solidFill>
                  <a:schemeClr val="tx1"/>
                </a:solidFill>
                <a:latin typeface="+mn-lt"/>
                <a:ea typeface="+mn-ea"/>
                <a:cs typeface="+mn-cs"/>
              </a:rPr>
              <a:t>Прототипирование является привлекательной идеей для сложных и больших систем, для которых нет ручного процесса или существующей системы, которые могут помочь выявить требования.</a:t>
            </a:r>
          </a:p>
          <a:p>
            <a:r>
              <a:rPr lang="en-US" sz="1200" kern="1200" baseline="0" dirty="0" smtClean="0">
                <a:solidFill>
                  <a:schemeClr val="tx1"/>
                </a:solidFill>
                <a:latin typeface="+mn-lt"/>
                <a:ea typeface="+mn-ea"/>
                <a:cs typeface="+mn-cs"/>
              </a:rPr>
              <a:t>Prototyping is an attractive idea for complicated and large systems for</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which there is no manual process or existing system to help determine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В таких ситуациях, предоставление заказчику возможности «поиграть» с прототипом позволяет выявить неоценимые и неосязаемые результаты, которые могут помочь определить требования к системе.</a:t>
            </a:r>
          </a:p>
          <a:p>
            <a:r>
              <a:rPr lang="en-US" sz="1200" kern="1200" baseline="0" dirty="0" smtClean="0">
                <a:solidFill>
                  <a:schemeClr val="tx1"/>
                </a:solidFill>
                <a:latin typeface="+mn-lt"/>
                <a:ea typeface="+mn-ea"/>
                <a:cs typeface="+mn-cs"/>
              </a:rPr>
              <a:t>In such situations, letting the client “play” with the prototype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provides invaluable and intangible inputs that help determine the requirements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for the system.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ru-RU" dirty="0" smtClean="0"/>
              <a:t>Это также является эффективным методом </a:t>
            </a:r>
            <a:r>
              <a:rPr lang="ru-RU" b="1" i="1" dirty="0" smtClean="0"/>
              <a:t>демонстрации осуществимости некоторого подхода</a:t>
            </a:r>
            <a:r>
              <a:rPr lang="ru-RU" dirty="0" smtClean="0"/>
              <a:t>.</a:t>
            </a:r>
          </a:p>
          <a:p>
            <a:r>
              <a:rPr lang="en-US" sz="1200" kern="1200" baseline="0" dirty="0" smtClean="0">
                <a:solidFill>
                  <a:schemeClr val="tx1"/>
                </a:solidFill>
                <a:latin typeface="+mn-lt"/>
                <a:ea typeface="+mn-ea"/>
                <a:cs typeface="+mn-cs"/>
              </a:rPr>
              <a:t>It is also an effective method of </a:t>
            </a:r>
            <a:r>
              <a:rPr lang="en-US" sz="1200" b="1" i="1" kern="1200" baseline="0" dirty="0" smtClean="0">
                <a:solidFill>
                  <a:schemeClr val="tx1"/>
                </a:solidFill>
                <a:latin typeface="+mn-lt"/>
                <a:ea typeface="+mn-ea"/>
                <a:cs typeface="+mn-cs"/>
              </a:rPr>
              <a:t>demonstrating the feasibility</a:t>
            </a:r>
            <a:r>
              <a:rPr lang="ru-RU" sz="1200" b="1" i="1" kern="1200" baseline="0" dirty="0" smtClean="0">
                <a:solidFill>
                  <a:schemeClr val="tx1"/>
                </a:solidFill>
                <a:latin typeface="+mn-lt"/>
                <a:ea typeface="+mn-ea"/>
                <a:cs typeface="+mn-cs"/>
              </a:rPr>
              <a:t> </a:t>
            </a:r>
            <a:r>
              <a:rPr lang="en-US" sz="1200" b="1" i="1" kern="1200" baseline="0" dirty="0" smtClean="0">
                <a:solidFill>
                  <a:schemeClr val="tx1"/>
                </a:solidFill>
                <a:latin typeface="+mn-lt"/>
                <a:ea typeface="+mn-ea"/>
                <a:cs typeface="+mn-cs"/>
              </a:rPr>
              <a:t>of a certain approach</a:t>
            </a:r>
            <a:r>
              <a:rPr lang="en-US" sz="1200" kern="1200" baseline="0" dirty="0" smtClean="0">
                <a:solidFill>
                  <a:schemeClr val="tx1"/>
                </a:solidFill>
                <a:latin typeface="+mn-lt"/>
                <a:ea typeface="+mn-ea"/>
                <a:cs typeface="+mn-cs"/>
              </a:rPr>
              <a: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Это м.б. необходимым при разработке новых систем, когда не понятно, какие ограничения могут возникнуть, или какие алгоритмы могут быть разработаны для реализации  требований.</a:t>
            </a:r>
          </a:p>
          <a:p>
            <a:r>
              <a:rPr lang="en-US" sz="1200" kern="1200" baseline="0" dirty="0" smtClean="0">
                <a:solidFill>
                  <a:schemeClr val="tx1"/>
                </a:solidFill>
                <a:latin typeface="+mn-lt"/>
                <a:ea typeface="+mn-ea"/>
                <a:cs typeface="+mn-cs"/>
              </a:rPr>
              <a:t>This might be needed for novel systems, where it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not clear that constraints can be met or that algorithms can be developed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implement the 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both situations, the risks associated with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projects are being reduced through the use of prototyping.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38</a:t>
            </a:fld>
            <a:endParaRPr lang="ru-RU"/>
          </a:p>
        </p:txBody>
      </p:sp>
    </p:spTree>
    <p:extLst>
      <p:ext uri="{BB962C8B-B14F-4D97-AF65-F5344CB8AC3E}">
        <p14:creationId xmlns:p14="http://schemas.microsoft.com/office/powerpoint/2010/main" val="2309177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Схема модели прототипирования</a:t>
            </a:r>
          </a:p>
          <a:p>
            <a:endParaRPr lang="ru-RU" dirty="0" smtClean="0"/>
          </a:p>
          <a:p>
            <a:r>
              <a:rPr lang="ru-RU" sz="1200" kern="1200" dirty="0" smtClean="0">
                <a:solidFill>
                  <a:schemeClr val="tx1"/>
                </a:solidFill>
                <a:latin typeface="+mn-lt"/>
                <a:ea typeface="+mn-ea"/>
                <a:cs typeface="+mn-cs"/>
              </a:rPr>
              <a:t>Последовательность действий при макетировании представлена на рис. </a:t>
            </a:r>
          </a:p>
          <a:p>
            <a:pPr>
              <a:buFont typeface="Arial" pitchFamily="34" charset="0"/>
              <a:buChar char="•"/>
            </a:pPr>
            <a:r>
              <a:rPr lang="ru-RU" sz="1200" kern="1200" dirty="0" smtClean="0">
                <a:solidFill>
                  <a:schemeClr val="tx1"/>
                </a:solidFill>
                <a:latin typeface="+mn-lt"/>
                <a:ea typeface="+mn-ea"/>
                <a:cs typeface="+mn-cs"/>
              </a:rPr>
              <a:t>Макетирование начинается со сбора и уточнения требований к создаваемому ПО Разработчик и заказчик встречаются и определяют все цели ПО, устанавливают, какие требования известны, а какие предстоит доопределить.</a:t>
            </a:r>
          </a:p>
          <a:p>
            <a:pPr>
              <a:buFont typeface="Arial" pitchFamily="34" charset="0"/>
              <a:buChar char="•"/>
            </a:pPr>
            <a:r>
              <a:rPr lang="ru-RU" sz="1200" kern="1200" dirty="0" smtClean="0">
                <a:solidFill>
                  <a:schemeClr val="tx1"/>
                </a:solidFill>
                <a:latin typeface="+mn-lt"/>
                <a:ea typeface="+mn-ea"/>
                <a:cs typeface="+mn-cs"/>
              </a:rPr>
              <a:t>Затем выполняется быстрое проектирование. </a:t>
            </a:r>
          </a:p>
          <a:p>
            <a:pPr>
              <a:buFont typeface="Arial" pitchFamily="34" charset="0"/>
              <a:buChar char="•"/>
            </a:pPr>
            <a:r>
              <a:rPr lang="ru-RU" sz="1200" kern="1200" dirty="0" smtClean="0">
                <a:solidFill>
                  <a:schemeClr val="tx1"/>
                </a:solidFill>
                <a:latin typeface="+mn-lt"/>
                <a:ea typeface="+mn-ea"/>
                <a:cs typeface="+mn-cs"/>
              </a:rPr>
              <a:t>В нем внимание сосредоточивается на тех характеристиках ПО, которые должны быть видимы пользователю.</a:t>
            </a:r>
          </a:p>
          <a:p>
            <a:pPr>
              <a:buFont typeface="Arial" pitchFamily="34" charset="0"/>
              <a:buChar char="•"/>
            </a:pPr>
            <a:r>
              <a:rPr lang="ru-RU" sz="1200" kern="1200" dirty="0" smtClean="0">
                <a:solidFill>
                  <a:schemeClr val="tx1"/>
                </a:solidFill>
                <a:latin typeface="+mn-lt"/>
                <a:ea typeface="+mn-ea"/>
                <a:cs typeface="+mn-cs"/>
              </a:rPr>
              <a:t>Быстрое проектирование приводит к построению макета.</a:t>
            </a:r>
          </a:p>
          <a:p>
            <a:pPr>
              <a:buFont typeface="Arial" pitchFamily="34" charset="0"/>
              <a:buChar char="•"/>
            </a:pPr>
            <a:r>
              <a:rPr lang="ru-RU" sz="1200" kern="1200" dirty="0" smtClean="0">
                <a:solidFill>
                  <a:schemeClr val="tx1"/>
                </a:solidFill>
                <a:latin typeface="+mn-lt"/>
                <a:ea typeface="+mn-ea"/>
                <a:cs typeface="+mn-cs"/>
              </a:rPr>
              <a:t>Макет оценивается заказчиком и используется для уточнения требований к ПО.</a:t>
            </a:r>
          </a:p>
          <a:p>
            <a:pPr>
              <a:buFont typeface="Arial" pitchFamily="34" charset="0"/>
              <a:buChar char="•"/>
            </a:pPr>
            <a:r>
              <a:rPr lang="ru-RU" sz="1200" kern="1200" dirty="0" smtClean="0">
                <a:solidFill>
                  <a:schemeClr val="tx1"/>
                </a:solidFill>
                <a:latin typeface="+mn-lt"/>
                <a:ea typeface="+mn-ea"/>
                <a:cs typeface="+mn-cs"/>
              </a:rPr>
              <a:t>Итерации повторяются до тех пор, пока макет не выявит все требования заказчика и, тем самым, не даст возможность разработчику понять, что должно быть сделано.</a:t>
            </a:r>
          </a:p>
          <a:p>
            <a:pPr>
              <a:buFont typeface="Arial" pitchFamily="34" charset="0"/>
              <a:buChar char="•"/>
            </a:pPr>
            <a:endParaRPr lang="ru-RU" dirty="0" smtClean="0"/>
          </a:p>
          <a:p>
            <a:pPr>
              <a:buFont typeface="Arial" pitchFamily="34" charset="0"/>
              <a:buChar char="•"/>
            </a:pPr>
            <a:endParaRPr lang="ru-RU" dirty="0" smtClean="0"/>
          </a:p>
          <a:p>
            <a:pPr>
              <a:buFont typeface="Arial" pitchFamily="34" charset="0"/>
              <a:buChar char="•"/>
            </a:pPr>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39</a:t>
            </a:fld>
            <a:endParaRPr lang="ru-RU"/>
          </a:p>
        </p:txBody>
      </p:sp>
    </p:spTree>
    <p:extLst>
      <p:ext uri="{BB962C8B-B14F-4D97-AF65-F5344CB8AC3E}">
        <p14:creationId xmlns:p14="http://schemas.microsoft.com/office/powerpoint/2010/main" val="28421654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55000" lnSpcReduction="20000"/>
          </a:bodyPr>
          <a:lstStyle/>
          <a:p>
            <a:r>
              <a:rPr lang="ru-RU" sz="1200" kern="1200" baseline="0" dirty="0" smtClean="0">
                <a:solidFill>
                  <a:schemeClr val="tx1"/>
                </a:solidFill>
                <a:latin typeface="+mn-lt"/>
                <a:ea typeface="+mn-ea"/>
                <a:cs typeface="+mn-cs"/>
              </a:rPr>
              <a:t>Процесс разработки с использованием одноразового прототипирования обычно выполняется следующим образом:</a:t>
            </a:r>
          </a:p>
          <a:p>
            <a:r>
              <a:rPr lang="en-US" sz="1200" kern="1200" baseline="0" dirty="0" smtClean="0">
                <a:solidFill>
                  <a:schemeClr val="tx1"/>
                </a:solidFill>
                <a:latin typeface="+mn-lt"/>
                <a:ea typeface="+mn-ea"/>
                <a:cs typeface="+mn-cs"/>
              </a:rPr>
              <a:t>A development process using throwaway prototyping typically proceeds as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follows.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1. Разработка прототипа обычно начинается, когда разработана предварительная версия документа с спецификациями требований.</a:t>
            </a:r>
          </a:p>
          <a:p>
            <a:r>
              <a:rPr lang="en-US" sz="1200" kern="1200" baseline="0" dirty="0" smtClean="0">
                <a:solidFill>
                  <a:schemeClr val="tx1"/>
                </a:solidFill>
                <a:latin typeface="+mn-lt"/>
                <a:ea typeface="+mn-ea"/>
                <a:cs typeface="+mn-cs"/>
              </a:rPr>
              <a:t>The </a:t>
            </a:r>
            <a:r>
              <a:rPr lang="en-US" sz="1200" b="1" i="1" kern="1200" baseline="0" dirty="0" smtClean="0">
                <a:solidFill>
                  <a:schemeClr val="tx1"/>
                </a:solidFill>
                <a:latin typeface="+mn-lt"/>
                <a:ea typeface="+mn-ea"/>
                <a:cs typeface="+mn-cs"/>
              </a:rPr>
              <a:t>development of the prototype typically starts when the preliminary</a:t>
            </a:r>
            <a:r>
              <a:rPr lang="ru-RU" sz="1200" b="1" i="1" kern="1200" baseline="0" dirty="0" smtClean="0">
                <a:solidFill>
                  <a:schemeClr val="tx1"/>
                </a:solidFill>
                <a:latin typeface="+mn-lt"/>
                <a:ea typeface="+mn-ea"/>
                <a:cs typeface="+mn-cs"/>
              </a:rPr>
              <a:t> </a:t>
            </a:r>
            <a:r>
              <a:rPr lang="en-US" sz="1200" b="1" i="1" kern="1200" baseline="0" dirty="0" smtClean="0">
                <a:solidFill>
                  <a:schemeClr val="tx1"/>
                </a:solidFill>
                <a:latin typeface="+mn-lt"/>
                <a:ea typeface="+mn-ea"/>
                <a:cs typeface="+mn-cs"/>
              </a:rPr>
              <a:t>version of the requirements specification document</a:t>
            </a:r>
            <a:r>
              <a:rPr lang="en-US" sz="1200" kern="1200" baseline="0" dirty="0" smtClean="0">
                <a:solidFill>
                  <a:schemeClr val="tx1"/>
                </a:solidFill>
                <a:latin typeface="+mn-lt"/>
                <a:ea typeface="+mn-ea"/>
                <a:cs typeface="+mn-cs"/>
              </a:rPr>
              <a:t> has been developed.</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данном этапе уже имеется обоснованное понимание разрабатываемой ПС и требований к ней, а также понимание того, какие требования не понятны и возможно изменятся.</a:t>
            </a:r>
          </a:p>
          <a:p>
            <a:r>
              <a:rPr lang="en-US" sz="1200" kern="1200" baseline="0" dirty="0" smtClean="0">
                <a:solidFill>
                  <a:schemeClr val="tx1"/>
                </a:solidFill>
                <a:latin typeface="+mn-lt"/>
                <a:ea typeface="+mn-ea"/>
                <a:cs typeface="+mn-cs"/>
              </a:rPr>
              <a:t>At this stage, there is a reasonable understanding of the system and its needs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which needs are unclear or likely to change.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После разработки прототипа, конечные пользователи и заказчику получают возможность использовать и исследовать данный прототип.</a:t>
            </a:r>
          </a:p>
          <a:p>
            <a:r>
              <a:rPr lang="ru-RU" sz="1200" kern="1200" baseline="0" dirty="0" smtClean="0">
                <a:solidFill>
                  <a:schemeClr val="tx1"/>
                </a:solidFill>
                <a:latin typeface="+mn-lt"/>
                <a:ea typeface="+mn-ea"/>
                <a:cs typeface="+mn-cs"/>
              </a:rPr>
              <a:t>2. </a:t>
            </a:r>
            <a:r>
              <a:rPr lang="en-US" sz="1200" kern="1200" baseline="0" dirty="0" smtClean="0">
                <a:solidFill>
                  <a:schemeClr val="tx1"/>
                </a:solidFill>
                <a:latin typeface="+mn-lt"/>
                <a:ea typeface="+mn-ea"/>
                <a:cs typeface="+mn-cs"/>
              </a:rPr>
              <a:t>After the prototype has been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developed, the end users and clients are given an opportunity to use and explore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prototype.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основе полученного опыта, они описывают и передают разработчикам свои отзывы (обратная связь), относящиеся к данному прототипу: </a:t>
            </a:r>
          </a:p>
          <a:p>
            <a:pPr>
              <a:buFontTx/>
              <a:buChar char="-"/>
            </a:pP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что было сделано правильно</a:t>
            </a:r>
            <a:r>
              <a:rPr lang="en-US" sz="1200" kern="1200" baseline="0" dirty="0" smtClean="0">
                <a:solidFill>
                  <a:schemeClr val="tx1"/>
                </a:solidFill>
                <a:latin typeface="+mn-lt"/>
                <a:ea typeface="+mn-ea"/>
                <a:cs typeface="+mn-cs"/>
              </a:rPr>
              <a:t>;</a:t>
            </a:r>
          </a:p>
          <a:p>
            <a:pPr>
              <a:buFontTx/>
              <a:buChar char="-"/>
            </a:pP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чего не хватает</a:t>
            </a:r>
            <a:r>
              <a:rPr lang="en-US" sz="1200" kern="1200" baseline="0" dirty="0" smtClean="0">
                <a:solidFill>
                  <a:schemeClr val="tx1"/>
                </a:solidFill>
                <a:latin typeface="+mn-lt"/>
                <a:ea typeface="+mn-ea"/>
                <a:cs typeface="+mn-cs"/>
              </a:rPr>
              <a:t>;</a:t>
            </a:r>
          </a:p>
          <a:p>
            <a:pPr>
              <a:buFontTx/>
              <a:buChar char="-"/>
            </a:pP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что требуется добавить</a:t>
            </a:r>
          </a:p>
          <a:p>
            <a:pPr>
              <a:buFontTx/>
              <a:buChar char="-"/>
            </a:pPr>
            <a:r>
              <a:rPr lang="ru-RU" sz="1200" kern="1200" baseline="0" dirty="0" smtClean="0">
                <a:solidFill>
                  <a:schemeClr val="tx1"/>
                </a:solidFill>
                <a:latin typeface="+mn-lt"/>
                <a:ea typeface="+mn-ea"/>
                <a:cs typeface="+mn-cs"/>
              </a:rPr>
              <a:t> и т.п.</a:t>
            </a:r>
          </a:p>
          <a:p>
            <a:r>
              <a:rPr lang="ru-RU" sz="1200" kern="1200" baseline="0" dirty="0" smtClean="0">
                <a:solidFill>
                  <a:schemeClr val="tx1"/>
                </a:solidFill>
                <a:latin typeface="+mn-lt"/>
                <a:ea typeface="+mn-ea"/>
                <a:cs typeface="+mn-cs"/>
              </a:rPr>
              <a:t>3. </a:t>
            </a:r>
            <a:r>
              <a:rPr lang="en-US" sz="1200" kern="1200" baseline="0" dirty="0" smtClean="0">
                <a:solidFill>
                  <a:schemeClr val="tx1"/>
                </a:solidFill>
                <a:latin typeface="+mn-lt"/>
                <a:ea typeface="+mn-ea"/>
                <a:cs typeface="+mn-cs"/>
              </a:rPr>
              <a:t>Based on their experience, they provide feedback to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developers regarding the prototype: what is correct, what needs to be modified,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what is missing, what is not needed, etc.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основе таких отзывов выполняется доработка прототипа, чтобы включить в него некоторые предлагаемые изменения, которые можно просто сделать, а затем пользователям и заказчикам опять предоставляется возможность использовать данную ПС.</a:t>
            </a:r>
          </a:p>
          <a:p>
            <a:r>
              <a:rPr lang="ru-RU" sz="1200" kern="1200" baseline="0" dirty="0" smtClean="0">
                <a:solidFill>
                  <a:schemeClr val="tx1"/>
                </a:solidFill>
                <a:latin typeface="+mn-lt"/>
                <a:ea typeface="+mn-ea"/>
                <a:cs typeface="+mn-cs"/>
              </a:rPr>
              <a:t>4. </a:t>
            </a:r>
            <a:r>
              <a:rPr lang="en-US" sz="1200" kern="1200" baseline="0" dirty="0" smtClean="0">
                <a:solidFill>
                  <a:schemeClr val="tx1"/>
                </a:solidFill>
                <a:latin typeface="+mn-lt"/>
                <a:ea typeface="+mn-ea"/>
                <a:cs typeface="+mn-cs"/>
              </a:rPr>
              <a:t>Based on the feedback, the prototype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is modified to incorporate some of the suggested changes that can be done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easily, and then the users and the clients are again allowed to use the system.</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Такой цикл повторяется до тех пор, пока по оценке прототипа разработчиками и аналитиками, выгода от дальнейшего изменения данной системы и получения обратных отзывов  превышает стоимость и время, требуемые для выполнения изменений и получения отзывов.</a:t>
            </a:r>
          </a:p>
          <a:p>
            <a:r>
              <a:rPr lang="ru-RU" sz="1200" kern="1200" baseline="0" dirty="0" smtClean="0">
                <a:solidFill>
                  <a:schemeClr val="tx1"/>
                </a:solidFill>
                <a:latin typeface="+mn-lt"/>
                <a:ea typeface="+mn-ea"/>
                <a:cs typeface="+mn-cs"/>
              </a:rPr>
              <a:t>5. </a:t>
            </a:r>
            <a:r>
              <a:rPr lang="en-US" sz="1200" kern="1200" baseline="0" dirty="0" smtClean="0">
                <a:solidFill>
                  <a:schemeClr val="tx1"/>
                </a:solidFill>
                <a:latin typeface="+mn-lt"/>
                <a:ea typeface="+mn-ea"/>
                <a:cs typeface="+mn-cs"/>
              </a:rPr>
              <a:t>This cycle repeats until, in the judgment of the prototype developers and analysts,</a:t>
            </a:r>
            <a:r>
              <a:rPr lang="ru-RU" sz="1200" kern="1200" baseline="0" dirty="0" smtClean="0">
                <a:solidFill>
                  <a:schemeClr val="tx1"/>
                </a:solidFill>
                <a:latin typeface="+mn-lt"/>
                <a:ea typeface="+mn-ea"/>
                <a:cs typeface="+mn-cs"/>
              </a:rPr>
              <a:t> </a:t>
            </a:r>
          </a:p>
          <a:p>
            <a:r>
              <a:rPr lang="en-US" sz="1200" kern="1200" baseline="0" dirty="0" smtClean="0">
                <a:solidFill>
                  <a:schemeClr val="tx1"/>
                </a:solidFill>
                <a:latin typeface="+mn-lt"/>
                <a:ea typeface="+mn-ea"/>
                <a:cs typeface="+mn-cs"/>
              </a:rPr>
              <a:t>the benefit from further changing the system and obtaining feedback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outweighed by the cost and time involved in making the changes and obtaining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feedback.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основе такой обратной связи (отзывов), начальные требования модифицируются, чтобы получить окончательную спецификацию требований, которая затем используется разработки ПС производственного уровня.</a:t>
            </a:r>
          </a:p>
          <a:p>
            <a:r>
              <a:rPr lang="ru-RU" sz="1200" kern="1200" baseline="0" dirty="0" smtClean="0">
                <a:solidFill>
                  <a:schemeClr val="tx1"/>
                </a:solidFill>
                <a:latin typeface="+mn-lt"/>
                <a:ea typeface="+mn-ea"/>
                <a:cs typeface="+mn-cs"/>
              </a:rPr>
              <a:t>6. </a:t>
            </a:r>
            <a:r>
              <a:rPr lang="en-US" sz="1200" kern="1200" baseline="0" dirty="0" smtClean="0">
                <a:solidFill>
                  <a:schemeClr val="tx1"/>
                </a:solidFill>
                <a:latin typeface="+mn-lt"/>
                <a:ea typeface="+mn-ea"/>
                <a:cs typeface="+mn-cs"/>
              </a:rPr>
              <a:t>Based on the feedback, the initial requirements are modified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produce the final requirements specification, which is then used to develop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production quality system.</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40</a:t>
            </a:fld>
            <a:endParaRPr lang="ru-RU"/>
          </a:p>
        </p:txBody>
      </p:sp>
    </p:spTree>
    <p:extLst>
      <p:ext uri="{BB962C8B-B14F-4D97-AF65-F5344CB8AC3E}">
        <p14:creationId xmlns:p14="http://schemas.microsoft.com/office/powerpoint/2010/main" val="21543740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5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Для использования прототипа с целью анализа требований нужно, чтобы стоимость его разработки и изменения была низкой.</a:t>
            </a:r>
          </a:p>
          <a:p>
            <a:r>
              <a:rPr lang="en-US" sz="1200" kern="1200" baseline="0" dirty="0" smtClean="0">
                <a:solidFill>
                  <a:schemeClr val="tx1"/>
                </a:solidFill>
                <a:latin typeface="+mn-lt"/>
                <a:ea typeface="+mn-ea"/>
                <a:cs typeface="+mn-cs"/>
              </a:rPr>
              <a:t>For prototyping for the purposes of requirement analysis to be feasible,</a:t>
            </a:r>
            <a:r>
              <a:rPr lang="en-US" sz="1200" b="1" i="1" kern="1200" baseline="0" dirty="0" smtClean="0">
                <a:solidFill>
                  <a:schemeClr val="tx1"/>
                </a:solidFill>
                <a:latin typeface="+mn-lt"/>
                <a:ea typeface="+mn-ea"/>
                <a:cs typeface="+mn-cs"/>
              </a:rPr>
              <a:t> its cost must be kept low</a:t>
            </a:r>
            <a:r>
              <a:rPr lang="en-US"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Следовательно, только в прототип включаются только те возможности, которые будут полезными для получения отзыва от пользователей.</a:t>
            </a:r>
          </a:p>
          <a:p>
            <a:r>
              <a:rPr lang="en-US" sz="1200" kern="1200" baseline="0" dirty="0" smtClean="0">
                <a:solidFill>
                  <a:schemeClr val="tx1"/>
                </a:solidFill>
                <a:latin typeface="+mn-lt"/>
                <a:ea typeface="+mn-ea"/>
                <a:cs typeface="+mn-cs"/>
              </a:rPr>
              <a:t>Consequently, </a:t>
            </a:r>
            <a:r>
              <a:rPr lang="en-US" sz="1200" b="1" i="1" kern="1200" baseline="0" dirty="0" smtClean="0">
                <a:solidFill>
                  <a:schemeClr val="tx1"/>
                </a:solidFill>
                <a:latin typeface="+mn-lt"/>
                <a:ea typeface="+mn-ea"/>
                <a:cs typeface="+mn-cs"/>
              </a:rPr>
              <a:t>only those features are included in the prototype that will have a valuable return from the user experience</a:t>
            </a:r>
            <a:r>
              <a:rPr lang="en-US"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В прототип обычно не включается: обработка исключений, аварийное восстановление, соответствие стандартам и форматам и т.п.</a:t>
            </a:r>
          </a:p>
          <a:p>
            <a:r>
              <a:rPr lang="en-US" sz="1200" kern="1200" baseline="0" dirty="0" smtClean="0">
                <a:solidFill>
                  <a:schemeClr val="tx1"/>
                </a:solidFill>
                <a:latin typeface="+mn-lt"/>
                <a:ea typeface="+mn-ea"/>
                <a:cs typeface="+mn-cs"/>
              </a:rPr>
              <a:t>Exception handling, recovery, and conformance to some standards and formats are typically not included in prototypes.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При разработке прототипа, т.к. он выбрасывается, не включаются какие-либо модули для реализации тех частей требований, которые уже хорошо поняты.</a:t>
            </a:r>
          </a:p>
          <a:p>
            <a:r>
              <a:rPr lang="en-US" sz="1200" kern="1200" baseline="0" dirty="0" smtClean="0">
                <a:solidFill>
                  <a:schemeClr val="tx1"/>
                </a:solidFill>
                <a:latin typeface="+mn-lt"/>
                <a:ea typeface="+mn-ea"/>
                <a:cs typeface="+mn-cs"/>
              </a:rPr>
              <a:t>In prototyping, as the prototype is to be discarded, there is no point in implementing those parts of the requirements that are already well understood.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err="1" smtClean="0">
                <a:solidFill>
                  <a:schemeClr val="tx1"/>
                </a:solidFill>
                <a:latin typeface="+mn-lt"/>
                <a:ea typeface="+mn-ea"/>
                <a:cs typeface="+mn-cs"/>
              </a:rPr>
              <a:t>Сл-но</a:t>
            </a:r>
            <a:r>
              <a:rPr lang="ru-RU" sz="1200" kern="1200" baseline="0" dirty="0" smtClean="0">
                <a:solidFill>
                  <a:schemeClr val="tx1"/>
                </a:solidFill>
                <a:latin typeface="+mn-lt"/>
                <a:ea typeface="+mn-ea"/>
                <a:cs typeface="+mn-cs"/>
              </a:rPr>
              <a:t>, основное внимание при разработке прототипа уделяется включению тех возможностей ПО, которые не достаточно понятны.</a:t>
            </a:r>
          </a:p>
          <a:p>
            <a:r>
              <a:rPr lang="en-US" sz="1200" kern="1200" baseline="0" dirty="0" smtClean="0">
                <a:solidFill>
                  <a:schemeClr val="tx1"/>
                </a:solidFill>
                <a:latin typeface="+mn-lt"/>
                <a:ea typeface="+mn-ea"/>
                <a:cs typeface="+mn-cs"/>
              </a:rPr>
              <a:t>Hence, the focus of the development is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include those features that are not properly understood.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Для разработке прототипа используется «быстрый и грязный » подход, нацеленный на быструю разработку, а не на качество.</a:t>
            </a:r>
          </a:p>
          <a:p>
            <a:r>
              <a:rPr lang="en-US" sz="1200" kern="1200" baseline="0" dirty="0" smtClean="0">
                <a:solidFill>
                  <a:schemeClr val="tx1"/>
                </a:solidFill>
                <a:latin typeface="+mn-lt"/>
                <a:ea typeface="+mn-ea"/>
                <a:cs typeface="+mn-cs"/>
              </a:rPr>
              <a:t>And the </a:t>
            </a:r>
            <a:r>
              <a:rPr lang="en-US" sz="1200" b="1" i="1" kern="1200" baseline="0" dirty="0" smtClean="0">
                <a:solidFill>
                  <a:schemeClr val="tx1"/>
                </a:solidFill>
                <a:latin typeface="+mn-lt"/>
                <a:ea typeface="+mn-ea"/>
                <a:cs typeface="+mn-cs"/>
              </a:rPr>
              <a:t>development approach is “quick and dirty” with the focus on quick development rather than quality</a:t>
            </a:r>
            <a:r>
              <a:rPr lang="en-US"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Т.к. прототип выбрасывается, то для работы с ним создается только минимальная документация.</a:t>
            </a:r>
          </a:p>
          <a:p>
            <a:r>
              <a:rPr lang="en-US" sz="1200" kern="1200" baseline="0" dirty="0" smtClean="0">
                <a:solidFill>
                  <a:schemeClr val="tx1"/>
                </a:solidFill>
                <a:latin typeface="+mn-lt"/>
                <a:ea typeface="+mn-ea"/>
                <a:cs typeface="+mn-cs"/>
              </a:rPr>
              <a:t>Because the prototype is to be thrown away, </a:t>
            </a:r>
            <a:r>
              <a:rPr lang="en-US" sz="1200" b="1" i="1" kern="1200" baseline="0" dirty="0" smtClean="0">
                <a:solidFill>
                  <a:schemeClr val="tx1"/>
                </a:solidFill>
                <a:latin typeface="+mn-lt"/>
                <a:ea typeface="+mn-ea"/>
                <a:cs typeface="+mn-cs"/>
              </a:rPr>
              <a:t>only minimal documentation needs to be produced during prototyping.</a:t>
            </a:r>
            <a:r>
              <a:rPr lang="en-US" sz="1200" kern="1200" baseline="0" dirty="0" smtClean="0">
                <a:solidFill>
                  <a:schemeClr val="tx1"/>
                </a:solidFill>
                <a:latin typeface="+mn-lt"/>
                <a:ea typeface="+mn-ea"/>
                <a:cs typeface="+mn-cs"/>
              </a:rPr>
              <a: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Например, при разработке прототипа  не требуются документы проектирования, план тестирования и описание тестовых примеров.</a:t>
            </a:r>
          </a:p>
          <a:p>
            <a:r>
              <a:rPr lang="en-US" sz="1200" kern="1200" baseline="0" dirty="0" smtClean="0">
                <a:solidFill>
                  <a:schemeClr val="tx1"/>
                </a:solidFill>
                <a:latin typeface="+mn-lt"/>
                <a:ea typeface="+mn-ea"/>
                <a:cs typeface="+mn-cs"/>
              </a:rPr>
              <a:t>For example, design documents, a test plan, and a test case specification are not needed during the development of the prototype.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Другая важная возможность уменьшения стоимости заключается в уменьшении тестирования прототипа.</a:t>
            </a:r>
          </a:p>
          <a:p>
            <a:r>
              <a:rPr lang="en-US" sz="1200" kern="1200" baseline="0" dirty="0" smtClean="0">
                <a:solidFill>
                  <a:schemeClr val="tx1"/>
                </a:solidFill>
                <a:latin typeface="+mn-lt"/>
                <a:ea typeface="+mn-ea"/>
                <a:cs typeface="+mn-cs"/>
              </a:rPr>
              <a:t>Another important cost-cutting measure is to reduce testing.</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Т.к. при обычной разработке ПО на тестирование тратится большая часть общих расходов, то это значительно влияет на уменьшение стоимости создания прототипа.</a:t>
            </a:r>
          </a:p>
          <a:p>
            <a:r>
              <a:rPr lang="en-US" sz="1200" kern="1200" baseline="0" dirty="0" smtClean="0">
                <a:solidFill>
                  <a:schemeClr val="tx1"/>
                </a:solidFill>
                <a:latin typeface="+mn-lt"/>
                <a:ea typeface="+mn-ea"/>
                <a:cs typeface="+mn-cs"/>
              </a:rPr>
              <a:t>Because testing consumes a major part of development expenditure during regular software development, this has a considerable impact in reducing costs.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 помощью таких </a:t>
            </a:r>
            <a:r>
              <a:rPr lang="ru-RU" dirty="0" err="1" smtClean="0"/>
              <a:t>способов</a:t>
            </a:r>
            <a:r>
              <a:rPr lang="ru-RU" sz="1200" kern="1200" baseline="0" dirty="0" err="1" smtClean="0">
                <a:solidFill>
                  <a:schemeClr val="tx1"/>
                </a:solidFill>
                <a:latin typeface="+mn-lt"/>
                <a:ea typeface="+mn-ea"/>
                <a:cs typeface="+mn-cs"/>
              </a:rPr>
              <a:t>уменьшения</a:t>
            </a:r>
            <a:r>
              <a:rPr lang="ru-RU" sz="1200" kern="1200" baseline="0" dirty="0" smtClean="0">
                <a:solidFill>
                  <a:schemeClr val="tx1"/>
                </a:solidFill>
                <a:latin typeface="+mn-lt"/>
                <a:ea typeface="+mn-ea"/>
                <a:cs typeface="+mn-cs"/>
              </a:rPr>
              <a:t> затрат на разработку прототипа, возможно довести стоимость создания прототипа до нескольких процентов общей стоимости разработки.</a:t>
            </a:r>
          </a:p>
          <a:p>
            <a:r>
              <a:rPr lang="en-US" sz="1200" kern="1200" baseline="0" dirty="0" smtClean="0">
                <a:solidFill>
                  <a:schemeClr val="tx1"/>
                </a:solidFill>
                <a:latin typeface="+mn-lt"/>
                <a:ea typeface="+mn-ea"/>
                <a:cs typeface="+mn-cs"/>
              </a:rPr>
              <a:t>By using these types of cost-cutting methods, </a:t>
            </a:r>
            <a:r>
              <a:rPr lang="en-US" sz="1200" i="1" kern="1200" baseline="0" dirty="0" smtClean="0">
                <a:solidFill>
                  <a:schemeClr val="tx1"/>
                </a:solidFill>
                <a:latin typeface="+mn-lt"/>
                <a:ea typeface="+mn-ea"/>
                <a:cs typeface="+mn-cs"/>
              </a:rPr>
              <a:t>it is possible to keep the cost of the prototype to less than a f</a:t>
            </a:r>
            <a:r>
              <a:rPr lang="en-US" sz="1200" b="1" i="1" kern="1200" baseline="0" dirty="0" smtClean="0">
                <a:solidFill>
                  <a:schemeClr val="tx1"/>
                </a:solidFill>
                <a:latin typeface="+mn-lt"/>
                <a:ea typeface="+mn-ea"/>
                <a:cs typeface="+mn-cs"/>
              </a:rPr>
              <a:t>ew percent of the total development cost</a:t>
            </a:r>
            <a:r>
              <a:rPr lang="en-US" sz="1200" kern="1200" baseline="0" dirty="0" smtClean="0">
                <a:solidFill>
                  <a:schemeClr val="tx1"/>
                </a:solidFill>
                <a:latin typeface="+mn-lt"/>
                <a:ea typeface="+mn-ea"/>
                <a:cs typeface="+mn-cs"/>
              </a:rPr>
              <a:t>.</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41</a:t>
            </a:fld>
            <a:endParaRPr lang="ru-RU"/>
          </a:p>
        </p:txBody>
      </p:sp>
    </p:spTree>
    <p:extLst>
      <p:ext uri="{BB962C8B-B14F-4D97-AF65-F5344CB8AC3E}">
        <p14:creationId xmlns:p14="http://schemas.microsoft.com/office/powerpoint/2010/main" val="12997802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mn-lt"/>
                <a:ea typeface="+mn-ea"/>
                <a:cs typeface="+mn-cs"/>
              </a:rPr>
              <a:t>And the returns from this extra cost can be substantial. </a:t>
            </a:r>
          </a:p>
          <a:p>
            <a:endParaRPr lang="en-US"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Опыт полученный при разработке прототипа уменьшает стоимость разработки конечного ПО.</a:t>
            </a:r>
          </a:p>
          <a:p>
            <a:r>
              <a:rPr lang="ru-RU" sz="1200" kern="1200" baseline="0" dirty="0" smtClean="0">
                <a:solidFill>
                  <a:schemeClr val="tx1"/>
                </a:solidFill>
                <a:latin typeface="+mn-lt"/>
                <a:ea typeface="+mn-ea"/>
                <a:cs typeface="+mn-cs"/>
              </a:rPr>
              <a:t>1. </a:t>
            </a:r>
            <a:r>
              <a:rPr lang="en-US" sz="1200" kern="1200" baseline="0" dirty="0" smtClean="0">
                <a:solidFill>
                  <a:schemeClr val="tx1"/>
                </a:solidFill>
                <a:latin typeface="+mn-lt"/>
                <a:ea typeface="+mn-ea"/>
                <a:cs typeface="+mn-cs"/>
              </a:rPr>
              <a:t>First, the experience of developing the prototype will reduce the cost of the actual software development.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Получаются более стабильные требования, благодаря обратной связи с пользователями в требованиях будет меньше изменений.</a:t>
            </a:r>
          </a:p>
          <a:p>
            <a:r>
              <a:rPr lang="ru-RU" sz="1200" kern="1200" baseline="0" dirty="0" smtClean="0">
                <a:solidFill>
                  <a:schemeClr val="tx1"/>
                </a:solidFill>
                <a:latin typeface="+mn-lt"/>
                <a:ea typeface="+mn-ea"/>
                <a:cs typeface="+mn-cs"/>
              </a:rPr>
              <a:t>2. </a:t>
            </a:r>
            <a:r>
              <a:rPr lang="en-US" sz="1200" kern="1200" baseline="0" dirty="0" smtClean="0">
                <a:solidFill>
                  <a:schemeClr val="tx1"/>
                </a:solidFill>
                <a:latin typeface="+mn-lt"/>
                <a:ea typeface="+mn-ea"/>
                <a:cs typeface="+mn-cs"/>
              </a:rPr>
              <a:t>Second, as requirements will be more stable now due to the feedback from the prototype, there will be fewer changes in the requirements.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Consequently the costs incurred due to changes in the requirements will be substantially reduced.</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Вероятно, что качество конечного ПО будет намного лучше, в связи с тем, что опыт полученный разработчики в ходе создания прототипа позволит улучшить проектирование, составление кода и выполнения тестирования.</a:t>
            </a:r>
          </a:p>
          <a:p>
            <a:r>
              <a:rPr lang="ru-RU" sz="1200" kern="1200" baseline="0" dirty="0" smtClean="0">
                <a:solidFill>
                  <a:schemeClr val="tx1"/>
                </a:solidFill>
                <a:latin typeface="+mn-lt"/>
                <a:ea typeface="+mn-ea"/>
                <a:cs typeface="+mn-cs"/>
              </a:rPr>
              <a:t>3. </a:t>
            </a:r>
            <a:r>
              <a:rPr lang="en-US" sz="1200" kern="1200" baseline="0" dirty="0" smtClean="0">
                <a:solidFill>
                  <a:schemeClr val="tx1"/>
                </a:solidFill>
                <a:latin typeface="+mn-lt"/>
                <a:ea typeface="+mn-ea"/>
                <a:cs typeface="+mn-cs"/>
              </a:rPr>
              <a:t>Third, the quality of final software is likely to be far superior, as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experience engineers have obtained while developing the prototype will enable them to create a better design, write better code, and do better testing.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Разработка прототипа уменьшает риски выполнения проекта, связанные с не правильным пониманием требований заказчика. </a:t>
            </a:r>
          </a:p>
          <a:p>
            <a:r>
              <a:rPr lang="ru-RU" sz="1200" kern="1200" baseline="0" dirty="0" smtClean="0">
                <a:solidFill>
                  <a:schemeClr val="tx1"/>
                </a:solidFill>
                <a:latin typeface="+mn-lt"/>
                <a:ea typeface="+mn-ea"/>
                <a:cs typeface="+mn-cs"/>
              </a:rPr>
              <a:t>4. </a:t>
            </a:r>
            <a:r>
              <a:rPr lang="en-US" sz="1200" kern="1200" baseline="0" dirty="0" smtClean="0">
                <a:solidFill>
                  <a:schemeClr val="tx1"/>
                </a:solidFill>
                <a:latin typeface="+mn-lt"/>
                <a:ea typeface="+mn-ea"/>
                <a:cs typeface="+mn-cs"/>
              </a:rPr>
              <a:t>And finally, developing a prototype mitigates many risks that exist in a project where requirements are not well known.</a:t>
            </a:r>
          </a:p>
          <a:p>
            <a:endParaRPr lang="en-US" sz="1200" kern="1200" baseline="0" dirty="0" smtClean="0">
              <a:solidFill>
                <a:schemeClr val="tx1"/>
              </a:solidFill>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42</a:t>
            </a:fld>
            <a:endParaRPr lang="ru-RU"/>
          </a:p>
        </p:txBody>
      </p:sp>
    </p:spTree>
    <p:extLst>
      <p:ext uri="{BB962C8B-B14F-4D97-AF65-F5344CB8AC3E}">
        <p14:creationId xmlns:p14="http://schemas.microsoft.com/office/powerpoint/2010/main" val="19482734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Overall, prototyping is well suited for projects where requirements are hard to determine and the confidence in the stated requirements is low.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such projects where requirements are not properly understood in the beginning,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using the prototyping process model can be the most effective method for developing the software.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It is also an excellent technique for reducing some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types of risks associated with a project.</a:t>
            </a:r>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43</a:t>
            </a:fld>
            <a:endParaRPr lang="ru-RU"/>
          </a:p>
        </p:txBody>
      </p:sp>
    </p:spTree>
    <p:extLst>
      <p:ext uri="{BB962C8B-B14F-4D97-AF65-F5344CB8AC3E}">
        <p14:creationId xmlns:p14="http://schemas.microsoft.com/office/powerpoint/2010/main" val="36669850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0000" lnSpcReduction="20000"/>
          </a:bodyPr>
          <a:lstStyle/>
          <a:p>
            <a:r>
              <a:rPr lang="en-US" sz="1200" kern="1200" baseline="0" dirty="0" smtClean="0">
                <a:solidFill>
                  <a:schemeClr val="tx1"/>
                </a:solidFill>
                <a:latin typeface="+mn-lt"/>
                <a:ea typeface="+mn-ea"/>
                <a:cs typeface="+mn-cs"/>
              </a:rPr>
              <a:t>Iterative Development</a:t>
            </a:r>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(и</a:t>
            </a:r>
            <a:r>
              <a:rPr lang="ru-RU" dirty="0" smtClean="0"/>
              <a:t>теративная, эволюционная, итерационная</a:t>
            </a:r>
            <a:r>
              <a:rPr lang="ru-RU" sz="1200" kern="1200" baseline="0" dirty="0" smtClean="0">
                <a:solidFill>
                  <a:schemeClr val="tx1"/>
                </a:solidFill>
                <a:latin typeface="+mn-lt"/>
                <a:ea typeface="+mn-ea"/>
                <a:cs typeface="+mn-cs"/>
              </a:rPr>
              <a:t>)</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Итеративная модель процесса разработки ПО нацелена преодоление 3 и 4 недостатков модели водопадов.</a:t>
            </a:r>
          </a:p>
          <a:p>
            <a:r>
              <a:rPr lang="ru-RU" sz="1200" kern="1200" baseline="0" dirty="0" smtClean="0">
                <a:solidFill>
                  <a:schemeClr val="tx1"/>
                </a:solidFill>
                <a:latin typeface="+mn-lt"/>
                <a:ea typeface="+mn-ea"/>
                <a:cs typeface="+mn-cs"/>
              </a:rPr>
              <a:t>Данная МП пытается объединить достоинства модели прототипирования и модели водопада. </a:t>
            </a:r>
          </a:p>
          <a:p>
            <a:r>
              <a:rPr lang="en-US" sz="1200" kern="1200" baseline="0" dirty="0" smtClean="0">
                <a:solidFill>
                  <a:schemeClr val="tx1"/>
                </a:solidFill>
                <a:latin typeface="+mn-lt"/>
                <a:ea typeface="+mn-ea"/>
                <a:cs typeface="+mn-cs"/>
              </a:rPr>
              <a:t>The iterative development process model counters the third and fourth limitations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the waterfall model and tries to combine the benefits of both prototyping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the waterfall model.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pPr marL="514350" indent="-514350">
              <a:buFont typeface="+mj-lt"/>
              <a:buNone/>
            </a:pPr>
            <a:r>
              <a:rPr lang="ru-RU" sz="1200" kern="1200" baseline="0" dirty="0" smtClean="0">
                <a:solidFill>
                  <a:schemeClr val="tx1"/>
                </a:solidFill>
                <a:latin typeface="+mn-lt"/>
                <a:ea typeface="+mn-ea"/>
                <a:cs typeface="+mn-cs"/>
              </a:rPr>
              <a:t>(3. </a:t>
            </a:r>
            <a:r>
              <a:rPr lang="ru-RU" dirty="0" smtClean="0"/>
              <a:t>Вызывает подход «большого взрыва» - полное ПО предоставляется за один раз, в конце разработки.</a:t>
            </a:r>
          </a:p>
          <a:p>
            <a:pPr marL="514350" indent="-514350">
              <a:buFont typeface="+mj-lt"/>
              <a:buNone/>
            </a:pPr>
            <a:r>
              <a:rPr lang="ru-RU" dirty="0" smtClean="0"/>
              <a:t>4. Поощряется «раздувание требований». </a:t>
            </a:r>
            <a:r>
              <a:rPr lang="ru-RU" sz="1200" kern="1200" baseline="0" dirty="0" smtClean="0">
                <a:solidFill>
                  <a:schemeClr val="tx1"/>
                </a:solidFill>
                <a:latin typeface="+mn-lt"/>
                <a:ea typeface="+mn-ea"/>
                <a:cs typeface="+mn-cs"/>
              </a:rPr>
              <a:t>)</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Основная идея данного подхода заключается в том, что ПО должно разрабатываться пошагово (постепенно, итеративно, </a:t>
            </a:r>
            <a:r>
              <a:rPr lang="ru-RU" sz="1200" kern="1200" baseline="0" dirty="0" err="1" smtClean="0">
                <a:solidFill>
                  <a:schemeClr val="tx1"/>
                </a:solidFill>
                <a:latin typeface="+mn-lt"/>
                <a:ea typeface="+mn-ea"/>
                <a:cs typeface="+mn-cs"/>
              </a:rPr>
              <a:t>инкрементально</a:t>
            </a:r>
            <a:r>
              <a:rPr lang="ru-RU" sz="1200" kern="1200" baseline="0" dirty="0" smtClean="0">
                <a:solidFill>
                  <a:schemeClr val="tx1"/>
                </a:solidFill>
                <a:latin typeface="+mn-lt"/>
                <a:ea typeface="+mn-ea"/>
                <a:cs typeface="+mn-cs"/>
              </a:rPr>
              <a:t>), на каждом шаге к создаваемой ПС должны добавляться некоторые функциональные возможности, до тех пор, пока система не будет реализована полностью.</a:t>
            </a:r>
          </a:p>
          <a:p>
            <a:r>
              <a:rPr lang="en-US" sz="1200" kern="1200" baseline="0" dirty="0" smtClean="0">
                <a:solidFill>
                  <a:schemeClr val="tx1"/>
                </a:solidFill>
                <a:latin typeface="+mn-lt"/>
                <a:ea typeface="+mn-ea"/>
                <a:cs typeface="+mn-cs"/>
              </a:rPr>
              <a:t>The basic idea is that the software should be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developed in increments, each increment adding some functional capability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system until the full system is implemented.</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Итеративная модель улучшения является примером данного подхода.</a:t>
            </a:r>
          </a:p>
          <a:p>
            <a:r>
              <a:rPr lang="en-US" sz="1200" kern="1200" baseline="0" dirty="0" smtClean="0">
                <a:solidFill>
                  <a:schemeClr val="tx1"/>
                </a:solidFill>
                <a:latin typeface="+mn-lt"/>
                <a:ea typeface="+mn-ea"/>
                <a:cs typeface="+mn-cs"/>
              </a:rPr>
              <a:t>The iterative enhancement model [4] is an example of this approach.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первом шаге данной модели создается простое начальное приложение, реализующее подмножество задач полного решения проблемы. </a:t>
            </a:r>
          </a:p>
          <a:p>
            <a:r>
              <a:rPr lang="en-US" sz="1200" kern="1200" baseline="0" dirty="0" smtClean="0">
                <a:solidFill>
                  <a:schemeClr val="tx1"/>
                </a:solidFill>
                <a:latin typeface="+mn-lt"/>
                <a:ea typeface="+mn-ea"/>
                <a:cs typeface="+mn-cs"/>
              </a:rPr>
              <a:t>In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first step of this model, a simple initial implementation is done for a subset of</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overall problem.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Данное подмножество должно включать некоторые из основных задач рассматриваемой проблемы, которые легко понять и реализовать, и которые формируют полезную и простую в применении систему. </a:t>
            </a:r>
          </a:p>
          <a:p>
            <a:r>
              <a:rPr lang="en-US" sz="1200" kern="1200" baseline="0" dirty="0" smtClean="0">
                <a:solidFill>
                  <a:schemeClr val="tx1"/>
                </a:solidFill>
                <a:latin typeface="+mn-lt"/>
                <a:ea typeface="+mn-ea"/>
                <a:cs typeface="+mn-cs"/>
              </a:rPr>
              <a:t>This subset is one that contains some of the key aspects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the problem that are easy to understand and implement and which form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 useful and usable system.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a:t>
            </a:r>
          </a:p>
          <a:p>
            <a:endParaRPr lang="ru-RU" sz="1200" kern="1200" baseline="0" dirty="0" smtClean="0">
              <a:solidFill>
                <a:schemeClr val="tx1"/>
              </a:solidFill>
              <a:latin typeface="+mn-lt"/>
              <a:ea typeface="+mn-ea"/>
              <a:cs typeface="+mn-cs"/>
            </a:endParaRPr>
          </a:p>
          <a:p>
            <a:r>
              <a:rPr lang="ru-RU" sz="1200" b="1" i="0" kern="1200" dirty="0" smtClean="0">
                <a:solidFill>
                  <a:schemeClr val="tx1"/>
                </a:solidFill>
                <a:latin typeface="+mn-lt"/>
                <a:ea typeface="+mn-ea"/>
                <a:cs typeface="+mn-cs"/>
              </a:rPr>
              <a:t>Итерационная модель</a:t>
            </a:r>
          </a:p>
          <a:p>
            <a:r>
              <a:rPr lang="ru-RU" sz="1200" b="0" i="0" kern="1200" dirty="0" smtClean="0">
                <a:solidFill>
                  <a:schemeClr val="tx1"/>
                </a:solidFill>
                <a:latin typeface="+mn-lt"/>
                <a:ea typeface="+mn-ea"/>
                <a:cs typeface="+mn-cs"/>
              </a:rPr>
              <a:t>Альтернативой последовательной модели является так называемая модель итеративной и инкрементальной разработки (</a:t>
            </a:r>
            <a:r>
              <a:rPr lang="ru-RU" sz="1200" b="0" i="1" kern="1200" dirty="0" err="1" smtClean="0">
                <a:solidFill>
                  <a:schemeClr val="tx1"/>
                </a:solidFill>
                <a:latin typeface="+mn-lt"/>
                <a:ea typeface="+mn-ea"/>
                <a:cs typeface="+mn-cs"/>
              </a:rPr>
              <a:t>iterative</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and</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incremental</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development</a:t>
            </a:r>
            <a:r>
              <a:rPr lang="ru-RU" sz="1200" b="0" i="1" kern="1200" dirty="0" smtClean="0">
                <a:solidFill>
                  <a:schemeClr val="tx1"/>
                </a:solidFill>
                <a:latin typeface="+mn-lt"/>
                <a:ea typeface="+mn-ea"/>
                <a:cs typeface="+mn-cs"/>
              </a:rPr>
              <a:t>, IID</a:t>
            </a:r>
            <a:r>
              <a:rPr lang="ru-RU" sz="1200" b="0" i="0" kern="1200" dirty="0" smtClean="0">
                <a:solidFill>
                  <a:schemeClr val="tx1"/>
                </a:solidFill>
                <a:latin typeface="+mn-lt"/>
                <a:ea typeface="+mn-ea"/>
                <a:cs typeface="+mn-cs"/>
              </a:rPr>
              <a:t>), получившей также от Т. </a:t>
            </a:r>
            <a:r>
              <a:rPr lang="ru-RU" sz="1200" b="0" i="0" kern="1200" dirty="0" err="1" smtClean="0">
                <a:solidFill>
                  <a:schemeClr val="tx1"/>
                </a:solidFill>
                <a:latin typeface="+mn-lt"/>
                <a:ea typeface="+mn-ea"/>
                <a:cs typeface="+mn-cs"/>
              </a:rPr>
              <a:t>Гилба</a:t>
            </a:r>
            <a:r>
              <a:rPr lang="ru-RU" sz="1200" b="0" i="0" kern="1200" dirty="0" smtClean="0">
                <a:solidFill>
                  <a:schemeClr val="tx1"/>
                </a:solidFill>
                <a:latin typeface="+mn-lt"/>
                <a:ea typeface="+mn-ea"/>
                <a:cs typeface="+mn-cs"/>
              </a:rPr>
              <a:t> в 70-е гг. название </a:t>
            </a:r>
            <a:r>
              <a:rPr lang="ru-RU" sz="1200" b="0" i="1" kern="1200" dirty="0" smtClean="0">
                <a:solidFill>
                  <a:schemeClr val="tx1"/>
                </a:solidFill>
                <a:latin typeface="+mn-lt"/>
                <a:ea typeface="+mn-ea"/>
                <a:cs typeface="+mn-cs"/>
              </a:rPr>
              <a:t>эволюционной модели</a:t>
            </a:r>
            <a:r>
              <a:rPr lang="ru-RU" sz="1200" b="0" i="0" kern="1200" dirty="0" smtClean="0">
                <a:solidFill>
                  <a:schemeClr val="tx1"/>
                </a:solidFill>
                <a:latin typeface="+mn-lt"/>
                <a:ea typeface="+mn-ea"/>
                <a:cs typeface="+mn-cs"/>
              </a:rPr>
              <a:t>.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Также эту модель называют </a:t>
            </a:r>
            <a:r>
              <a:rPr lang="ru-RU" sz="1200" b="0" i="1" kern="1200" dirty="0" smtClean="0">
                <a:solidFill>
                  <a:schemeClr val="tx1"/>
                </a:solidFill>
                <a:latin typeface="+mn-lt"/>
                <a:ea typeface="+mn-ea"/>
                <a:cs typeface="+mn-cs"/>
              </a:rPr>
              <a:t>итеративной моделью</a:t>
            </a:r>
            <a:r>
              <a:rPr lang="ru-RU" sz="1200" b="0" i="0" kern="1200" dirty="0" smtClean="0">
                <a:solidFill>
                  <a:schemeClr val="tx1"/>
                </a:solidFill>
                <a:latin typeface="+mn-lt"/>
                <a:ea typeface="+mn-ea"/>
                <a:cs typeface="+mn-cs"/>
              </a:rPr>
              <a:t> и </a:t>
            </a:r>
            <a:r>
              <a:rPr lang="ru-RU" sz="1200" b="0" i="1" kern="1200" dirty="0" smtClean="0">
                <a:solidFill>
                  <a:schemeClr val="tx1"/>
                </a:solidFill>
                <a:latin typeface="+mn-lt"/>
                <a:ea typeface="+mn-ea"/>
                <a:cs typeface="+mn-cs"/>
              </a:rPr>
              <a:t>инкрементальной моделью</a:t>
            </a:r>
            <a:r>
              <a:rPr lang="ru-RU" sz="1200" b="0" i="0" u="none" strike="noStrike" kern="1200" baseline="30000" dirty="0" smtClean="0">
                <a:solidFill>
                  <a:schemeClr val="tx1"/>
                </a:solidFill>
                <a:latin typeface="+mn-lt"/>
                <a:ea typeface="+mn-ea"/>
                <a:cs typeface="+mn-cs"/>
                <a:hlinkClick r:id="rId3"/>
              </a:rPr>
              <a:t>[4]</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Модель IID предполагает разбиение жизненного цикла проекта на последовательность итераций, каждая из которых напоминает «мини-проект», включая все процессы разработки в применении к созданию меньших фрагментов функциональности, по сравнению с проектом в целом.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Цель каждой </a:t>
            </a:r>
            <a:r>
              <a:rPr lang="ru-RU" sz="1200" b="0" i="1" kern="1200" dirty="0" smtClean="0">
                <a:solidFill>
                  <a:schemeClr val="tx1"/>
                </a:solidFill>
                <a:latin typeface="+mn-lt"/>
                <a:ea typeface="+mn-ea"/>
                <a:cs typeface="+mn-cs"/>
              </a:rPr>
              <a:t>итерации</a:t>
            </a:r>
            <a:r>
              <a:rPr lang="ru-RU" sz="1200" b="0" i="0" kern="1200" dirty="0" smtClean="0">
                <a:solidFill>
                  <a:schemeClr val="tx1"/>
                </a:solidFill>
                <a:latin typeface="+mn-lt"/>
                <a:ea typeface="+mn-ea"/>
                <a:cs typeface="+mn-cs"/>
              </a:rPr>
              <a:t> — получение работающей версии программной системы, включающей функциональность, определённую интегрированным содержанием всех предыдущих и текущей итерации.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Результат финальной итерации содержит всю требуемую функциональность продукта.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Таким образом, с завершением каждой итерации продукт получает приращение — </a:t>
            </a:r>
            <a:r>
              <a:rPr lang="ru-RU" sz="1200" b="0" i="1" kern="1200" dirty="0" smtClean="0">
                <a:solidFill>
                  <a:schemeClr val="tx1"/>
                </a:solidFill>
                <a:latin typeface="+mn-lt"/>
                <a:ea typeface="+mn-ea"/>
                <a:cs typeface="+mn-cs"/>
              </a:rPr>
              <a:t>инкремент</a:t>
            </a:r>
            <a:r>
              <a:rPr lang="ru-RU" sz="1200" b="0" i="0" kern="1200" dirty="0" smtClean="0">
                <a:solidFill>
                  <a:schemeClr val="tx1"/>
                </a:solidFill>
                <a:latin typeface="+mn-lt"/>
                <a:ea typeface="+mn-ea"/>
                <a:cs typeface="+mn-cs"/>
              </a:rPr>
              <a:t> — к его возможностям, которые, следовательно, развиваются </a:t>
            </a:r>
            <a:r>
              <a:rPr lang="ru-RU" sz="1200" b="0" i="1" kern="1200" dirty="0" smtClean="0">
                <a:solidFill>
                  <a:schemeClr val="tx1"/>
                </a:solidFill>
                <a:latin typeface="+mn-lt"/>
                <a:ea typeface="+mn-ea"/>
                <a:cs typeface="+mn-cs"/>
              </a:rPr>
              <a:t>эволюционно</a:t>
            </a:r>
            <a:r>
              <a:rPr lang="ru-RU" sz="1200" b="0" i="0" kern="1200" dirty="0" smtClean="0">
                <a:solidFill>
                  <a:schemeClr val="tx1"/>
                </a:solidFill>
                <a:latin typeface="+mn-lt"/>
                <a:ea typeface="+mn-ea"/>
                <a:cs typeface="+mn-cs"/>
              </a:rPr>
              <a:t>.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Итеративность, </a:t>
            </a:r>
            <a:r>
              <a:rPr lang="ru-RU" sz="1200" b="0" i="0" kern="1200" dirty="0" err="1" smtClean="0">
                <a:solidFill>
                  <a:schemeClr val="tx1"/>
                </a:solidFill>
                <a:latin typeface="+mn-lt"/>
                <a:ea typeface="+mn-ea"/>
                <a:cs typeface="+mn-cs"/>
              </a:rPr>
              <a:t>инкрементальность</a:t>
            </a:r>
            <a:r>
              <a:rPr lang="ru-RU" sz="1200" b="0" i="0" kern="1200" dirty="0" smtClean="0">
                <a:solidFill>
                  <a:schemeClr val="tx1"/>
                </a:solidFill>
                <a:latin typeface="+mn-lt"/>
                <a:ea typeface="+mn-ea"/>
                <a:cs typeface="+mn-cs"/>
              </a:rPr>
              <a:t> и </a:t>
            </a:r>
            <a:r>
              <a:rPr lang="ru-RU" sz="1200" b="0" i="0" kern="1200" dirty="0" err="1" smtClean="0">
                <a:solidFill>
                  <a:schemeClr val="tx1"/>
                </a:solidFill>
                <a:latin typeface="+mn-lt"/>
                <a:ea typeface="+mn-ea"/>
                <a:cs typeface="+mn-cs"/>
              </a:rPr>
              <a:t>эволюционность</a:t>
            </a:r>
            <a:r>
              <a:rPr lang="ru-RU" sz="1200" b="0" i="0" kern="1200" dirty="0" smtClean="0">
                <a:solidFill>
                  <a:schemeClr val="tx1"/>
                </a:solidFill>
                <a:latin typeface="+mn-lt"/>
                <a:ea typeface="+mn-ea"/>
                <a:cs typeface="+mn-cs"/>
              </a:rPr>
              <a:t> в данном случае есть выражение одного и то же смысла разными словами со слегка разных точек зрения</a:t>
            </a:r>
            <a:r>
              <a:rPr lang="ru-RU" sz="1200" b="0" i="0" u="none" strike="noStrike" kern="1200" baseline="30000" dirty="0" smtClean="0">
                <a:solidFill>
                  <a:schemeClr val="tx1"/>
                </a:solidFill>
                <a:latin typeface="+mn-lt"/>
                <a:ea typeface="+mn-ea"/>
                <a:cs typeface="+mn-cs"/>
                <a:hlinkClick r:id="rId3"/>
              </a:rPr>
              <a:t>[3]</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По выражению Т. </a:t>
            </a:r>
            <a:r>
              <a:rPr lang="ru-RU" sz="1200" b="0" i="0" kern="1200" dirty="0" err="1" smtClean="0">
                <a:solidFill>
                  <a:schemeClr val="tx1"/>
                </a:solidFill>
                <a:latin typeface="+mn-lt"/>
                <a:ea typeface="+mn-ea"/>
                <a:cs typeface="+mn-cs"/>
              </a:rPr>
              <a:t>Гилба</a:t>
            </a:r>
            <a:r>
              <a:rPr lang="ru-RU" sz="1200" b="0" i="0" kern="1200" dirty="0" smtClean="0">
                <a:solidFill>
                  <a:schemeClr val="tx1"/>
                </a:solidFill>
                <a:latin typeface="+mn-lt"/>
                <a:ea typeface="+mn-ea"/>
                <a:cs typeface="+mn-cs"/>
              </a:rPr>
              <a:t>, «эволюция — прием, предназначенный для создания видимости стабильности.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Шансы успешного создания сложной системы будут максимальными, </a:t>
            </a:r>
          </a:p>
          <a:p>
            <a:pPr>
              <a:buFont typeface="Arial" pitchFamily="34" charset="0"/>
              <a:buChar char="•"/>
            </a:pPr>
            <a:r>
              <a:rPr lang="ru-RU" sz="1200" b="0" i="0" kern="1200" dirty="0" smtClean="0">
                <a:solidFill>
                  <a:schemeClr val="tx1"/>
                </a:solidFill>
                <a:latin typeface="+mn-lt"/>
                <a:ea typeface="+mn-ea"/>
                <a:cs typeface="+mn-cs"/>
              </a:rPr>
              <a:t>если она реализуется в серии небольших шагов и </a:t>
            </a:r>
          </a:p>
          <a:p>
            <a:pPr>
              <a:buFont typeface="Arial" pitchFamily="34" charset="0"/>
              <a:buChar char="•"/>
            </a:pPr>
            <a:r>
              <a:rPr lang="ru-RU" sz="1200" b="0" i="0" kern="1200" dirty="0" smtClean="0">
                <a:solidFill>
                  <a:schemeClr val="tx1"/>
                </a:solidFill>
                <a:latin typeface="+mn-lt"/>
                <a:ea typeface="+mn-ea"/>
                <a:cs typeface="+mn-cs"/>
              </a:rPr>
              <a:t>если каждый шаг заключает в себе четко определённый успех, а также </a:t>
            </a:r>
          </a:p>
          <a:p>
            <a:pPr>
              <a:buFont typeface="Arial" pitchFamily="34" charset="0"/>
              <a:buChar char="•"/>
            </a:pPr>
            <a:r>
              <a:rPr lang="ru-RU" sz="1200" b="0" i="0" kern="1200" dirty="0" smtClean="0">
                <a:solidFill>
                  <a:schemeClr val="tx1"/>
                </a:solidFill>
                <a:latin typeface="+mn-lt"/>
                <a:ea typeface="+mn-ea"/>
                <a:cs typeface="+mn-cs"/>
              </a:rPr>
              <a:t>если</a:t>
            </a:r>
            <a:r>
              <a:rPr lang="ru-RU" sz="1200" b="0" i="0" kern="1200" baseline="0" dirty="0" smtClean="0">
                <a:solidFill>
                  <a:schemeClr val="tx1"/>
                </a:solidFill>
                <a:latin typeface="+mn-lt"/>
                <a:ea typeface="+mn-ea"/>
                <a:cs typeface="+mn-cs"/>
              </a:rPr>
              <a:t> есть </a:t>
            </a:r>
            <a:r>
              <a:rPr lang="ru-RU" sz="1200" b="0" i="0" kern="1200" dirty="0" smtClean="0">
                <a:solidFill>
                  <a:schemeClr val="tx1"/>
                </a:solidFill>
                <a:latin typeface="+mn-lt"/>
                <a:ea typeface="+mn-ea"/>
                <a:cs typeface="+mn-cs"/>
              </a:rPr>
              <a:t>возможность «отката» к предыдущему успешному этапу в случае неудачи.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Перед тем, как пустить в дело все ресурсы, предназначенные для создания системы, </a:t>
            </a:r>
          </a:p>
          <a:p>
            <a:r>
              <a:rPr lang="ru-RU" sz="1200" b="0" i="0" kern="1200" dirty="0" smtClean="0">
                <a:solidFill>
                  <a:schemeClr val="tx1"/>
                </a:solidFill>
                <a:latin typeface="+mn-lt"/>
                <a:ea typeface="+mn-ea"/>
                <a:cs typeface="+mn-cs"/>
              </a:rPr>
              <a:t>разработчик имеет возможность получать из реального мира сигналы обратной связи и </a:t>
            </a:r>
          </a:p>
          <a:p>
            <a:r>
              <a:rPr lang="ru-RU" sz="1200" b="0" i="0" kern="1200" dirty="0" smtClean="0">
                <a:solidFill>
                  <a:schemeClr val="tx1"/>
                </a:solidFill>
                <a:latin typeface="+mn-lt"/>
                <a:ea typeface="+mn-ea"/>
                <a:cs typeface="+mn-cs"/>
              </a:rPr>
              <a:t>исправлять возможные ошибки в проекте».</a:t>
            </a:r>
          </a:p>
          <a:p>
            <a:endParaRPr lang="ru-RU"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1200" b="0" i="0" kern="1200" dirty="0" smtClean="0">
                <a:solidFill>
                  <a:schemeClr val="tx1"/>
                </a:solidFill>
                <a:latin typeface="+mn-lt"/>
                <a:ea typeface="+mn-ea"/>
                <a:cs typeface="+mn-cs"/>
              </a:rPr>
              <a:t>Различные варианты итерационного подхода реализованы в большинстве современных методологий разработки (</a:t>
            </a:r>
            <a:r>
              <a:rPr lang="ru-RU" sz="1200" b="0" i="0" u="sng" kern="1200" dirty="0" smtClean="0">
                <a:solidFill>
                  <a:schemeClr val="tx1"/>
                </a:solidFill>
                <a:latin typeface="+mn-lt"/>
                <a:ea typeface="+mn-ea"/>
                <a:cs typeface="+mn-cs"/>
                <a:hlinkClick r:id="rId4" tooltip="Rational Unified Process"/>
              </a:rPr>
              <a:t>RUP</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5" tooltip="Microsoft Solutions Framework"/>
              </a:rPr>
              <a:t>MSF</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6" tooltip="Экстремальное программирование"/>
              </a:rPr>
              <a:t>XP</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45</a:t>
            </a:fld>
            <a:endParaRPr lang="ru-RU"/>
          </a:p>
        </p:txBody>
      </p:sp>
    </p:spTree>
    <p:extLst>
      <p:ext uri="{BB962C8B-B14F-4D97-AF65-F5344CB8AC3E}">
        <p14:creationId xmlns:p14="http://schemas.microsoft.com/office/powerpoint/2010/main" val="22307429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ru-RU" sz="1200" kern="1200" baseline="0" dirty="0" smtClean="0">
                <a:solidFill>
                  <a:schemeClr val="tx1"/>
                </a:solidFill>
                <a:latin typeface="+mn-lt"/>
                <a:ea typeface="+mn-ea"/>
                <a:cs typeface="+mn-cs"/>
              </a:rPr>
              <a:t>Управляющий список проекта руководит последовательностью шагов и содержит список всех задач, которые должны быть выполнены.</a:t>
            </a:r>
          </a:p>
          <a:p>
            <a:r>
              <a:rPr lang="en-US" sz="1200" kern="1200" baseline="0" dirty="0" smtClean="0">
                <a:solidFill>
                  <a:schemeClr val="tx1"/>
                </a:solidFill>
                <a:latin typeface="+mn-lt"/>
                <a:ea typeface="+mn-ea"/>
                <a:cs typeface="+mn-cs"/>
              </a:rPr>
              <a:t>The project control list guides the iteration steps and keeps track of 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tasks that must be done.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основе анализа, к задачам данного списка может относиться </a:t>
            </a:r>
            <a:r>
              <a:rPr lang="ru-RU" sz="1200" kern="1200" baseline="0" dirty="0" err="1" smtClean="0">
                <a:solidFill>
                  <a:schemeClr val="tx1"/>
                </a:solidFill>
                <a:latin typeface="+mn-lt"/>
                <a:ea typeface="+mn-ea"/>
                <a:cs typeface="+mn-cs"/>
              </a:rPr>
              <a:t>перепроектирование</a:t>
            </a:r>
            <a:r>
              <a:rPr lang="ru-RU" sz="1200" kern="1200" baseline="0" dirty="0" smtClean="0">
                <a:solidFill>
                  <a:schemeClr val="tx1"/>
                </a:solidFill>
                <a:latin typeface="+mn-lt"/>
                <a:ea typeface="+mn-ea"/>
                <a:cs typeface="+mn-cs"/>
              </a:rPr>
              <a:t> неправильно разработанных модулей или </a:t>
            </a:r>
            <a:r>
              <a:rPr lang="ru-RU" sz="1200" kern="1200" baseline="0" dirty="0" err="1" smtClean="0">
                <a:solidFill>
                  <a:schemeClr val="tx1"/>
                </a:solidFill>
                <a:latin typeface="+mn-lt"/>
                <a:ea typeface="+mn-ea"/>
                <a:cs typeface="+mn-cs"/>
              </a:rPr>
              <a:t>перепроектирование</a:t>
            </a:r>
            <a:r>
              <a:rPr lang="ru-RU" sz="1200" kern="1200" baseline="0" dirty="0" smtClean="0">
                <a:solidFill>
                  <a:schemeClr val="tx1"/>
                </a:solidFill>
                <a:latin typeface="+mn-lt"/>
                <a:ea typeface="+mn-ea"/>
                <a:cs typeface="+mn-cs"/>
              </a:rPr>
              <a:t> всей системы в целом.</a:t>
            </a:r>
          </a:p>
          <a:p>
            <a:r>
              <a:rPr lang="en-US" sz="1200" kern="1200" baseline="0" dirty="0" smtClean="0">
                <a:solidFill>
                  <a:schemeClr val="tx1"/>
                </a:solidFill>
                <a:latin typeface="+mn-lt"/>
                <a:ea typeface="+mn-ea"/>
                <a:cs typeface="+mn-cs"/>
              </a:rPr>
              <a:t>Based on the analysis, one of the tasks in the list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can include redesign of defective components or redesign of the entire system.</a:t>
            </a:r>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Однако </a:t>
            </a:r>
            <a:r>
              <a:rPr lang="ru-RU" dirty="0" err="1" smtClean="0"/>
              <a:t>перепроектирование</a:t>
            </a:r>
            <a:r>
              <a:rPr lang="ru-RU" dirty="0" smtClean="0"/>
              <a:t> системы обычно встречается только на начальных этапах.</a:t>
            </a:r>
          </a:p>
          <a:p>
            <a:r>
              <a:rPr lang="en-US" sz="1200" kern="1200" baseline="0" dirty="0" smtClean="0">
                <a:solidFill>
                  <a:schemeClr val="tx1"/>
                </a:solidFill>
                <a:latin typeface="+mn-lt"/>
                <a:ea typeface="+mn-ea"/>
                <a:cs typeface="+mn-cs"/>
              </a:rPr>
              <a:t>However, redesign of the system will generally occur only in the initial steps.</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более поздних этапах, проект должен стабилизироваться и вероятность его изменения должна уменьшаться.</a:t>
            </a:r>
          </a:p>
          <a:p>
            <a:r>
              <a:rPr lang="en-US" sz="1200" kern="1200" baseline="0" dirty="0" smtClean="0">
                <a:solidFill>
                  <a:schemeClr val="tx1"/>
                </a:solidFill>
                <a:latin typeface="+mn-lt"/>
                <a:ea typeface="+mn-ea"/>
                <a:cs typeface="+mn-cs"/>
              </a:rPr>
              <a:t>In the later steps, the design would have stabilized and there is less chance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redesign.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Каждый пункт в данном списке является задачей, которая должна быть выполнена на одном шаге итеративного процесса улучшения и должна быть достаточно простой для полного понимания.</a:t>
            </a:r>
          </a:p>
          <a:p>
            <a:r>
              <a:rPr lang="en-US" sz="1200" kern="1200" baseline="0" dirty="0" smtClean="0">
                <a:solidFill>
                  <a:schemeClr val="tx1"/>
                </a:solidFill>
                <a:latin typeface="+mn-lt"/>
                <a:ea typeface="+mn-ea"/>
                <a:cs typeface="+mn-cs"/>
              </a:rPr>
              <a:t>Each entry in the list is a task that should be performed in one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step of the iterative enhancement process and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should be simple enough to be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completely understood.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Отбор задач таким способом будет минимизировать шансы на ошибку и уменьшать объем </a:t>
            </a:r>
            <a:r>
              <a:rPr lang="ru-RU" sz="1200" kern="1200" baseline="0" dirty="0" err="1" smtClean="0">
                <a:solidFill>
                  <a:schemeClr val="tx1"/>
                </a:solidFill>
                <a:latin typeface="+mn-lt"/>
                <a:ea typeface="+mn-ea"/>
                <a:cs typeface="+mn-cs"/>
              </a:rPr>
              <a:t>перепроектирования</a:t>
            </a:r>
            <a:r>
              <a:rPr lang="ru-RU" sz="1200" kern="1200" baseline="0" dirty="0" smtClean="0">
                <a:solidFill>
                  <a:schemeClr val="tx1"/>
                </a:solidFill>
                <a:latin typeface="+mn-lt"/>
                <a:ea typeface="+mn-ea"/>
                <a:cs typeface="+mn-cs"/>
              </a:rPr>
              <a:t>.</a:t>
            </a:r>
          </a:p>
          <a:p>
            <a:r>
              <a:rPr lang="en-US" sz="1200" kern="1200" baseline="0" dirty="0" smtClean="0">
                <a:solidFill>
                  <a:schemeClr val="tx1"/>
                </a:solidFill>
                <a:latin typeface="+mn-lt"/>
                <a:ea typeface="+mn-ea"/>
                <a:cs typeface="+mn-cs"/>
              </a:rPr>
              <a:t>Selecting tasks in this manner will minimize the chances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error and reduce the redesign work.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Этапы проектирования и реализации на могут быть выполнены нисходящим образом или с помощью каких-то других способов.</a:t>
            </a:r>
          </a:p>
          <a:p>
            <a:r>
              <a:rPr lang="en-US" sz="1200" kern="1200" baseline="0" dirty="0" smtClean="0">
                <a:solidFill>
                  <a:schemeClr val="tx1"/>
                </a:solidFill>
                <a:latin typeface="+mn-lt"/>
                <a:ea typeface="+mn-ea"/>
                <a:cs typeface="+mn-cs"/>
              </a:rPr>
              <a:t>The design and implementation phases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each step can be performed in a top-down manner or by using some other</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technique.</a:t>
            </a: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47</a:t>
            </a:fld>
            <a:endParaRPr lang="ru-RU"/>
          </a:p>
        </p:txBody>
      </p:sp>
    </p:spTree>
    <p:extLst>
      <p:ext uri="{BB962C8B-B14F-4D97-AF65-F5344CB8AC3E}">
        <p14:creationId xmlns:p14="http://schemas.microsoft.com/office/powerpoint/2010/main" val="37741064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200" kern="1200" baseline="0" dirty="0" smtClean="0">
                <a:solidFill>
                  <a:schemeClr val="tx1"/>
                </a:solidFill>
                <a:latin typeface="+mn-lt"/>
                <a:ea typeface="+mn-ea"/>
                <a:cs typeface="+mn-cs"/>
              </a:rPr>
              <a:t>Каждый шаг итеративной модели состоит из удаления следующей задачи из списка:</a:t>
            </a:r>
          </a:p>
          <a:p>
            <a:r>
              <a:rPr lang="en-US" sz="1200" kern="1200" baseline="0" dirty="0" smtClean="0">
                <a:solidFill>
                  <a:schemeClr val="tx1"/>
                </a:solidFill>
                <a:latin typeface="+mn-lt"/>
                <a:ea typeface="+mn-ea"/>
                <a:cs typeface="+mn-cs"/>
              </a:rPr>
              <a:t>Each step consists of removing the next task from the list, </a:t>
            </a:r>
            <a:endParaRPr lang="ru-RU" sz="1200" kern="1200" baseline="0" dirty="0" smtClean="0">
              <a:solidFill>
                <a:schemeClr val="tx1"/>
              </a:solidFill>
              <a:latin typeface="+mn-lt"/>
              <a:ea typeface="+mn-ea"/>
              <a:cs typeface="+mn-cs"/>
            </a:endParaRPr>
          </a:p>
          <a:p>
            <a:pPr marL="228600" indent="-228600">
              <a:buFont typeface="+mj-lt"/>
              <a:buNone/>
            </a:pPr>
            <a:endParaRPr lang="ru-RU" sz="1200" kern="1200" baseline="0" dirty="0" smtClean="0">
              <a:solidFill>
                <a:schemeClr val="tx1"/>
              </a:solidFill>
              <a:latin typeface="+mn-lt"/>
              <a:ea typeface="+mn-ea"/>
              <a:cs typeface="+mn-cs"/>
            </a:endParaRPr>
          </a:p>
          <a:p>
            <a:pPr marL="228600" indent="-228600">
              <a:buFont typeface="+mj-lt"/>
              <a:buNone/>
            </a:pPr>
            <a:r>
              <a:rPr lang="ru-RU" sz="1200" kern="1200" baseline="0" dirty="0" smtClean="0">
                <a:solidFill>
                  <a:schemeClr val="tx1"/>
                </a:solidFill>
                <a:latin typeface="+mn-lt"/>
                <a:ea typeface="+mn-ea"/>
                <a:cs typeface="+mn-cs"/>
              </a:rPr>
              <a:t>проектирование реализации выбранной задачи</a:t>
            </a:r>
          </a:p>
          <a:p>
            <a:pPr marL="228600" indent="-228600">
              <a:buFont typeface="+mj-lt"/>
              <a:buNone/>
            </a:pPr>
            <a:r>
              <a:rPr lang="ru-RU" sz="1200" kern="1200" baseline="0" dirty="0" smtClean="0">
                <a:solidFill>
                  <a:schemeClr val="tx1"/>
                </a:solidFill>
                <a:latin typeface="+mn-lt"/>
                <a:ea typeface="+mn-ea"/>
                <a:cs typeface="+mn-cs"/>
              </a:rPr>
              <a:t>1.  </a:t>
            </a:r>
            <a:r>
              <a:rPr lang="en-US" sz="1200" kern="1200" baseline="0" dirty="0" smtClean="0">
                <a:solidFill>
                  <a:schemeClr val="tx1"/>
                </a:solidFill>
                <a:latin typeface="+mn-lt"/>
                <a:ea typeface="+mn-ea"/>
                <a:cs typeface="+mn-cs"/>
              </a:rPr>
              <a:t>designing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implementation for the selected task, </a:t>
            </a:r>
            <a:endParaRPr lang="ru-RU" sz="1200" kern="1200" baseline="0" dirty="0" smtClean="0">
              <a:solidFill>
                <a:schemeClr val="tx1"/>
              </a:solidFill>
              <a:latin typeface="+mn-lt"/>
              <a:ea typeface="+mn-ea"/>
              <a:cs typeface="+mn-cs"/>
            </a:endParaRPr>
          </a:p>
          <a:p>
            <a:pPr marL="228600" indent="-228600">
              <a:buFont typeface="+mj-lt"/>
              <a:buNone/>
            </a:pPr>
            <a:endParaRPr lang="ru-RU" sz="1200" kern="1200" baseline="0" dirty="0" smtClean="0">
              <a:solidFill>
                <a:schemeClr val="tx1"/>
              </a:solidFill>
              <a:latin typeface="+mn-lt"/>
              <a:ea typeface="+mn-ea"/>
              <a:cs typeface="+mn-cs"/>
            </a:endParaRPr>
          </a:p>
          <a:p>
            <a:pPr marL="228600" indent="-228600">
              <a:buFont typeface="+mj-lt"/>
              <a:buNone/>
            </a:pPr>
            <a:r>
              <a:rPr lang="ru-RU" sz="1200" kern="1200" baseline="0" dirty="0" smtClean="0">
                <a:solidFill>
                  <a:schemeClr val="tx1"/>
                </a:solidFill>
                <a:latin typeface="+mn-lt"/>
                <a:ea typeface="+mn-ea"/>
                <a:cs typeface="+mn-cs"/>
              </a:rPr>
              <a:t>кодирование и тестирование созданной реализации</a:t>
            </a:r>
          </a:p>
          <a:p>
            <a:pPr marL="228600" indent="-228600">
              <a:buFont typeface="+mj-lt"/>
              <a:buNone/>
            </a:pPr>
            <a:r>
              <a:rPr lang="ru-RU" sz="1200" kern="1200" baseline="0" dirty="0" smtClean="0">
                <a:solidFill>
                  <a:schemeClr val="tx1"/>
                </a:solidFill>
                <a:latin typeface="+mn-lt"/>
                <a:ea typeface="+mn-ea"/>
                <a:cs typeface="+mn-cs"/>
              </a:rPr>
              <a:t>2.  </a:t>
            </a:r>
            <a:r>
              <a:rPr lang="en-US" sz="1200" kern="1200" baseline="0" dirty="0" smtClean="0">
                <a:solidFill>
                  <a:schemeClr val="tx1"/>
                </a:solidFill>
                <a:latin typeface="+mn-lt"/>
                <a:ea typeface="+mn-ea"/>
                <a:cs typeface="+mn-cs"/>
              </a:rPr>
              <a:t>coding and testing the implementation,</a:t>
            </a:r>
            <a:r>
              <a:rPr lang="ru-RU" sz="1200" kern="1200" baseline="0" dirty="0" smtClean="0">
                <a:solidFill>
                  <a:schemeClr val="tx1"/>
                </a:solidFill>
                <a:latin typeface="+mn-lt"/>
                <a:ea typeface="+mn-ea"/>
                <a:cs typeface="+mn-cs"/>
              </a:rPr>
              <a:t> </a:t>
            </a:r>
          </a:p>
          <a:p>
            <a:pPr marL="228600" indent="-228600">
              <a:buFont typeface="+mj-lt"/>
              <a:buNone/>
            </a:pPr>
            <a:endParaRPr lang="ru-RU" sz="120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ru-RU" sz="1200" kern="1200" baseline="0" dirty="0" smtClean="0">
                <a:solidFill>
                  <a:schemeClr val="tx1"/>
                </a:solidFill>
                <a:latin typeface="+mn-lt"/>
                <a:ea typeface="+mn-ea"/>
                <a:cs typeface="+mn-cs"/>
              </a:rPr>
              <a:t>выполнение анализа частично разработанной системы, поученной после данного шага и обновление списка на основе</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результатов анализа.</a:t>
            </a:r>
          </a:p>
          <a:p>
            <a:pPr marL="228600" indent="-228600">
              <a:buFont typeface="+mj-lt"/>
              <a:buNone/>
            </a:pPr>
            <a:r>
              <a:rPr lang="ru-RU" sz="1200" kern="1200" baseline="0" dirty="0" smtClean="0">
                <a:solidFill>
                  <a:schemeClr val="tx1"/>
                </a:solidFill>
                <a:latin typeface="+mn-lt"/>
                <a:ea typeface="+mn-ea"/>
                <a:cs typeface="+mn-cs"/>
              </a:rPr>
              <a:t>3.  </a:t>
            </a:r>
            <a:r>
              <a:rPr lang="en-US" sz="1200" kern="1200" baseline="0" dirty="0" smtClean="0">
                <a:solidFill>
                  <a:schemeClr val="tx1"/>
                </a:solidFill>
                <a:latin typeface="+mn-lt"/>
                <a:ea typeface="+mn-ea"/>
                <a:cs typeface="+mn-cs"/>
              </a:rPr>
              <a:t>performing an analysis of the partial system obtained after this step, and updating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list as a result of the analysis.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Такие три этапа называются:</a:t>
            </a:r>
          </a:p>
          <a:p>
            <a:pPr>
              <a:buFont typeface="Arial" pitchFamily="34" charset="0"/>
              <a:buChar char="•"/>
            </a:pPr>
            <a:r>
              <a:rPr lang="ru-RU" sz="1200" kern="1200" baseline="0" dirty="0" smtClean="0">
                <a:solidFill>
                  <a:schemeClr val="tx1"/>
                </a:solidFill>
                <a:latin typeface="+mn-lt"/>
                <a:ea typeface="+mn-ea"/>
                <a:cs typeface="+mn-cs"/>
              </a:rPr>
              <a:t> этапом проектирования</a:t>
            </a:r>
          </a:p>
          <a:p>
            <a:pPr>
              <a:buFont typeface="Arial" pitchFamily="34" charset="0"/>
              <a:buChar char="•"/>
            </a:pPr>
            <a:r>
              <a:rPr lang="ru-RU" sz="1200" kern="1200" baseline="0" dirty="0" smtClean="0">
                <a:solidFill>
                  <a:schemeClr val="tx1"/>
                </a:solidFill>
                <a:latin typeface="+mn-lt"/>
                <a:ea typeface="+mn-ea"/>
                <a:cs typeface="+mn-cs"/>
              </a:rPr>
              <a:t> этапом реализации</a:t>
            </a:r>
          </a:p>
          <a:p>
            <a:pPr>
              <a:buFont typeface="Arial" pitchFamily="34" charset="0"/>
              <a:buChar char="•"/>
            </a:pPr>
            <a:r>
              <a:rPr lang="ru-RU" sz="1200" kern="1200" baseline="0" dirty="0" smtClean="0">
                <a:solidFill>
                  <a:schemeClr val="tx1"/>
                </a:solidFill>
                <a:latin typeface="+mn-lt"/>
                <a:ea typeface="+mn-ea"/>
                <a:cs typeface="+mn-cs"/>
              </a:rPr>
              <a:t> этапом анализа.</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These three phases are called the design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phase, implementation phase, and analysis phase.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Данный процесс циклически выполняется до тех</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пор, пока список не станет пустым. </a:t>
            </a:r>
          </a:p>
          <a:p>
            <a:r>
              <a:rPr lang="ru-RU" sz="1200" kern="1200" baseline="0" dirty="0" smtClean="0">
                <a:solidFill>
                  <a:schemeClr val="tx1"/>
                </a:solidFill>
                <a:latin typeface="+mn-lt"/>
                <a:ea typeface="+mn-ea"/>
                <a:cs typeface="+mn-cs"/>
              </a:rPr>
              <a:t>В это время будет получена конечная реализация программной системы.  </a:t>
            </a:r>
          </a:p>
          <a:p>
            <a:r>
              <a:rPr lang="en-US" sz="1200" kern="1200" baseline="0" dirty="0" smtClean="0">
                <a:solidFill>
                  <a:schemeClr val="tx1"/>
                </a:solidFill>
                <a:latin typeface="+mn-lt"/>
                <a:ea typeface="+mn-ea"/>
                <a:cs typeface="+mn-cs"/>
              </a:rPr>
              <a:t>The process is iterated until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project control list is empty, at which time the final implementation of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system will be available.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iterative enhancement model is shown in Figure</a:t>
            </a:r>
            <a:r>
              <a:rPr lang="ru-RU" sz="1200" kern="1200" baseline="0" dirty="0" smtClean="0">
                <a:solidFill>
                  <a:schemeClr val="tx1"/>
                </a:solidFill>
                <a:latin typeface="+mn-lt"/>
                <a:ea typeface="+mn-ea"/>
                <a:cs typeface="+mn-cs"/>
              </a:rPr>
              <a:t> 2.5.</a:t>
            </a: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48</a:t>
            </a:fld>
            <a:endParaRPr lang="ru-RU"/>
          </a:p>
        </p:txBody>
      </p:sp>
    </p:spTree>
    <p:extLst>
      <p:ext uri="{BB962C8B-B14F-4D97-AF65-F5344CB8AC3E}">
        <p14:creationId xmlns:p14="http://schemas.microsoft.com/office/powerpoint/2010/main" val="33498458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ru-RU" sz="1200" kern="1200" baseline="0" dirty="0" smtClean="0">
                <a:solidFill>
                  <a:schemeClr val="tx1"/>
                </a:solidFill>
                <a:latin typeface="+mn-lt"/>
                <a:ea typeface="+mn-ea"/>
                <a:cs typeface="+mn-cs"/>
              </a:rPr>
              <a:t>Создается управляющий список, который содержит упорядоченный набор задач, которые должны быть реализованы для получения конечного решения. </a:t>
            </a:r>
          </a:p>
          <a:p>
            <a:r>
              <a:rPr lang="en-US" sz="1200" kern="1200" baseline="0" dirty="0" smtClean="0">
                <a:solidFill>
                  <a:schemeClr val="tx1"/>
                </a:solidFill>
                <a:latin typeface="+mn-lt"/>
                <a:ea typeface="+mn-ea"/>
                <a:cs typeface="+mn-cs"/>
              </a:rPr>
              <a:t>A project control list is created that contains, in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order, all the tasks that must be performed to obtain the final implementation.</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Такой управляющий список проекта дает представление о том, как много этапов должно быть выполнено для получения окончательного варианта ПС. </a:t>
            </a:r>
          </a:p>
          <a:p>
            <a:r>
              <a:rPr lang="en-US" sz="1200" kern="1200" baseline="0" dirty="0" smtClean="0">
                <a:solidFill>
                  <a:schemeClr val="tx1"/>
                </a:solidFill>
                <a:latin typeface="+mn-lt"/>
                <a:ea typeface="+mn-ea"/>
                <a:cs typeface="+mn-cs"/>
              </a:rPr>
              <a:t>This project control list gives an idea of how far along the project is at any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given step from the final system.</a:t>
            </a:r>
          </a:p>
          <a:p>
            <a:endParaRPr lang="ru-RU" sz="1200" b="1" i="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sz="1200" dirty="0" smtClean="0"/>
              <a:t>В настоящее время некоторого вида постепенная (инкрементальная разработка ) является наиболее общим подходом для создания прикладных систем.</a:t>
            </a:r>
          </a:p>
          <a:p>
            <a:r>
              <a:rPr lang="en-US" sz="1200" b="1" i="1" kern="1200" baseline="0" dirty="0" smtClean="0">
                <a:solidFill>
                  <a:schemeClr val="tx1"/>
                </a:solidFill>
                <a:latin typeface="+mn-lt"/>
                <a:ea typeface="+mn-ea"/>
                <a:cs typeface="+mn-cs"/>
              </a:rPr>
              <a:t>Incremental development in some form is now the most common approach for the</a:t>
            </a:r>
            <a:r>
              <a:rPr lang="ru-RU" sz="1200" b="1" i="1" kern="1200" baseline="0" dirty="0" smtClean="0">
                <a:solidFill>
                  <a:schemeClr val="tx1"/>
                </a:solidFill>
                <a:latin typeface="+mn-lt"/>
                <a:ea typeface="+mn-ea"/>
                <a:cs typeface="+mn-cs"/>
              </a:rPr>
              <a:t> </a:t>
            </a:r>
            <a:r>
              <a:rPr lang="en-US" sz="1200" b="1" i="1" kern="1200" baseline="0" dirty="0" smtClean="0">
                <a:solidFill>
                  <a:schemeClr val="tx1"/>
                </a:solidFill>
                <a:latin typeface="+mn-lt"/>
                <a:ea typeface="+mn-ea"/>
                <a:cs typeface="+mn-cs"/>
              </a:rPr>
              <a:t>development of application systems. </a:t>
            </a:r>
            <a:endParaRPr lang="ru-RU" sz="1200" b="1" i="1"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approach can be either plan-driven, agile,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or, more usually, a mixture of these approaches.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a plan-driven approach, the system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increments are identified in advance;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if an agile approach is adopted, the early increments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are identified but the development of later increments depends on progress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customer priorities.</a:t>
            </a: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49</a:t>
            </a:fld>
            <a:endParaRPr lang="ru-RU"/>
          </a:p>
        </p:txBody>
      </p:sp>
    </p:spTree>
    <p:extLst>
      <p:ext uri="{BB962C8B-B14F-4D97-AF65-F5344CB8AC3E}">
        <p14:creationId xmlns:p14="http://schemas.microsoft.com/office/powerpoint/2010/main" val="1536275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en-US" sz="1200" kern="1200" baseline="0" dirty="0" smtClean="0">
                <a:solidFill>
                  <a:schemeClr val="tx1"/>
                </a:solidFill>
                <a:latin typeface="+mn-lt"/>
                <a:ea typeface="+mn-ea"/>
                <a:cs typeface="+mn-cs"/>
              </a:rPr>
              <a:t>Though there are clear benefits of iterative development, particularly in</a:t>
            </a:r>
            <a:r>
              <a:rPr lang="ru-RU" sz="1200" kern="1200" baseline="0" dirty="0" smtClean="0">
                <a:solidFill>
                  <a:schemeClr val="tx1"/>
                </a:solidFill>
                <a:latin typeface="+mn-lt"/>
                <a:ea typeface="+mn-ea"/>
                <a:cs typeface="+mn-cs"/>
              </a:rPr>
              <a:t> </a:t>
            </a:r>
          </a:p>
          <a:p>
            <a:pPr>
              <a:buFont typeface="Arial" pitchFamily="34" charset="0"/>
              <a:buChar char="•"/>
            </a:pP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allowing changing requirements, </a:t>
            </a:r>
            <a:endParaRPr lang="ru-RU" sz="1200" kern="1200" baseline="0" dirty="0" smtClean="0">
              <a:solidFill>
                <a:schemeClr val="tx1"/>
              </a:solidFill>
              <a:latin typeface="+mn-lt"/>
              <a:ea typeface="+mn-ea"/>
              <a:cs typeface="+mn-cs"/>
            </a:endParaRPr>
          </a:p>
          <a:p>
            <a:pPr>
              <a:buFont typeface="Arial" pitchFamily="34" charset="0"/>
              <a:buChar char="•"/>
            </a:pP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not having the all-or-nothing risk, etc.,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development has three important benefits, compared to the waterfall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model:</a:t>
            </a:r>
          </a:p>
          <a:p>
            <a:pPr marL="228600" indent="-228600">
              <a:buAutoNum type="arabicPeriod"/>
            </a:pPr>
            <a:r>
              <a:rPr lang="en-US" sz="1200" kern="1200" baseline="0" dirty="0" smtClean="0">
                <a:solidFill>
                  <a:schemeClr val="tx1"/>
                </a:solidFill>
                <a:latin typeface="+mn-lt"/>
                <a:ea typeface="+mn-ea"/>
                <a:cs typeface="+mn-cs"/>
              </a:rPr>
              <a:t>The cost of accommodating changing customer requirements is reduced. </a:t>
            </a:r>
            <a:endParaRPr lang="ru-RU" sz="1200" kern="1200" baseline="0" dirty="0" smtClean="0">
              <a:solidFill>
                <a:schemeClr val="tx1"/>
              </a:solidFill>
              <a:latin typeface="+mn-lt"/>
              <a:ea typeface="+mn-ea"/>
              <a:cs typeface="+mn-cs"/>
            </a:endParaRPr>
          </a:p>
          <a:p>
            <a:pPr marL="228600" indent="-228600">
              <a:buNone/>
            </a:pPr>
            <a:r>
              <a:rPr lang="en-US" sz="1200" kern="1200" baseline="0" dirty="0" smtClean="0">
                <a:solidFill>
                  <a:schemeClr val="tx1"/>
                </a:solidFill>
                <a:latin typeface="+mn-lt"/>
                <a:ea typeface="+mn-ea"/>
                <a:cs typeface="+mn-cs"/>
              </a:rPr>
              <a:t>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amount of analysis and documentation that has to be redone is much less than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required with the waterfall model.</a:t>
            </a:r>
            <a:endParaRPr lang="ru-RU" sz="1200" kern="1200" baseline="0" dirty="0" smtClean="0">
              <a:solidFill>
                <a:schemeClr val="tx1"/>
              </a:solidFill>
              <a:latin typeface="+mn-lt"/>
              <a:ea typeface="+mn-ea"/>
              <a:cs typeface="+mn-cs"/>
            </a:endParaRPr>
          </a:p>
          <a:p>
            <a:pPr marL="228600" indent="-228600">
              <a:buNone/>
            </a:pPr>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2. It is easier to get customer feedback on the development work that has been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done.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Customers can comment on demonstrations of the software and see how</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much has been implemented.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Customers find it difficult to judge progress from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software design documents.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3. More rapid delivery and deployment of useful software to the customer is possible,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even if all of the functionality has not been included.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Customers are able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use and gain value from the software earlier than is possible with a waterfall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a:t>
            </a:r>
            <a:endParaRPr lang="ru-RU" sz="1200" kern="1200" baseline="0" dirty="0" smtClean="0">
              <a:solidFill>
                <a:schemeClr val="tx1"/>
              </a:solidFill>
              <a:latin typeface="+mn-lt"/>
              <a:ea typeface="+mn-ea"/>
              <a:cs typeface="+mn-cs"/>
            </a:endParaRPr>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50</a:t>
            </a:fld>
            <a:endParaRPr lang="ru-RU"/>
          </a:p>
        </p:txBody>
      </p:sp>
    </p:spTree>
    <p:extLst>
      <p:ext uri="{BB962C8B-B14F-4D97-AF65-F5344CB8AC3E}">
        <p14:creationId xmlns:p14="http://schemas.microsoft.com/office/powerpoint/2010/main" val="12695806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0000" lnSpcReduction="20000"/>
          </a:bodyPr>
          <a:lstStyle/>
          <a:p>
            <a:r>
              <a:rPr lang="ru-RU" sz="1200" kern="1200" baseline="0" dirty="0" smtClean="0">
                <a:solidFill>
                  <a:schemeClr val="tx1"/>
                </a:solidFill>
                <a:latin typeface="+mn-lt"/>
                <a:ea typeface="+mn-ea"/>
                <a:cs typeface="+mn-cs"/>
              </a:rPr>
              <a:t>Разработка программного обеспечения сопряжена с рисками, как и вообще любая</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инженерная деятельность. </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 точки зрения пророка менеджмента Питера Ф. </a:t>
            </a:r>
            <a:r>
              <a:rPr lang="ru-RU" sz="1200" kern="1200" baseline="0" dirty="0" err="1" smtClean="0">
                <a:solidFill>
                  <a:schemeClr val="tx1"/>
                </a:solidFill>
                <a:latin typeface="+mn-lt"/>
                <a:ea typeface="+mn-ea"/>
                <a:cs typeface="+mn-cs"/>
              </a:rPr>
              <a:t>Друкера</a:t>
            </a:r>
            <a:r>
              <a:rPr lang="ru-RU" sz="1200" kern="1200" baseline="0" dirty="0" smtClean="0">
                <a:solidFill>
                  <a:schemeClr val="tx1"/>
                </a:solidFill>
                <a:latin typeface="+mn-lt"/>
                <a:ea typeface="+mn-ea"/>
                <a:cs typeface="+mn-cs"/>
              </a:rPr>
              <a:t>, «риск свойственен переводу существующих ресурсов в будущие надежды»</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[18]. </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При разработке программного обеспечения мы имеем дело с этими реалиями</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жизни, стараясь идентифицировать риски настолько рано и устранить их настолько</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быстро, насколько это возможно. </a:t>
            </a:r>
            <a:endParaRPr lang="en-US" sz="1200" kern="1200" baseline="0" dirty="0" smtClean="0">
              <a:solidFill>
                <a:schemeClr val="tx1"/>
              </a:solidFill>
              <a:latin typeface="+mn-lt"/>
              <a:ea typeface="+mn-ea"/>
              <a:cs typeface="+mn-cs"/>
            </a:endParaRPr>
          </a:p>
          <a:p>
            <a:pPr>
              <a:buFont typeface="Arial" pitchFamily="34" charset="0"/>
              <a:buChar char="•"/>
            </a:pPr>
            <a:r>
              <a:rPr lang="ru-RU" sz="1200" kern="1200" baseline="0" dirty="0" smtClean="0">
                <a:solidFill>
                  <a:schemeClr val="tx1"/>
                </a:solidFill>
                <a:latin typeface="+mn-lt"/>
                <a:ea typeface="+mn-ea"/>
                <a:cs typeface="+mn-cs"/>
              </a:rPr>
              <a:t>Риск — это воздействие, которое может привести</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к потерям или иному ущербу. </a:t>
            </a:r>
            <a:endParaRPr lang="en-US" sz="1200" kern="1200" baseline="0" dirty="0" smtClean="0">
              <a:solidFill>
                <a:schemeClr val="tx1"/>
              </a:solidFill>
              <a:latin typeface="+mn-lt"/>
              <a:ea typeface="+mn-ea"/>
              <a:cs typeface="+mn-cs"/>
            </a:endParaRPr>
          </a:p>
          <a:p>
            <a:pPr>
              <a:buFont typeface="Arial" pitchFamily="34" charset="0"/>
              <a:buChar char="•"/>
            </a:pPr>
            <a:r>
              <a:rPr lang="ru-RU" sz="1200" kern="1200" baseline="0" dirty="0" smtClean="0">
                <a:solidFill>
                  <a:schemeClr val="tx1"/>
                </a:solidFill>
                <a:latin typeface="+mn-lt"/>
                <a:ea typeface="+mn-ea"/>
                <a:cs typeface="+mn-cs"/>
              </a:rPr>
              <a:t>Риск — это фактор, сущность, элемент или</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курс, представляющий опасность для разработки, величина которой не определена.</a:t>
            </a:r>
          </a:p>
          <a:p>
            <a:endParaRPr lang="en-US"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В разработке программного обеспечения мы можем определить риск как нечто,</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с определенной вероятностью подвергающее опасности успешность проекта.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Согласно Каперсу Джонсу [51, из </a:t>
            </a:r>
            <a:r>
              <a:rPr lang="en-US" sz="1200" kern="1200" baseline="0" dirty="0" smtClean="0">
                <a:solidFill>
                  <a:schemeClr val="tx1"/>
                </a:solidFill>
                <a:latin typeface="+mn-lt"/>
                <a:ea typeface="+mn-ea"/>
                <a:cs typeface="+mn-cs"/>
              </a:rPr>
              <a:t>RUP</a:t>
            </a:r>
            <a:r>
              <a:rPr lang="ru-RU" sz="1200" kern="1200" baseline="0" dirty="0" smtClean="0">
                <a:solidFill>
                  <a:schemeClr val="tx1"/>
                </a:solidFill>
                <a:latin typeface="+mn-lt"/>
                <a:ea typeface="+mn-ea"/>
                <a:cs typeface="+mn-cs"/>
              </a:rPr>
              <a:t>], примерно в двух третях серьезных проектов</a:t>
            </a:r>
            <a:r>
              <a:rPr lang="en-US" sz="1200" kern="1200" baseline="0" dirty="0" smtClean="0">
                <a:solidFill>
                  <a:schemeClr val="tx1"/>
                </a:solidFill>
                <a:latin typeface="+mn-lt"/>
                <a:ea typeface="+mn-ea"/>
                <a:cs typeface="+mn-cs"/>
              </a:rPr>
              <a:t> </a:t>
            </a:r>
            <a:r>
              <a:rPr lang="ru-RU" sz="1200" kern="1200" baseline="0" dirty="0" smtClean="0">
                <a:solidFill>
                  <a:schemeClr val="tx1"/>
                </a:solidFill>
                <a:latin typeface="+mn-lt"/>
                <a:ea typeface="+mn-ea"/>
                <a:cs typeface="+mn-cs"/>
              </a:rPr>
              <a:t>разработки программного обеспечения разработчики оказываются не в состоянии</a:t>
            </a:r>
          </a:p>
          <a:p>
            <a:r>
              <a:rPr lang="ru-RU" sz="1200" kern="1200" baseline="0" dirty="0" smtClean="0">
                <a:solidFill>
                  <a:schemeClr val="tx1"/>
                </a:solidFill>
                <a:latin typeface="+mn-lt"/>
                <a:ea typeface="+mn-ea"/>
                <a:cs typeface="+mn-cs"/>
              </a:rPr>
              <a:t>адекватно оценить риски. </a:t>
            </a:r>
            <a:endParaRPr lang="en-US"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Для программного обеспечения необходима модель процесса, которая «создает управляемый рисками подход к процессу разработки программного обеспечения вместо применявшегося раньше управляемого документами или управляемого кодом процесса» [6].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Унифицированный процесс удовлетворяет этому критерию, поскольку опасные риски устраняются в нем на первых двух фазах, анализа и определения требований и проектирования, а устранение оставшихся происходит в порядке их серьезности в начале фазы построения.</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Унифицированный процесс идентифицирует риски, управляет ими и уменьшает их в ходе итераций на ранних фазах.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В результате мы можем быть уверены, что какие-либо неопознанные или проигнорированные риски не проявятся впоследствии и не подвергнут проект опасности.</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Итеративный подход к сокращению рисков имеет определенное сходство с водопадным подходом (приложение В).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Модель водопада предполагает разработку, проходящую единожды через ряд шагов: определение требований, анализ, проектирование, реализацию и тестирование.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При таком подходе, когда проект доходит до реализации, интеграции (приложение В) и тестирования, в нем должны участвовать все разработчики.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В ходе интеграции и тестирования проблемы начинают превалировать над всем остальным.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Менеджер проекта в этом случае бывает вынужден повторно поручить сотрудникам — часто более опытным разработчикам — решить возникшие проблемы для того, чтобы можно было продолжать работу.</a:t>
            </a:r>
          </a:p>
          <a:p>
            <a:r>
              <a:rPr lang="ru-RU" sz="1200" kern="1200" baseline="0" dirty="0" smtClean="0">
                <a:solidFill>
                  <a:schemeClr val="tx1"/>
                </a:solidFill>
                <a:latin typeface="+mn-lt"/>
                <a:ea typeface="+mn-ea"/>
                <a:cs typeface="+mn-cs"/>
              </a:rPr>
              <a:t>Однако все разработчике! уже заняты, и менеджерам проектов очень нелегко «вырвать » незанятых сотрудников, которые обладали бы квалификацией, необходимой</a:t>
            </a:r>
          </a:p>
          <a:p>
            <a:r>
              <a:rPr lang="ru-RU" sz="1200" kern="1200" baseline="0" dirty="0" smtClean="0">
                <a:solidFill>
                  <a:schemeClr val="tx1"/>
                </a:solidFill>
                <a:latin typeface="+mn-lt"/>
                <a:ea typeface="+mn-ea"/>
                <a:cs typeface="+mn-cs"/>
              </a:rPr>
              <a:t>для решения возникших проблем.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Для решения этой проблемы более опытные разработчики назначаются «дежурными уборщиками», в то время как менее опытные сидят и ждут.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Сроки срываются, проект превышает смету. Если особенно не повезло, конкуренты выходят на рынок первыми.</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Если мы вычертим график зависимости рисков от времени с начала разработки, как на рис. 5.1, обнаружится, что при итеративной разработке уменьшение опасных</a:t>
            </a:r>
          </a:p>
          <a:p>
            <a:r>
              <a:rPr lang="ru-RU" sz="1200" kern="1200" baseline="0" dirty="0" smtClean="0">
                <a:solidFill>
                  <a:schemeClr val="tx1"/>
                </a:solidFill>
                <a:latin typeface="+mn-lt"/>
                <a:ea typeface="+mn-ea"/>
                <a:cs typeface="+mn-cs"/>
              </a:rPr>
              <a:t>рисков начинается с самых ранних итераций.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К тому времени, когда работа доходит до фазы построения, действительно опасных рисков остается немного, и деятельность разработчиков протекает без особых эксцессов.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С другой стороны, при использовании водопадной модели серьезные риски никак не обрабатываются до наступления времени «большого взрыва» на этапе интеграции кода.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На рис. 5.1 пунктирной линией показано, что при водопадной разработке наиболее опасные риски сохраняются до момента интеграции и тестирования системы. </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Итерации, указанные в нижней части рисунка, имеют смысл только для итеративной и инкрементной разработки.</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51</a:t>
            </a:fld>
            <a:endParaRPr lang="ru-RU"/>
          </a:p>
        </p:txBody>
      </p:sp>
    </p:spTree>
    <p:extLst>
      <p:ext uri="{BB962C8B-B14F-4D97-AF65-F5344CB8AC3E}">
        <p14:creationId xmlns:p14="http://schemas.microsoft.com/office/powerpoint/2010/main" val="2892852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47500" lnSpcReduction="20000"/>
          </a:bodyPr>
          <a:lstStyle/>
          <a:p>
            <a:r>
              <a:rPr lang="en-US" sz="1200" kern="1200" baseline="0" dirty="0" smtClean="0">
                <a:solidFill>
                  <a:schemeClr val="tx1"/>
                </a:solidFill>
                <a:latin typeface="+mn-lt"/>
                <a:ea typeface="+mn-ea"/>
                <a:cs typeface="+mn-cs"/>
              </a:rPr>
              <a:t>http</a:t>
            </a:r>
            <a:r>
              <a:rPr lang="en-US" sz="1200" kern="1200" baseline="0" dirty="0" smtClean="0">
                <a:solidFill>
                  <a:schemeClr val="tx1"/>
                </a:solidFill>
                <a:latin typeface="+mn-lt"/>
                <a:ea typeface="+mn-ea"/>
                <a:cs typeface="+mn-cs"/>
              </a:rPr>
              <a:t>://www.SoftwareEngineering-9.com/Web/IncrementalDev/</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Во-первых, целостное понимание возможностей и ограничений проекта очень долгое время отсутствует. </a:t>
            </a:r>
          </a:p>
          <a:p>
            <a:r>
              <a:rPr lang="ru-RU" sz="1200" b="0" i="0" kern="1200" dirty="0" smtClean="0">
                <a:solidFill>
                  <a:schemeClr val="tx1"/>
                </a:solidFill>
                <a:latin typeface="+mn-lt"/>
                <a:ea typeface="+mn-ea"/>
                <a:cs typeface="+mn-cs"/>
              </a:rPr>
              <a:t>Во-вторых, при итерациях приходится отбрасывать часть сделанной ранее работы. </a:t>
            </a:r>
          </a:p>
          <a:p>
            <a:r>
              <a:rPr lang="ru-RU" sz="1200" b="0" i="0" kern="1200" dirty="0" smtClean="0">
                <a:solidFill>
                  <a:schemeClr val="tx1"/>
                </a:solidFill>
                <a:latin typeface="+mn-lt"/>
                <a:ea typeface="+mn-ea"/>
                <a:cs typeface="+mn-cs"/>
              </a:rPr>
              <a:t>В-третьих, добросовестность специалистов при выполнении работ всё же снижается, что психологически объяснимо, ведь над ними постоянно довлеет ощущение, что «всё равно всё можно будет переделать и улучшить позже»</a:t>
            </a:r>
            <a:r>
              <a:rPr lang="ru-RU" sz="1200" b="0" i="0" u="none" strike="noStrike" kern="1200" baseline="30000" dirty="0" smtClean="0">
                <a:solidFill>
                  <a:schemeClr val="tx1"/>
                </a:solidFill>
                <a:latin typeface="+mn-lt"/>
                <a:ea typeface="+mn-ea"/>
                <a:cs typeface="+mn-cs"/>
                <a:hlinkClick r:id="rId3"/>
              </a:rPr>
              <a:t>[3]</a:t>
            </a:r>
            <a:r>
              <a:rPr lang="ru-RU" sz="1200" b="0" i="0" kern="1200" dirty="0" smtClean="0">
                <a:solidFill>
                  <a:schemeClr val="tx1"/>
                </a:solidFill>
                <a:latin typeface="+mn-lt"/>
                <a:ea typeface="+mn-ea"/>
                <a:cs typeface="+mn-cs"/>
              </a:rPr>
              <a:t>.</a:t>
            </a:r>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52</a:t>
            </a:fld>
            <a:endParaRPr lang="ru-RU"/>
          </a:p>
        </p:txBody>
      </p:sp>
    </p:spTree>
    <p:extLst>
      <p:ext uri="{BB962C8B-B14F-4D97-AF65-F5344CB8AC3E}">
        <p14:creationId xmlns:p14="http://schemas.microsoft.com/office/powerpoint/2010/main" val="8729686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Инкрементальную или гибкую модель разработки не всегда легко вводить или использовать в больших компаниях со стандартизированными инженерными процессами и в организациях, в которых разработка ПО обычно передается на </a:t>
            </a:r>
            <a:r>
              <a:rPr lang="ru-RU" dirty="0" err="1" smtClean="0"/>
              <a:t>аутсорсинг</a:t>
            </a:r>
            <a:r>
              <a:rPr lang="ru-RU" dirty="0" smtClean="0"/>
              <a:t> внешним исполнителям.</a:t>
            </a:r>
          </a:p>
          <a:p>
            <a:endParaRPr lang="ru-RU"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Incremental or agile development is not always easy to introduce or use, particularly in large companies with </a:t>
            </a:r>
            <a:r>
              <a:rPr lang="en-US" sz="1200" b="0" i="0" kern="1200" dirty="0" err="1" smtClean="0">
                <a:solidFill>
                  <a:schemeClr val="tx1"/>
                </a:solidFill>
                <a:latin typeface="+mn-lt"/>
                <a:ea typeface="+mn-ea"/>
                <a:cs typeface="+mn-cs"/>
              </a:rPr>
              <a:t>standardised</a:t>
            </a:r>
            <a:r>
              <a:rPr lang="en-US" sz="1200" b="0" i="0" kern="1200" dirty="0" smtClean="0">
                <a:solidFill>
                  <a:schemeClr val="tx1"/>
                </a:solidFill>
                <a:latin typeface="+mn-lt"/>
                <a:ea typeface="+mn-ea"/>
                <a:cs typeface="+mn-cs"/>
              </a:rPr>
              <a:t> engineering procedures and in </a:t>
            </a:r>
            <a:r>
              <a:rPr lang="en-US" sz="1200" b="0" i="0" kern="1200" dirty="0" err="1" smtClean="0">
                <a:solidFill>
                  <a:schemeClr val="tx1"/>
                </a:solidFill>
                <a:latin typeface="+mn-lt"/>
                <a:ea typeface="+mn-ea"/>
                <a:cs typeface="+mn-cs"/>
              </a:rPr>
              <a:t>organisations</a:t>
            </a:r>
            <a:r>
              <a:rPr lang="en-US" sz="1200" b="0" i="0" kern="1200" dirty="0" smtClean="0">
                <a:solidFill>
                  <a:schemeClr val="tx1"/>
                </a:solidFill>
                <a:latin typeface="+mn-lt"/>
                <a:ea typeface="+mn-ea"/>
                <a:cs typeface="+mn-cs"/>
              </a:rPr>
              <a:t> where software development is usually outsourced to an external contractor. </a:t>
            </a:r>
          </a:p>
          <a:p>
            <a:endParaRPr lang="ru-RU" sz="1200" b="0" i="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Если разработка передается внешним исполнителям, то и клиент и исполнитель обычно хотят иметь полное описание того, что уже было сделано.</a:t>
            </a:r>
            <a:endParaRPr lang="ru-RU"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If development is outsourced, both the client and the contractor usually want to have a complete specification defining what is to be done.</a:t>
            </a:r>
          </a:p>
          <a:p>
            <a:endParaRPr lang="ru-RU" sz="1200" b="0" i="0" kern="1200" dirty="0" smtClean="0">
              <a:solidFill>
                <a:schemeClr val="tx1"/>
              </a:solidFill>
              <a:latin typeface="+mn-lt"/>
              <a:ea typeface="+mn-ea"/>
              <a:cs typeface="+mn-cs"/>
            </a:endParaRPr>
          </a:p>
          <a:p>
            <a:endParaRPr lang="ru-RU" sz="1200" b="0" i="0" kern="1200" dirty="0" smtClean="0">
              <a:solidFill>
                <a:schemeClr val="tx1"/>
              </a:solidFill>
              <a:latin typeface="+mn-lt"/>
              <a:ea typeface="+mn-ea"/>
              <a:cs typeface="+mn-cs"/>
            </a:endParaRPr>
          </a:p>
          <a:p>
            <a:endParaRPr lang="en-US" sz="1200" b="0" i="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53</a:t>
            </a:fld>
            <a:endParaRPr lang="ru-RU"/>
          </a:p>
        </p:txBody>
      </p:sp>
    </p:spTree>
    <p:extLst>
      <p:ext uri="{BB962C8B-B14F-4D97-AF65-F5344CB8AC3E}">
        <p14:creationId xmlns:p14="http://schemas.microsoft.com/office/powerpoint/2010/main" val="933254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0000" lnSpcReduction="20000"/>
          </a:bodyPr>
          <a:lstStyle/>
          <a:p>
            <a:r>
              <a:rPr lang="en-US" sz="1200" b="0" i="0" kern="1200" dirty="0" smtClean="0">
                <a:solidFill>
                  <a:schemeClr val="tx1"/>
                </a:solidFill>
                <a:latin typeface="+mn-lt"/>
                <a:ea typeface="+mn-ea"/>
                <a:cs typeface="+mn-cs"/>
              </a:rPr>
              <a:t>The major difficulties with incremental development and incremental delivery are:</a:t>
            </a:r>
          </a:p>
          <a:p>
            <a:r>
              <a:rPr lang="ru-RU" b="1" i="1" dirty="0" smtClean="0"/>
              <a:t>1.</a:t>
            </a:r>
            <a:r>
              <a:rPr lang="ru-RU" b="1" i="1" baseline="0" dirty="0" smtClean="0"/>
              <a:t> </a:t>
            </a:r>
            <a:r>
              <a:rPr lang="en-US" b="1" i="1" dirty="0" smtClean="0"/>
              <a:t>Management problems</a:t>
            </a:r>
            <a:r>
              <a:rPr lang="en-US" b="1" dirty="0" smtClean="0"/>
              <a:t> </a:t>
            </a:r>
            <a:endParaRPr lang="ru-RU" b="1" dirty="0" smtClean="0"/>
          </a:p>
          <a:p>
            <a:r>
              <a:rPr lang="en-US" dirty="0" smtClean="0"/>
              <a:t>Software management structures for large systems are set up to deal with a software process model that generates regular deliverables to assess progress. </a:t>
            </a:r>
            <a:endParaRPr lang="ru-RU" dirty="0" smtClean="0"/>
          </a:p>
          <a:p>
            <a:r>
              <a:rPr lang="en-US" dirty="0" smtClean="0"/>
              <a:t>Incrementally developed systems change so quickly that it is not cost-effective to produce lots of system documentation. </a:t>
            </a:r>
            <a:endParaRPr lang="ru-RU" dirty="0" smtClean="0"/>
          </a:p>
          <a:p>
            <a:r>
              <a:rPr lang="en-US" dirty="0" smtClean="0"/>
              <a:t>Furthermore, incremental development may sometimes require unfamiliar technologies to be used to ensure the most rapid delivery of the software. </a:t>
            </a:r>
            <a:endParaRPr lang="ru-RU" dirty="0" smtClean="0"/>
          </a:p>
          <a:p>
            <a:r>
              <a:rPr lang="en-US" dirty="0" smtClean="0"/>
              <a:t>Managers may find it difficult to use existing staff in incremental development processes because they lack these skills.</a:t>
            </a:r>
            <a:endParaRPr lang="ru-RU" dirty="0" smtClean="0"/>
          </a:p>
          <a:p>
            <a:endParaRPr lang="ru-RU" b="1" i="1" dirty="0" smtClean="0"/>
          </a:p>
          <a:p>
            <a:r>
              <a:rPr lang="ru-RU" b="1" i="1" dirty="0" smtClean="0"/>
              <a:t>2.</a:t>
            </a:r>
            <a:r>
              <a:rPr lang="ru-RU" b="1" i="1" baseline="0" dirty="0" smtClean="0"/>
              <a:t> </a:t>
            </a:r>
            <a:r>
              <a:rPr lang="en-US" b="1" i="1" dirty="0" smtClean="0"/>
              <a:t>Contractual problems</a:t>
            </a:r>
            <a:r>
              <a:rPr lang="en-US" b="1" dirty="0" smtClean="0"/>
              <a:t> </a:t>
            </a:r>
            <a:endParaRPr lang="ru-RU" b="1" dirty="0" smtClean="0"/>
          </a:p>
          <a:p>
            <a:r>
              <a:rPr lang="en-US" dirty="0" smtClean="0"/>
              <a:t>The normal contractual model between a customer and a software developer is based around a system specification. </a:t>
            </a:r>
            <a:endParaRPr lang="ru-RU" dirty="0" smtClean="0"/>
          </a:p>
          <a:p>
            <a:r>
              <a:rPr lang="en-US" dirty="0" smtClean="0"/>
              <a:t>When there is no such specification, it may be difficult to design a contract for the system development. </a:t>
            </a:r>
            <a:endParaRPr lang="ru-RU" dirty="0" smtClean="0"/>
          </a:p>
          <a:p>
            <a:r>
              <a:rPr lang="en-US" dirty="0" smtClean="0"/>
              <a:t>Customers may be unhappy with a contract that simply pays developers for the time spent on the project, as this can lead to function creep and budget overruns; </a:t>
            </a:r>
            <a:endParaRPr lang="ru-RU" dirty="0" smtClean="0"/>
          </a:p>
          <a:p>
            <a:r>
              <a:rPr lang="en-US" dirty="0" smtClean="0"/>
              <a:t>developers are unlikely to accept a fixed-price contract because they cannot control the changes requested by the end-users.</a:t>
            </a:r>
            <a:endParaRPr lang="ru-RU" dirty="0" smtClean="0"/>
          </a:p>
          <a:p>
            <a:endParaRPr lang="ru-RU" b="1" i="1" dirty="0" smtClean="0"/>
          </a:p>
          <a:p>
            <a:r>
              <a:rPr lang="ru-RU" b="1" i="1" dirty="0" smtClean="0"/>
              <a:t>3. </a:t>
            </a:r>
            <a:r>
              <a:rPr lang="en-US" b="1" i="1" dirty="0" smtClean="0"/>
              <a:t>Validation problems</a:t>
            </a:r>
            <a:r>
              <a:rPr lang="en-US" b="1" dirty="0" smtClean="0"/>
              <a:t> </a:t>
            </a:r>
            <a:endParaRPr lang="ru-RU" b="1" dirty="0" smtClean="0"/>
          </a:p>
          <a:p>
            <a:r>
              <a:rPr lang="en-US" dirty="0" smtClean="0"/>
              <a:t>In a specification-based process, verification and validation are geared towards demonstrating that the system meets its specification. </a:t>
            </a:r>
            <a:endParaRPr lang="ru-RU" dirty="0" smtClean="0"/>
          </a:p>
          <a:p>
            <a:r>
              <a:rPr lang="en-US" dirty="0" smtClean="0"/>
              <a:t>An independent V &amp; V team can start work as soon as the specification is available and can prepare tests in parallel with the system implementation. </a:t>
            </a:r>
            <a:endParaRPr lang="ru-RU" dirty="0" smtClean="0"/>
          </a:p>
          <a:p>
            <a:r>
              <a:rPr lang="en-US" dirty="0" smtClean="0"/>
              <a:t>Iterative development processes try to </a:t>
            </a:r>
            <a:r>
              <a:rPr lang="en-US" dirty="0" err="1" smtClean="0"/>
              <a:t>minimise</a:t>
            </a:r>
            <a:r>
              <a:rPr lang="en-US" dirty="0" smtClean="0"/>
              <a:t> documentation and interleave specification and development. </a:t>
            </a:r>
            <a:endParaRPr lang="ru-RU" dirty="0" smtClean="0"/>
          </a:p>
          <a:p>
            <a:r>
              <a:rPr lang="en-US" dirty="0" smtClean="0"/>
              <a:t>Hence, independent validation of incrementally developed systems is difficult.</a:t>
            </a:r>
            <a:endParaRPr lang="ru-RU" dirty="0" smtClean="0"/>
          </a:p>
          <a:p>
            <a:endParaRPr lang="ru-RU" b="1" i="1" baseline="0" dirty="0" smtClean="0"/>
          </a:p>
          <a:p>
            <a:r>
              <a:rPr lang="ru-RU" b="1" i="1" baseline="0" dirty="0" smtClean="0"/>
              <a:t>4.</a:t>
            </a:r>
            <a:r>
              <a:rPr lang="en-US" b="1" i="1" baseline="0" dirty="0" smtClean="0"/>
              <a:t> </a:t>
            </a:r>
            <a:r>
              <a:rPr lang="en-US" b="1" i="1" dirty="0" smtClean="0"/>
              <a:t>Maintenance problems</a:t>
            </a:r>
            <a:r>
              <a:rPr lang="en-US" b="1" dirty="0" smtClean="0"/>
              <a:t> </a:t>
            </a:r>
            <a:endParaRPr lang="ru-RU" b="1" dirty="0" smtClean="0"/>
          </a:p>
          <a:p>
            <a:r>
              <a:rPr lang="en-US" dirty="0" smtClean="0"/>
              <a:t>Continual change tends to corrupt the structure of any software system. </a:t>
            </a:r>
            <a:endParaRPr lang="ru-RU" dirty="0" smtClean="0"/>
          </a:p>
          <a:p>
            <a:r>
              <a:rPr lang="en-US" dirty="0" smtClean="0"/>
              <a:t>This means that anyone apart from the original developers may find the software difficult to understand. </a:t>
            </a:r>
            <a:endParaRPr lang="ru-RU" dirty="0" smtClean="0"/>
          </a:p>
          <a:p>
            <a:r>
              <a:rPr lang="en-US" dirty="0" smtClean="0"/>
              <a:t>One way to reduce this problem is to use refactoring (discussed in the book section on extreme programming), where software structures are continually improved during the development process.</a:t>
            </a:r>
            <a:endParaRPr lang="en-US" sz="1200" b="0" i="0" kern="1200" dirty="0" smtClean="0">
              <a:solidFill>
                <a:schemeClr val="tx1"/>
              </a:solidFill>
              <a:latin typeface="+mn-lt"/>
              <a:ea typeface="+mn-ea"/>
              <a:cs typeface="+mn-cs"/>
            </a:endParaRPr>
          </a:p>
          <a:p>
            <a:endParaRPr lang="ru-RU" b="1" i="1" dirty="0" smtClean="0"/>
          </a:p>
          <a:p>
            <a:r>
              <a:rPr lang="ru-RU" b="1" i="1" dirty="0" smtClean="0"/>
              <a:t>5. </a:t>
            </a:r>
            <a:r>
              <a:rPr lang="en-US" b="1" i="1" dirty="0" smtClean="0"/>
              <a:t>Technology problems</a:t>
            </a:r>
            <a:r>
              <a:rPr lang="en-US" b="1" dirty="0" smtClean="0"/>
              <a:t> </a:t>
            </a:r>
            <a:endParaRPr lang="ru-RU" b="1" dirty="0" smtClean="0"/>
          </a:p>
          <a:p>
            <a:r>
              <a:rPr lang="en-US" dirty="0" smtClean="0"/>
              <a:t>If </a:t>
            </a:r>
            <a:r>
              <a:rPr lang="en-US" dirty="0" err="1" smtClean="0"/>
              <a:t>specialised</a:t>
            </a:r>
            <a:r>
              <a:rPr lang="en-US" dirty="0" smtClean="0"/>
              <a:t> technology, such as RAD environments, discussed in Section 3.4, is used to support rapid development, </a:t>
            </a:r>
            <a:endParaRPr lang="ru-RU" dirty="0" smtClean="0"/>
          </a:p>
          <a:p>
            <a:r>
              <a:rPr lang="en-US" dirty="0" smtClean="0"/>
              <a:t>the RAD technology may become obsolete. </a:t>
            </a:r>
            <a:endParaRPr lang="ru-RU" dirty="0" smtClean="0"/>
          </a:p>
          <a:p>
            <a:r>
              <a:rPr lang="en-US" dirty="0" smtClean="0"/>
              <a:t>Therefore, finding people who have the required knowledge to maintain the system may be difficult.</a:t>
            </a:r>
            <a:endParaRPr lang="ru-RU" dirty="0" smtClean="0"/>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54</a:t>
            </a:fld>
            <a:endParaRPr lang="ru-RU"/>
          </a:p>
        </p:txBody>
      </p:sp>
    </p:spTree>
    <p:extLst>
      <p:ext uri="{BB962C8B-B14F-4D97-AF65-F5344CB8AC3E}">
        <p14:creationId xmlns:p14="http://schemas.microsoft.com/office/powerpoint/2010/main" val="15654324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32500" lnSpcReduction="20000"/>
          </a:bodyPr>
          <a:lstStyle/>
          <a:p>
            <a:r>
              <a:rPr lang="en-US" sz="1200" kern="1200" baseline="0" dirty="0" smtClean="0">
                <a:solidFill>
                  <a:schemeClr val="tx1"/>
                </a:solidFill>
                <a:latin typeface="+mn-lt"/>
                <a:ea typeface="+mn-ea"/>
                <a:cs typeface="+mn-cs"/>
              </a:rPr>
              <a:t>2.1.2 Incremental development</a:t>
            </a:r>
            <a:r>
              <a:rPr lang="ru-RU" sz="1200" kern="1200" baseline="0" dirty="0" smtClean="0">
                <a:solidFill>
                  <a:schemeClr val="tx1"/>
                </a:solidFill>
                <a:latin typeface="+mn-lt"/>
                <a:ea typeface="+mn-ea"/>
                <a:cs typeface="+mn-cs"/>
              </a:rPr>
              <a:t> (поэтапная разработка, постепенная разработка)</a:t>
            </a:r>
            <a:endParaRPr lang="en-US"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development is based on the idea of developing an initial implementation,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exposing this to user comment and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evolving it through several versions until an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adequate system has been developed (Figure 2.2).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Specification, development,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validation activities are interleaved rather than separate, with rapid feedback across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activities.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software development, which is a fundamental part of agile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approaches, is better than a waterfall approach for most business, e-commerce,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personal systems.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development reflects the way that we solve problems.</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We rarely work out a complete problem solution in advance but move toward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 solution in a series of steps, backtracking when we realize that we have made a</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mistake.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By developing the software incrementally, it is cheaper and easier to make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changes in the software as it is being developed.</a:t>
            </a:r>
          </a:p>
          <a:p>
            <a:r>
              <a:rPr lang="en-US" sz="1200" kern="1200" baseline="0" dirty="0" smtClean="0">
                <a:solidFill>
                  <a:schemeClr val="tx1"/>
                </a:solidFill>
                <a:latin typeface="+mn-lt"/>
                <a:ea typeface="+mn-ea"/>
                <a:cs typeface="+mn-cs"/>
              </a:rPr>
              <a:t>Each increment or version of the system incorporates some of the functionality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that is needed by the customer.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Generally, the early increments of the system include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most important or most urgently required functionality.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means that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customer can evaluate the system at a relatively early stage in the development to see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if it delivers what is required.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If not, then only the current increment has to be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changed and, possibly, new functionality defined for later increments.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development has three important benefits, compared to the waterfall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model:</a:t>
            </a:r>
          </a:p>
          <a:p>
            <a:r>
              <a:rPr lang="en-US" sz="1200" kern="1200" baseline="0" dirty="0" smtClean="0">
                <a:solidFill>
                  <a:schemeClr val="tx1"/>
                </a:solidFill>
                <a:latin typeface="+mn-lt"/>
                <a:ea typeface="+mn-ea"/>
                <a:cs typeface="+mn-cs"/>
              </a:rPr>
              <a:t>1. The cost of accommodating changing customer requirements is reduced.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amount of analysis and documentation that has to be redone is much less than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required with the waterfall model.</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2. It is easier to get customer feedback on the development work that has been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done. Customers can comment on demonstrations of the software and see how</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much has been implemented. Customers find it difficult to judge progress from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software design documents.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3. More rapid delivery and deployment of useful software to the customer is possible,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even if all of the functionality has not been included. Customers are able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use and gain value from the software earlier than is possible with a waterfall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b="1" i="1" kern="1200" baseline="0" dirty="0" smtClean="0">
                <a:solidFill>
                  <a:schemeClr val="tx1"/>
                </a:solidFill>
                <a:latin typeface="+mn-lt"/>
                <a:ea typeface="+mn-ea"/>
                <a:cs typeface="+mn-cs"/>
              </a:rPr>
              <a:t>Problems with incremental development</a:t>
            </a:r>
          </a:p>
          <a:p>
            <a:r>
              <a:rPr lang="en-US" sz="1200" kern="1200" baseline="0" dirty="0" smtClean="0">
                <a:solidFill>
                  <a:schemeClr val="tx1"/>
                </a:solidFill>
                <a:latin typeface="+mn-lt"/>
                <a:ea typeface="+mn-ea"/>
                <a:cs typeface="+mn-cs"/>
              </a:rPr>
              <a:t>Although incremental development has many advantages, it is not problem-free.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primary cause of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difficulty is the fact that large organizations have bureaucratic procedures that have evolved over time and there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may be a mismatch between these procedures and a more informal iterative or agile process.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Sometimes these procedures are there for good reasons—for example, there may be procedures to ensure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that the software properly implements external regulations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(e.g., in the United States, the Sarbanes-Oxley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accounting regulations).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Changing these procedures may not be possible so process conflicts may be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unavoidable.</a:t>
            </a:r>
            <a:r>
              <a:rPr lang="ru-RU" sz="1200" kern="1200" baseline="0" dirty="0" smtClean="0">
                <a:solidFill>
                  <a:schemeClr val="tx1"/>
                </a:solidFill>
                <a:latin typeface="+mn-lt"/>
                <a:ea typeface="+mn-ea"/>
                <a:cs typeface="+mn-cs"/>
              </a:rPr>
              <a:t> </a:t>
            </a:r>
          </a:p>
          <a:p>
            <a:r>
              <a:rPr lang="en-US" sz="1200" kern="1200" baseline="0" dirty="0" smtClean="0">
                <a:solidFill>
                  <a:schemeClr val="tx1"/>
                </a:solidFill>
                <a:latin typeface="+mn-lt"/>
                <a:ea typeface="+mn-ea"/>
                <a:cs typeface="+mn-cs"/>
              </a:rPr>
              <a:t>http://www.SoftwareEngineering-9.com/Web/IncrementalDev/</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development in some form is now the most common approach for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development of application systems.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approach can be either plan-driven, agile,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or, more usually, a mixture of these approaches.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a plan-driven approach, the system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increments are identified in advance;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if an agile approach is adopted, the early increments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are identified but the development of later increments depends on progress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customer priorities.</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From a management perspective, the incremental approach has two problems:</a:t>
            </a:r>
            <a:endParaRPr lang="ru-RU"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pPr marL="228600" indent="-228600">
              <a:buAutoNum type="arabicPeriod"/>
            </a:pPr>
            <a:r>
              <a:rPr lang="en-US" sz="1200" kern="1200" baseline="0" dirty="0" smtClean="0">
                <a:solidFill>
                  <a:schemeClr val="tx1"/>
                </a:solidFill>
                <a:latin typeface="+mn-lt"/>
                <a:ea typeface="+mn-ea"/>
                <a:cs typeface="+mn-cs"/>
              </a:rPr>
              <a:t>The process is not visible. Managers need regular deliverables to measure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progress. </a:t>
            </a:r>
            <a:endParaRPr lang="ru-RU" sz="1200" kern="1200" baseline="0" dirty="0" smtClean="0">
              <a:solidFill>
                <a:schemeClr val="tx1"/>
              </a:solidFill>
              <a:latin typeface="+mn-lt"/>
              <a:ea typeface="+mn-ea"/>
              <a:cs typeface="+mn-cs"/>
            </a:endParaRPr>
          </a:p>
          <a:p>
            <a:pPr marL="228600" indent="-228600">
              <a:buNone/>
            </a:pPr>
            <a:r>
              <a:rPr lang="en-US" sz="1200" kern="1200" baseline="0" dirty="0" smtClean="0">
                <a:solidFill>
                  <a:schemeClr val="tx1"/>
                </a:solidFill>
                <a:latin typeface="+mn-lt"/>
                <a:ea typeface="+mn-ea"/>
                <a:cs typeface="+mn-cs"/>
              </a:rPr>
              <a:t>If systems are developed quickly, it is not cost-effective to produce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documents that reflect every version of the system.</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2. System structure tends to degrade as new increments are added.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Unless time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money is spent on refactoring to improve the software, regular change tends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corrupt its structure.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Incorporating further software changes becomes increasingly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difficult and costly.</a:t>
            </a:r>
          </a:p>
          <a:p>
            <a:r>
              <a:rPr lang="en-US" sz="1200" kern="1200" baseline="0" dirty="0" smtClean="0">
                <a:solidFill>
                  <a:schemeClr val="tx1"/>
                </a:solidFill>
                <a:latin typeface="+mn-lt"/>
                <a:ea typeface="+mn-ea"/>
                <a:cs typeface="+mn-cs"/>
              </a:rPr>
              <a:t>The problems of incremental development become particularly acute for large,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complex, long-lifetime systems, where different teams develop different parts of the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system.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Large systems need a stable framework or architecture and the responsibilities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of the different teams working on parts of the system need to be clearly defined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with respect to that architecture.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has to be planned in advance rather than developed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incrementally.</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You can develop a system incrementally and expose it to customers for comment,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without actually delivering it and deploying it in the customer’s environment.</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Incremental delivery and deployment means that the software is used in real, operational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processes.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is not always possible as experimenting with new software can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disrupt normal business processes.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b="1" i="1" kern="1200" baseline="0" dirty="0" smtClean="0">
                <a:solidFill>
                  <a:schemeClr val="tx1"/>
                </a:solidFill>
                <a:latin typeface="+mn-lt"/>
                <a:ea typeface="+mn-ea"/>
                <a:cs typeface="+mn-cs"/>
              </a:rPr>
              <a:t>I discuss the advantages and disadvantages of incremental</a:t>
            </a:r>
            <a:r>
              <a:rPr lang="ru-RU" sz="1200" b="1" i="1" kern="1200" baseline="0" dirty="0" smtClean="0">
                <a:solidFill>
                  <a:schemeClr val="tx1"/>
                </a:solidFill>
                <a:latin typeface="+mn-lt"/>
                <a:ea typeface="+mn-ea"/>
                <a:cs typeface="+mn-cs"/>
              </a:rPr>
              <a:t> </a:t>
            </a:r>
            <a:r>
              <a:rPr lang="en-US" sz="1200" b="1" i="1" kern="1200" baseline="0" dirty="0" smtClean="0">
                <a:solidFill>
                  <a:schemeClr val="tx1"/>
                </a:solidFill>
                <a:latin typeface="+mn-lt"/>
                <a:ea typeface="+mn-ea"/>
                <a:cs typeface="+mn-cs"/>
              </a:rPr>
              <a:t>delivery in Section 2.3.2.</a:t>
            </a:r>
            <a:endParaRPr lang="ru-RU" sz="1200" b="1" i="1" kern="1200" baseline="0" dirty="0" smtClean="0">
              <a:solidFill>
                <a:schemeClr val="tx1"/>
              </a:solidFill>
              <a:latin typeface="+mn-lt"/>
              <a:ea typeface="+mn-ea"/>
              <a:cs typeface="+mn-cs"/>
            </a:endParaRPr>
          </a:p>
          <a:p>
            <a:endParaRPr lang="ru-RU" dirty="0" smtClean="0"/>
          </a:p>
          <a:p>
            <a:endParaRPr lang="ru-RU" dirty="0"/>
          </a:p>
        </p:txBody>
      </p:sp>
      <p:sp>
        <p:nvSpPr>
          <p:cNvPr id="4" name="Номер слайда 3"/>
          <p:cNvSpPr>
            <a:spLocks noGrp="1"/>
          </p:cNvSpPr>
          <p:nvPr>
            <p:ph type="sldNum" sz="quarter" idx="10"/>
          </p:nvPr>
        </p:nvSpPr>
        <p:spPr/>
        <p:txBody>
          <a:bodyPr/>
          <a:lstStyle/>
          <a:p>
            <a:fld id="{D7D23C68-B098-428F-AEA7-C85CE65B52A1}" type="slidenum">
              <a:rPr lang="ru-RU" smtClean="0"/>
              <a:pPr/>
              <a:t>55</a:t>
            </a:fld>
            <a:endParaRPr lang="ru-RU"/>
          </a:p>
        </p:txBody>
      </p:sp>
    </p:spTree>
    <p:extLst>
      <p:ext uri="{BB962C8B-B14F-4D97-AF65-F5344CB8AC3E}">
        <p14:creationId xmlns:p14="http://schemas.microsoft.com/office/powerpoint/2010/main" val="23817100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lnSpcReduction="10000"/>
          </a:bodyPr>
          <a:lstStyle/>
          <a:p>
            <a:r>
              <a:rPr lang="en-US" sz="1200" kern="1200" baseline="0" dirty="0" smtClean="0">
                <a:solidFill>
                  <a:schemeClr val="tx1"/>
                </a:solidFill>
                <a:latin typeface="+mn-lt"/>
                <a:ea typeface="+mn-ea"/>
                <a:cs typeface="+mn-cs"/>
              </a:rPr>
              <a:t>There are a few key reasons for its increasing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popularity.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b="1" i="1" kern="1200" baseline="0" dirty="0" smtClean="0">
                <a:solidFill>
                  <a:schemeClr val="tx1"/>
                </a:solidFill>
                <a:latin typeface="+mn-lt"/>
                <a:ea typeface="+mn-ea"/>
                <a:cs typeface="+mn-cs"/>
              </a:rPr>
              <a:t>1. </a:t>
            </a:r>
            <a:r>
              <a:rPr lang="en-US" sz="1200" b="1" i="1" kern="1200" baseline="0" dirty="0" smtClean="0">
                <a:solidFill>
                  <a:schemeClr val="tx1"/>
                </a:solidFill>
                <a:latin typeface="+mn-lt"/>
                <a:ea typeface="+mn-ea"/>
                <a:cs typeface="+mn-cs"/>
              </a:rPr>
              <a:t>First and foremost,</a:t>
            </a:r>
            <a:r>
              <a:rPr lang="en-US" sz="1200" kern="1200" baseline="0" dirty="0" smtClean="0">
                <a:solidFill>
                  <a:schemeClr val="tx1"/>
                </a:solidFill>
                <a:latin typeface="+mn-lt"/>
                <a:ea typeface="+mn-ea"/>
                <a:cs typeface="+mn-cs"/>
              </a:rPr>
              <a:t> in today’s world clients do not want to invest too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much without seeing returns.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the current business scenario, it is preferable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to see returns continuously of the investment made.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iterative model permits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this—after each iteration some working software is delivered, and the risk</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to the client is therefore limited.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b="1" i="1" kern="1200" baseline="0" dirty="0" smtClean="0">
                <a:solidFill>
                  <a:schemeClr val="tx1"/>
                </a:solidFill>
                <a:latin typeface="+mn-lt"/>
                <a:ea typeface="+mn-ea"/>
                <a:cs typeface="+mn-cs"/>
              </a:rPr>
              <a:t>2. </a:t>
            </a:r>
            <a:r>
              <a:rPr lang="en-US" sz="1200" b="1" i="1" kern="1200" baseline="0" dirty="0" smtClean="0">
                <a:solidFill>
                  <a:schemeClr val="tx1"/>
                </a:solidFill>
                <a:latin typeface="+mn-lt"/>
                <a:ea typeface="+mn-ea"/>
                <a:cs typeface="+mn-cs"/>
              </a:rPr>
              <a:t>Second</a:t>
            </a:r>
            <a:r>
              <a:rPr lang="en-US" sz="1200" kern="1200" baseline="0" dirty="0" smtClean="0">
                <a:solidFill>
                  <a:schemeClr val="tx1"/>
                </a:solidFill>
                <a:latin typeface="+mn-lt"/>
                <a:ea typeface="+mn-ea"/>
                <a:cs typeface="+mn-cs"/>
              </a:rPr>
              <a:t>, as businesses are changing rapidly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today, they never really know the “complete” requirements for the software,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there is a need to constantly add new capabilities to the software to adapt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business to changing situations.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Iterative process allows this.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b="1" i="1" kern="1200" baseline="0" dirty="0" smtClean="0">
                <a:solidFill>
                  <a:schemeClr val="tx1"/>
                </a:solidFill>
                <a:latin typeface="+mn-lt"/>
                <a:ea typeface="+mn-ea"/>
                <a:cs typeface="+mn-cs"/>
              </a:rPr>
              <a:t>3. </a:t>
            </a:r>
            <a:r>
              <a:rPr lang="en-US" sz="1200" b="1" i="1" kern="1200" baseline="0" dirty="0" smtClean="0">
                <a:solidFill>
                  <a:schemeClr val="tx1"/>
                </a:solidFill>
                <a:latin typeface="+mn-lt"/>
                <a:ea typeface="+mn-ea"/>
                <a:cs typeface="+mn-cs"/>
              </a:rPr>
              <a:t>Third,</a:t>
            </a:r>
            <a:r>
              <a:rPr lang="en-US" sz="1200" kern="1200" baseline="0" dirty="0" smtClean="0">
                <a:solidFill>
                  <a:schemeClr val="tx1"/>
                </a:solidFill>
                <a:latin typeface="+mn-lt"/>
                <a:ea typeface="+mn-ea"/>
                <a:cs typeface="+mn-cs"/>
              </a:rPr>
              <a:t> each</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iteration provides a working system for feedback, which helps in developing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stable requirements for the next iteration.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Below we will describe some other</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process models, all of them using some iterative approach.</a:t>
            </a:r>
            <a:endParaRPr lang="ru-RU" sz="1200" kern="1200" baseline="0" dirty="0" smtClean="0">
              <a:solidFill>
                <a:schemeClr val="tx1"/>
              </a:solidFill>
              <a:latin typeface="+mn-lt"/>
              <a:ea typeface="+mn-ea"/>
              <a:cs typeface="+mn-cs"/>
            </a:endParaRPr>
          </a:p>
          <a:p>
            <a:endParaRPr lang="ru-RU" dirty="0" smtClean="0"/>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56</a:t>
            </a:fld>
            <a:endParaRPr lang="ru-RU"/>
          </a:p>
        </p:txBody>
      </p:sp>
    </p:spTree>
    <p:extLst>
      <p:ext uri="{BB962C8B-B14F-4D97-AF65-F5344CB8AC3E}">
        <p14:creationId xmlns:p14="http://schemas.microsoft.com/office/powerpoint/2010/main" val="19553889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mn-lt"/>
                <a:ea typeface="+mn-ea"/>
                <a:cs typeface="+mn-cs"/>
              </a:rPr>
              <a:t>Another common approach for iterative development is to do the requirements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architecture design in a standard waterfall or prototyping approach,</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but deliver the software iteratively.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That is, the building of the system,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which is the most time and effort-consuming task, is done iteratively,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though</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most of the requirements are specified upfront.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We can view this approach as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having one iteration delivering the requirements and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architecture plan,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then further iterations delivering the software in increments.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At the start of</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each delivery iteration, which requirements will be implemented in this release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are decided, and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then the design is enhanced and code developed to implement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iteration ends with delivery of a working software system</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providing some value to the end user.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Selecting of requirements for an iteration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is done primarily based on the value the requirement provides to the end users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and how critical they are for supporting other requirements.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This approach is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shown in Figure 2.6.</a:t>
            </a:r>
            <a:endParaRPr lang="ru-RU" sz="1200" kern="1200" baseline="0" dirty="0" smtClean="0">
              <a:solidFill>
                <a:schemeClr val="tx1"/>
              </a:solidFill>
              <a:latin typeface="+mn-lt"/>
              <a:ea typeface="+mn-ea"/>
              <a:cs typeface="+mn-cs"/>
            </a:endParaRPr>
          </a:p>
          <a:p>
            <a:endParaRPr lang="ru-RU" dirty="0" smtClean="0"/>
          </a:p>
          <a:p>
            <a:endParaRPr lang="ru-RU" dirty="0" smtClean="0"/>
          </a:p>
          <a:p>
            <a:endParaRPr lang="ru-RU" dirty="0" smtClean="0"/>
          </a:p>
          <a:p>
            <a:endParaRPr lang="ru-RU"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58</a:t>
            </a:fld>
            <a:endParaRPr lang="ru-RU"/>
          </a:p>
        </p:txBody>
      </p:sp>
    </p:spTree>
    <p:extLst>
      <p:ext uri="{BB962C8B-B14F-4D97-AF65-F5344CB8AC3E}">
        <p14:creationId xmlns:p14="http://schemas.microsoft.com/office/powerpoint/2010/main" val="34689610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mn-lt"/>
                <a:ea typeface="+mn-ea"/>
                <a:cs typeface="+mn-cs"/>
              </a:rPr>
              <a:t>The advantage of this approach is that as the requirements are mostly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known upfront,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an overall view of the system is available and a proper architecture</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an be designed which can remain relatively stable.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With this, hopefully</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rework in development iterations will diminish.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At the same time, the value to</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the end customer is delivered iteratively so it does not have the all-or-nothing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risk.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Also, since </a:t>
            </a:r>
            <a:endParaRPr lang="ru-RU" sz="1200" kern="1200" baseline="0" dirty="0" smtClean="0">
              <a:solidFill>
                <a:schemeClr val="tx1"/>
              </a:solidFill>
              <a:latin typeface="+mn-lt"/>
              <a:ea typeface="+mn-ea"/>
              <a:cs typeface="+mn-cs"/>
            </a:endParaRPr>
          </a:p>
          <a:p>
            <a:pPr>
              <a:buFont typeface="Arial" pitchFamily="34" charset="0"/>
              <a:buChar char="•"/>
            </a:pPr>
            <a:r>
              <a:rPr lang="en-US" sz="1200" kern="1200" baseline="0" dirty="0" smtClean="0">
                <a:solidFill>
                  <a:schemeClr val="tx1"/>
                </a:solidFill>
                <a:latin typeface="+mn-lt"/>
                <a:ea typeface="+mn-ea"/>
                <a:cs typeface="+mn-cs"/>
              </a:rPr>
              <a:t>the delivery is being done incrementally, and </a:t>
            </a:r>
            <a:endParaRPr lang="ru-RU" sz="1200" kern="1200" baseline="0" dirty="0" smtClean="0">
              <a:solidFill>
                <a:schemeClr val="tx1"/>
              </a:solidFill>
              <a:latin typeface="+mn-lt"/>
              <a:ea typeface="+mn-ea"/>
              <a:cs typeface="+mn-cs"/>
            </a:endParaRPr>
          </a:p>
          <a:p>
            <a:pPr>
              <a:buFont typeface="Arial" pitchFamily="34" charset="0"/>
              <a:buChar char="•"/>
            </a:pPr>
            <a:r>
              <a:rPr lang="en-US" sz="1200" kern="1200" baseline="0" dirty="0" smtClean="0">
                <a:solidFill>
                  <a:schemeClr val="tx1"/>
                </a:solidFill>
                <a:latin typeface="+mn-lt"/>
                <a:ea typeface="+mn-ea"/>
                <a:cs typeface="+mn-cs"/>
              </a:rPr>
              <a:t>planning and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execution of each iteration is done separately, </a:t>
            </a:r>
            <a:endParaRPr lang="ru-RU" sz="1200" kern="1200" baseline="0" dirty="0" smtClean="0">
              <a:solidFill>
                <a:schemeClr val="tx1"/>
              </a:solidFill>
              <a:latin typeface="+mn-lt"/>
              <a:ea typeface="+mn-ea"/>
              <a:cs typeface="+mn-cs"/>
            </a:endParaRPr>
          </a:p>
          <a:p>
            <a:pPr>
              <a:buFont typeface="Arial" pitchFamily="34" charset="0"/>
              <a:buChar char="•"/>
            </a:pPr>
            <a:r>
              <a:rPr lang="en-US" sz="1200" kern="1200" baseline="0" dirty="0" smtClean="0">
                <a:solidFill>
                  <a:schemeClr val="tx1"/>
                </a:solidFill>
                <a:latin typeface="+mn-lt"/>
                <a:ea typeface="+mn-ea"/>
                <a:cs typeface="+mn-cs"/>
              </a:rPr>
              <a:t>feedback from an iteration can</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be incorporated in the next iteration.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Даже новые требования, которые были первоначально не выявлены, также могут быть включены в последующие итерации.</a:t>
            </a:r>
          </a:p>
          <a:p>
            <a:r>
              <a:rPr lang="en-US" sz="1200" kern="1200" baseline="0" dirty="0" smtClean="0">
                <a:solidFill>
                  <a:schemeClr val="tx1"/>
                </a:solidFill>
                <a:latin typeface="+mn-lt"/>
                <a:ea typeface="+mn-ea"/>
                <a:cs typeface="+mn-cs"/>
              </a:rPr>
              <a:t>Even new requirements that may get uncovered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can also be incorporated.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Hence, this model of iterative development</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also provides some of the benefits of the model discussed above.</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iterative approach is becoming extremely popular, despite some difficulties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in using it in this context.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59</a:t>
            </a:fld>
            <a:endParaRPr lang="ru-RU"/>
          </a:p>
        </p:txBody>
      </p:sp>
    </p:spTree>
    <p:extLst>
      <p:ext uri="{BB962C8B-B14F-4D97-AF65-F5344CB8AC3E}">
        <p14:creationId xmlns:p14="http://schemas.microsoft.com/office/powerpoint/2010/main" val="319552845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ru-RU" sz="1200" b="1" i="0" kern="1200" dirty="0" smtClean="0">
                <a:solidFill>
                  <a:schemeClr val="tx1"/>
                </a:solidFill>
                <a:latin typeface="+mn-lt"/>
                <a:ea typeface="+mn-ea"/>
                <a:cs typeface="+mn-cs"/>
              </a:rPr>
              <a:t>Итеративная модель</a:t>
            </a:r>
          </a:p>
          <a:p>
            <a:r>
              <a:rPr lang="ru-RU" sz="1200" b="0" i="0" kern="1200" dirty="0" smtClean="0">
                <a:solidFill>
                  <a:schemeClr val="tx1"/>
                </a:solidFill>
                <a:latin typeface="+mn-lt"/>
                <a:ea typeface="+mn-ea"/>
                <a:cs typeface="+mn-cs"/>
              </a:rPr>
              <a:t>Впервые предложенная Филиппом </a:t>
            </a:r>
            <a:r>
              <a:rPr lang="ru-RU" sz="1200" b="0" i="0" kern="1200" dirty="0" err="1" smtClean="0">
                <a:solidFill>
                  <a:schemeClr val="tx1"/>
                </a:solidFill>
                <a:latin typeface="+mn-lt"/>
                <a:ea typeface="+mn-ea"/>
                <a:cs typeface="+mn-cs"/>
              </a:rPr>
              <a:t>Крачтеном</a:t>
            </a:r>
            <a:r>
              <a:rPr lang="ru-RU" sz="1200" b="0" i="0" kern="1200" dirty="0" smtClean="0">
                <a:solidFill>
                  <a:schemeClr val="tx1"/>
                </a:solidFill>
                <a:latin typeface="+mn-lt"/>
                <a:ea typeface="+mn-ea"/>
                <a:cs typeface="+mn-cs"/>
              </a:rPr>
              <a:t> в 1995 г., данная модель объединяет главные преимущества спиральной, инкрементной, каскадной моделей, а также методов разработки на основе создания прототипов и объектно-ориентированного подхода (рис. 4). </a:t>
            </a:r>
          </a:p>
          <a:p>
            <a:r>
              <a:rPr lang="ru-RU" sz="1200" b="0" i="0" kern="1200" dirty="0" smtClean="0">
                <a:solidFill>
                  <a:schemeClr val="tx1"/>
                </a:solidFill>
                <a:latin typeface="+mn-lt"/>
                <a:ea typeface="+mn-ea"/>
                <a:cs typeface="+mn-cs"/>
              </a:rPr>
              <a:t>Она завоевала большую популярность и в том или ином виде используется во многих современных проектах.</a:t>
            </a:r>
          </a:p>
          <a:p>
            <a:r>
              <a:rPr lang="ru-RU" dirty="0" smtClean="0"/>
              <a:t/>
            </a:r>
            <a:br>
              <a:rPr lang="ru-RU" dirty="0" smtClean="0"/>
            </a:br>
            <a:endParaRPr lang="ru-RU" sz="1200" b="0" i="1"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 соответствии с итеративной моделью имеются четыре основные фазы жизненного цикла разработки ПО (начало, исследование, построение и внедрение). </a:t>
            </a:r>
          </a:p>
          <a:p>
            <a:r>
              <a:rPr lang="ru-RU" sz="1200" b="0" i="0" kern="1200" dirty="0" smtClean="0">
                <a:solidFill>
                  <a:schemeClr val="tx1"/>
                </a:solidFill>
                <a:latin typeface="+mn-lt"/>
                <a:ea typeface="+mn-ea"/>
                <a:cs typeface="+mn-cs"/>
              </a:rPr>
              <a:t>На каждой фазе проект проходит множество итераций, приводящих к созданию работоспособных версий: на начальных создаются прототипы, уточняются требования, прорабатываются наиболее сложные проблемы; конечные приводят к созданию продукта, его совершенствованию и расширению функциональности.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Итеративная модель, помимо основных фаз, выделяет еще две группы процессов: рабочие (управление требованиями, анализ и проектирование, реализация, тестирование, развертывание) и вспомогательные (управление конфигурацией и изменениями, проектом и процессом). </a:t>
            </a:r>
          </a:p>
          <a:p>
            <a:r>
              <a:rPr lang="ru-RU" sz="1200" b="0" i="0" kern="1200" dirty="0" smtClean="0">
                <a:solidFill>
                  <a:schemeClr val="tx1"/>
                </a:solidFill>
                <a:latin typeface="+mn-lt"/>
                <a:ea typeface="+mn-ea"/>
                <a:cs typeface="+mn-cs"/>
              </a:rPr>
              <a:t>Количество и суть процессов варьируются в зависимости от потребностей разработчика, они также могут иметь свои циклы, которые не обязательно даже соответствуют основным фазам. </a:t>
            </a:r>
          </a:p>
          <a:p>
            <a:r>
              <a:rPr lang="ru-RU" sz="1200" b="0" i="0" kern="1200" dirty="0" smtClean="0">
                <a:solidFill>
                  <a:schemeClr val="tx1"/>
                </a:solidFill>
                <a:latin typeface="+mn-lt"/>
                <a:ea typeface="+mn-ea"/>
                <a:cs typeface="+mn-cs"/>
              </a:rPr>
              <a:t>Однако результатом рабочих процессов всегда является создание версий продукта.</a:t>
            </a:r>
          </a:p>
          <a:p>
            <a:r>
              <a:rPr lang="ru-RU" sz="1200" b="0" i="0" kern="1200" dirty="0" smtClean="0">
                <a:solidFill>
                  <a:schemeClr val="tx1"/>
                </a:solidFill>
                <a:latin typeface="+mn-lt"/>
                <a:ea typeface="+mn-ea"/>
                <a:cs typeface="+mn-cs"/>
              </a:rPr>
              <a:t>Итеративная модель подобно спиральной дает возможность успешно справляться с рисками. </a:t>
            </a:r>
          </a:p>
          <a:p>
            <a:r>
              <a:rPr lang="ru-RU" sz="1200" b="0" i="0" kern="1200" dirty="0" smtClean="0">
                <a:solidFill>
                  <a:schemeClr val="tx1"/>
                </a:solidFill>
                <a:latin typeface="+mn-lt"/>
                <a:ea typeface="+mn-ea"/>
                <a:cs typeface="+mn-cs"/>
              </a:rPr>
              <a:t>Если во время работы над очередной версией будет установлено, что трудозатраты на реализацию необходимой функциональности слишком велики, то превышения бюджета и нарушения сроков можно будет избежать путем соотнесения приоритетов разработки и трудозатрат в начале каждой итерации. </a:t>
            </a:r>
          </a:p>
          <a:p>
            <a:r>
              <a:rPr lang="ru-RU" sz="1200" b="0" i="0" kern="1200" dirty="0" smtClean="0">
                <a:solidFill>
                  <a:schemeClr val="tx1"/>
                </a:solidFill>
                <a:latin typeface="+mn-lt"/>
                <a:ea typeface="+mn-ea"/>
                <a:cs typeface="+mn-cs"/>
              </a:rPr>
              <a:t>Таким образом, данная модель хорошо подходит для большинства типов программных проектов, но особенно ее преимущества заметны при работе над продуктами,</a:t>
            </a:r>
            <a:r>
              <a:rPr lang="ru-RU" sz="1200" b="0" i="0" kern="1200" baseline="0" dirty="0" smtClean="0">
                <a:solidFill>
                  <a:schemeClr val="tx1"/>
                </a:solidFill>
                <a:latin typeface="+mn-lt"/>
                <a:ea typeface="+mn-ea"/>
                <a:cs typeface="+mn-cs"/>
              </a:rPr>
              <a:t> </a:t>
            </a:r>
            <a:r>
              <a:rPr lang="ru-RU" sz="1200" b="0" i="0" kern="1200" dirty="0" smtClean="0">
                <a:solidFill>
                  <a:schemeClr val="tx1"/>
                </a:solidFill>
                <a:latin typeface="+mn-lt"/>
                <a:ea typeface="+mn-ea"/>
                <a:cs typeface="+mn-cs"/>
              </a:rPr>
              <a:t>предназначенными для выхода на свободный рынок, в силу изначальной ориентации на выпуск последовательных версий.</a:t>
            </a: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60</a:t>
            </a:fld>
            <a:endParaRPr lang="ru-RU"/>
          </a:p>
        </p:txBody>
      </p:sp>
    </p:spTree>
    <p:extLst>
      <p:ext uri="{BB962C8B-B14F-4D97-AF65-F5344CB8AC3E}">
        <p14:creationId xmlns:p14="http://schemas.microsoft.com/office/powerpoint/2010/main" val="35861357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25000" lnSpcReduction="20000"/>
          </a:bodyPr>
          <a:lstStyle/>
          <a:p>
            <a:r>
              <a:rPr lang="ru-RU" sz="1200" b="1" i="0" kern="1200" dirty="0" smtClean="0">
                <a:solidFill>
                  <a:schemeClr val="tx1"/>
                </a:solidFill>
                <a:latin typeface="+mn-lt"/>
                <a:ea typeface="+mn-ea"/>
                <a:cs typeface="+mn-cs"/>
              </a:rPr>
              <a:t>Спиральная модель</a:t>
            </a:r>
          </a:p>
          <a:p>
            <a:r>
              <a:rPr lang="ru-RU" sz="1200" b="1" i="0" u="none" strike="noStrike" kern="1200" dirty="0" smtClean="0">
                <a:solidFill>
                  <a:schemeClr val="tx1"/>
                </a:solidFill>
                <a:latin typeface="+mn-lt"/>
                <a:ea typeface="+mn-ea"/>
                <a:cs typeface="+mn-cs"/>
                <a:hlinkClick r:id="rId3" tooltip="Спиральная модель"/>
              </a:rPr>
              <a:t>Спиральная модель</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4" tooltip="Английский язык"/>
              </a:rPr>
              <a:t>англ.</a:t>
            </a:r>
            <a:r>
              <a:rPr lang="ru-RU" sz="1200" b="0" i="0"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spiral</a:t>
            </a:r>
            <a:r>
              <a:rPr lang="ru-RU" sz="1200" b="0" i="1" kern="1200" dirty="0" smtClean="0">
                <a:solidFill>
                  <a:schemeClr val="tx1"/>
                </a:solidFill>
                <a:latin typeface="+mn-lt"/>
                <a:ea typeface="+mn-ea"/>
                <a:cs typeface="+mn-cs"/>
              </a:rPr>
              <a:t> </a:t>
            </a:r>
            <a:r>
              <a:rPr lang="ru-RU" sz="1200" b="0" i="1" kern="1200" dirty="0" err="1" smtClean="0">
                <a:solidFill>
                  <a:schemeClr val="tx1"/>
                </a:solidFill>
                <a:latin typeface="+mn-lt"/>
                <a:ea typeface="+mn-ea"/>
                <a:cs typeface="+mn-cs"/>
              </a:rPr>
              <a:t>model</a:t>
            </a:r>
            <a:r>
              <a:rPr lang="ru-RU" sz="1200" b="0" i="0" kern="1200" dirty="0" smtClean="0">
                <a:solidFill>
                  <a:schemeClr val="tx1"/>
                </a:solidFill>
                <a:latin typeface="+mn-lt"/>
                <a:ea typeface="+mn-ea"/>
                <a:cs typeface="+mn-cs"/>
              </a:rPr>
              <a:t>) была разработана в середине 1980-х годов </a:t>
            </a:r>
            <a:r>
              <a:rPr lang="ru-RU" sz="1200" b="0" i="0" u="none" strike="noStrike" kern="1200" dirty="0" err="1" smtClean="0">
                <a:solidFill>
                  <a:schemeClr val="tx1"/>
                </a:solidFill>
                <a:latin typeface="+mn-lt"/>
                <a:ea typeface="+mn-ea"/>
                <a:cs typeface="+mn-cs"/>
                <a:hlinkClick r:id="rId5" tooltip="Барри Боэм (страница отсутствует)"/>
              </a:rPr>
              <a:t>Барри</a:t>
            </a:r>
            <a:r>
              <a:rPr lang="ru-RU" sz="1200" b="0" i="0" u="none" strike="noStrike" kern="1200" dirty="0" smtClean="0">
                <a:solidFill>
                  <a:schemeClr val="tx1"/>
                </a:solidFill>
                <a:latin typeface="+mn-lt"/>
                <a:ea typeface="+mn-ea"/>
                <a:cs typeface="+mn-cs"/>
                <a:hlinkClick r:id="rId5" tooltip="Барри Боэм (страница отсутствует)"/>
              </a:rPr>
              <a:t> Боэмом</a:t>
            </a:r>
            <a:r>
              <a:rPr lang="ru-RU" sz="1200" b="0" i="0" kern="1200" dirty="0" smtClean="0">
                <a:solidFill>
                  <a:schemeClr val="tx1"/>
                </a:solidFill>
                <a:latin typeface="+mn-lt"/>
                <a:ea typeface="+mn-ea"/>
                <a:cs typeface="+mn-cs"/>
              </a:rPr>
              <a:t>. </a:t>
            </a:r>
          </a:p>
          <a:p>
            <a:r>
              <a:rPr lang="ru-RU" sz="1200" b="0" i="0" kern="1200" dirty="0" smtClean="0">
                <a:solidFill>
                  <a:schemeClr val="tx1"/>
                </a:solidFill>
                <a:latin typeface="+mn-lt"/>
                <a:ea typeface="+mn-ea"/>
                <a:cs typeface="+mn-cs"/>
              </a:rPr>
              <a:t>Она основана на классическом </a:t>
            </a:r>
            <a:r>
              <a:rPr lang="ru-RU" sz="1200" b="0" i="0" u="none" strike="noStrike" kern="1200" dirty="0" smtClean="0">
                <a:solidFill>
                  <a:schemeClr val="tx1"/>
                </a:solidFill>
                <a:latin typeface="+mn-lt"/>
                <a:ea typeface="+mn-ea"/>
                <a:cs typeface="+mn-cs"/>
                <a:hlinkClick r:id="rId6" tooltip="Цикл Деминга"/>
              </a:rPr>
              <a:t>цикле </a:t>
            </a:r>
            <a:r>
              <a:rPr lang="ru-RU" sz="1200" b="0" i="0" u="none" strike="noStrike" kern="1200" dirty="0" err="1" smtClean="0">
                <a:solidFill>
                  <a:schemeClr val="tx1"/>
                </a:solidFill>
                <a:latin typeface="+mn-lt"/>
                <a:ea typeface="+mn-ea"/>
                <a:cs typeface="+mn-cs"/>
                <a:hlinkClick r:id="rId6" tooltip="Цикл Деминга"/>
              </a:rPr>
              <a:t>Деминга</a:t>
            </a:r>
            <a:r>
              <a:rPr lang="ru-RU" sz="1200" b="0" i="0" kern="1200" dirty="0" smtClean="0">
                <a:solidFill>
                  <a:schemeClr val="tx1"/>
                </a:solidFill>
                <a:latin typeface="+mn-lt"/>
                <a:ea typeface="+mn-ea"/>
                <a:cs typeface="+mn-cs"/>
              </a:rPr>
              <a:t> PDCA (</a:t>
            </a:r>
            <a:r>
              <a:rPr lang="ru-RU" sz="1200" b="0" i="0" kern="1200" dirty="0" err="1" smtClean="0">
                <a:solidFill>
                  <a:schemeClr val="tx1"/>
                </a:solidFill>
                <a:latin typeface="+mn-lt"/>
                <a:ea typeface="+mn-ea"/>
                <a:cs typeface="+mn-cs"/>
              </a:rPr>
              <a:t>plan-do-check-act</a:t>
            </a:r>
            <a:r>
              <a:rPr lang="ru-RU" sz="1200" b="0" i="0" kern="1200" dirty="0" smtClean="0">
                <a:solidFill>
                  <a:schemeClr val="tx1"/>
                </a:solidFill>
                <a:latin typeface="+mn-lt"/>
                <a:ea typeface="+mn-ea"/>
                <a:cs typeface="+mn-cs"/>
              </a:rPr>
              <a:t>). </a:t>
            </a:r>
          </a:p>
          <a:p>
            <a:r>
              <a:rPr lang="ru-RU" sz="1200" b="0" i="0" kern="1200" dirty="0" smtClean="0">
                <a:solidFill>
                  <a:schemeClr val="tx1"/>
                </a:solidFill>
                <a:latin typeface="+mn-lt"/>
                <a:ea typeface="+mn-ea"/>
                <a:cs typeface="+mn-cs"/>
              </a:rPr>
              <a:t>При использовании этой модели ПО создается в несколько </a:t>
            </a:r>
            <a:r>
              <a:rPr lang="ru-RU" sz="1200" b="0" i="0" u="none" strike="noStrike" kern="1200" dirty="0" smtClean="0">
                <a:solidFill>
                  <a:schemeClr val="tx1"/>
                </a:solidFill>
                <a:latin typeface="+mn-lt"/>
                <a:ea typeface="+mn-ea"/>
                <a:cs typeface="+mn-cs"/>
                <a:hlinkClick r:id="rId7" tooltip="Итерация"/>
              </a:rPr>
              <a:t>итераций</a:t>
            </a:r>
            <a:r>
              <a:rPr lang="ru-RU" sz="1200" b="0" i="0" kern="1200" dirty="0" smtClean="0">
                <a:solidFill>
                  <a:schemeClr val="tx1"/>
                </a:solidFill>
                <a:latin typeface="+mn-lt"/>
                <a:ea typeface="+mn-ea"/>
                <a:cs typeface="+mn-cs"/>
              </a:rPr>
              <a:t> (витков спирали) </a:t>
            </a:r>
            <a:r>
              <a:rPr lang="ru-RU" sz="1200" b="0" i="0" u="none" strike="noStrike" kern="1200" dirty="0" smtClean="0">
                <a:solidFill>
                  <a:schemeClr val="tx1"/>
                </a:solidFill>
                <a:latin typeface="+mn-lt"/>
                <a:ea typeface="+mn-ea"/>
                <a:cs typeface="+mn-cs"/>
                <a:hlinkClick r:id="rId8" tooltip="Прототипирование программного обеспечения"/>
              </a:rPr>
              <a:t>методом прототипирования</a:t>
            </a:r>
            <a:r>
              <a:rPr lang="ru-RU" sz="1200" b="0" i="0" kern="1200" dirty="0" smtClean="0">
                <a:solidFill>
                  <a:schemeClr val="tx1"/>
                </a:solidFill>
                <a:latin typeface="+mn-lt"/>
                <a:ea typeface="+mn-ea"/>
                <a:cs typeface="+mn-cs"/>
              </a:rPr>
              <a:t>.</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Каждая итерация соответствует созданию фрагмента или версии ПО, на ней уточняются цели и характеристики проекта, оценивается качество полученных результатов и планируются работы следующей итерации.</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На каждой итерации оцениваются:</a:t>
            </a:r>
          </a:p>
          <a:p>
            <a:pPr>
              <a:buFont typeface="Arial" pitchFamily="34" charset="0"/>
              <a:buChar char="•"/>
            </a:pPr>
            <a:r>
              <a:rPr lang="ru-RU" sz="1200" b="0" i="0" kern="1200" dirty="0" smtClean="0">
                <a:solidFill>
                  <a:schemeClr val="tx1"/>
                </a:solidFill>
                <a:latin typeface="+mn-lt"/>
                <a:ea typeface="+mn-ea"/>
                <a:cs typeface="+mn-cs"/>
              </a:rPr>
              <a:t>риск превышения сроков и стоимости проекта;</a:t>
            </a:r>
          </a:p>
          <a:p>
            <a:pPr>
              <a:buFont typeface="Arial" pitchFamily="34" charset="0"/>
              <a:buChar char="•"/>
            </a:pPr>
            <a:r>
              <a:rPr lang="ru-RU" sz="1200" b="0" i="0" kern="1200" dirty="0" smtClean="0">
                <a:solidFill>
                  <a:schemeClr val="tx1"/>
                </a:solidFill>
                <a:latin typeface="+mn-lt"/>
                <a:ea typeface="+mn-ea"/>
                <a:cs typeface="+mn-cs"/>
              </a:rPr>
              <a:t>необходимость выполнения ещё одной итерации;</a:t>
            </a:r>
          </a:p>
          <a:p>
            <a:pPr>
              <a:buFont typeface="Arial" pitchFamily="34" charset="0"/>
              <a:buChar char="•"/>
            </a:pPr>
            <a:r>
              <a:rPr lang="ru-RU" sz="1200" b="0" i="0" kern="1200" dirty="0" smtClean="0">
                <a:solidFill>
                  <a:schemeClr val="tx1"/>
                </a:solidFill>
                <a:latin typeface="+mn-lt"/>
                <a:ea typeface="+mn-ea"/>
                <a:cs typeface="+mn-cs"/>
              </a:rPr>
              <a:t>степень полноты и точности понимания требований к системе;</a:t>
            </a:r>
          </a:p>
          <a:p>
            <a:pPr>
              <a:buFont typeface="Arial" pitchFamily="34" charset="0"/>
              <a:buChar char="•"/>
            </a:pPr>
            <a:r>
              <a:rPr lang="ru-RU" sz="1200" b="0" i="0" kern="1200" dirty="0" smtClean="0">
                <a:solidFill>
                  <a:schemeClr val="tx1"/>
                </a:solidFill>
                <a:latin typeface="+mn-lt"/>
                <a:ea typeface="+mn-ea"/>
                <a:cs typeface="+mn-cs"/>
              </a:rPr>
              <a:t>целесообразность прекращения проекта.</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Важно понимать, что спиральная модель является не альтернативой эволюционной модели (</a:t>
            </a:r>
            <a:r>
              <a:rPr lang="ru-RU" sz="1200" b="0" i="0" kern="1200" dirty="0" err="1" smtClean="0">
                <a:solidFill>
                  <a:schemeClr val="tx1"/>
                </a:solidFill>
                <a:latin typeface="+mn-lt"/>
                <a:ea typeface="+mn-ea"/>
                <a:cs typeface="+mn-cs"/>
              </a:rPr>
              <a:t>модели</a:t>
            </a:r>
            <a:r>
              <a:rPr lang="ru-RU" sz="1200" b="0" i="0" kern="1200" dirty="0" smtClean="0">
                <a:solidFill>
                  <a:schemeClr val="tx1"/>
                </a:solidFill>
                <a:latin typeface="+mn-lt"/>
                <a:ea typeface="+mn-ea"/>
                <a:cs typeface="+mn-cs"/>
              </a:rPr>
              <a:t> IID), а специально проработанным вариантом.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К сожалению, нередко спиральную модель либо ошибочно используют как синоним эволюционной модели вообще, либо (не менее ошибочно) упоминают как совершенно самостоятельную модель наряду с IID.</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Отличительной особенностью спиральной модели является специальное внимание, уделяемое рискам, влияющим на организацию жизненного цикла, и контрольным точкам. </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Боэм формулирует 10 наиболее распространённых (по приоритетам) рисков:</a:t>
            </a:r>
          </a:p>
          <a:p>
            <a:pPr marL="228600" indent="-228600">
              <a:buFont typeface="+mj-lt"/>
              <a:buAutoNum type="arabicPeriod"/>
            </a:pPr>
            <a:r>
              <a:rPr lang="ru-RU" sz="1200" b="0" i="0" kern="1200" dirty="0" smtClean="0">
                <a:solidFill>
                  <a:schemeClr val="tx1"/>
                </a:solidFill>
                <a:latin typeface="+mn-lt"/>
                <a:ea typeface="+mn-ea"/>
                <a:cs typeface="+mn-cs"/>
              </a:rPr>
              <a:t>Дефицит специалистов.</a:t>
            </a:r>
          </a:p>
          <a:p>
            <a:pPr marL="228600" indent="-228600">
              <a:buFont typeface="+mj-lt"/>
              <a:buAutoNum type="arabicPeriod"/>
            </a:pPr>
            <a:r>
              <a:rPr lang="ru-RU" sz="1200" b="0" i="0" kern="1200" dirty="0" smtClean="0">
                <a:solidFill>
                  <a:schemeClr val="tx1"/>
                </a:solidFill>
                <a:latin typeface="+mn-lt"/>
                <a:ea typeface="+mn-ea"/>
                <a:cs typeface="+mn-cs"/>
              </a:rPr>
              <a:t>Нереалистичные сроки и бюджет.</a:t>
            </a:r>
          </a:p>
          <a:p>
            <a:pPr marL="228600" indent="-228600">
              <a:buFont typeface="+mj-lt"/>
              <a:buAutoNum type="arabicPeriod"/>
            </a:pPr>
            <a:r>
              <a:rPr lang="ru-RU" sz="1200" b="0" i="0" kern="1200" dirty="0" smtClean="0">
                <a:solidFill>
                  <a:schemeClr val="tx1"/>
                </a:solidFill>
                <a:latin typeface="+mn-lt"/>
                <a:ea typeface="+mn-ea"/>
                <a:cs typeface="+mn-cs"/>
              </a:rPr>
              <a:t>Реализация несоответствующей функциональности.</a:t>
            </a:r>
          </a:p>
          <a:p>
            <a:pPr marL="228600" indent="-228600">
              <a:buFont typeface="+mj-lt"/>
              <a:buAutoNum type="arabicPeriod"/>
            </a:pPr>
            <a:r>
              <a:rPr lang="ru-RU" sz="1200" b="0" i="0" kern="1200" dirty="0" smtClean="0">
                <a:solidFill>
                  <a:schemeClr val="tx1"/>
                </a:solidFill>
                <a:latin typeface="+mn-lt"/>
                <a:ea typeface="+mn-ea"/>
                <a:cs typeface="+mn-cs"/>
              </a:rPr>
              <a:t>Разработка неправильного пользовательского интерфейса.</a:t>
            </a:r>
          </a:p>
          <a:p>
            <a:pPr marL="228600" indent="-228600">
              <a:buFont typeface="+mj-lt"/>
              <a:buAutoNum type="arabicPeriod"/>
            </a:pPr>
            <a:r>
              <a:rPr lang="ru-RU" sz="1200" b="0" i="0" kern="1200" dirty="0" err="1" smtClean="0">
                <a:solidFill>
                  <a:schemeClr val="tx1"/>
                </a:solidFill>
                <a:latin typeface="+mn-lt"/>
                <a:ea typeface="+mn-ea"/>
                <a:cs typeface="+mn-cs"/>
              </a:rPr>
              <a:t>Перфекционизм</a:t>
            </a:r>
            <a:r>
              <a:rPr lang="ru-RU" sz="1200" b="0" i="0" kern="1200" dirty="0" smtClean="0">
                <a:solidFill>
                  <a:schemeClr val="tx1"/>
                </a:solidFill>
                <a:latin typeface="+mn-lt"/>
                <a:ea typeface="+mn-ea"/>
                <a:cs typeface="+mn-cs"/>
              </a:rPr>
              <a:t>, ненужная оптимизация и оттачивание деталей.</a:t>
            </a:r>
          </a:p>
          <a:p>
            <a:pPr marL="228600" indent="-228600">
              <a:buFont typeface="+mj-lt"/>
              <a:buAutoNum type="arabicPeriod"/>
            </a:pPr>
            <a:r>
              <a:rPr lang="ru-RU" sz="1200" b="0" i="0" kern="1200" dirty="0" smtClean="0">
                <a:solidFill>
                  <a:schemeClr val="tx1"/>
                </a:solidFill>
                <a:latin typeface="+mn-lt"/>
                <a:ea typeface="+mn-ea"/>
                <a:cs typeface="+mn-cs"/>
              </a:rPr>
              <a:t>Непрекращающийся поток изменений.</a:t>
            </a:r>
          </a:p>
          <a:p>
            <a:pPr marL="228600" indent="-228600">
              <a:buFont typeface="+mj-lt"/>
              <a:buAutoNum type="arabicPeriod"/>
            </a:pPr>
            <a:r>
              <a:rPr lang="ru-RU" sz="1200" b="0" i="0" kern="1200" dirty="0" smtClean="0">
                <a:solidFill>
                  <a:schemeClr val="tx1"/>
                </a:solidFill>
                <a:latin typeface="+mn-lt"/>
                <a:ea typeface="+mn-ea"/>
                <a:cs typeface="+mn-cs"/>
              </a:rPr>
              <a:t>Нехватка информации о внешних компонентах, определяющих окружение системы или вовлеченных в интеграцию.</a:t>
            </a:r>
          </a:p>
          <a:p>
            <a:pPr marL="228600" indent="-228600">
              <a:buFont typeface="+mj-lt"/>
              <a:buAutoNum type="arabicPeriod"/>
            </a:pPr>
            <a:r>
              <a:rPr lang="ru-RU" sz="1200" b="0" i="0" kern="1200" dirty="0" smtClean="0">
                <a:solidFill>
                  <a:schemeClr val="tx1"/>
                </a:solidFill>
                <a:latin typeface="+mn-lt"/>
                <a:ea typeface="+mn-ea"/>
                <a:cs typeface="+mn-cs"/>
              </a:rPr>
              <a:t>Недостатки в работах, выполняемых внешними (по отношению к проекту) ресурсами.</a:t>
            </a:r>
          </a:p>
          <a:p>
            <a:pPr marL="228600" indent="-228600">
              <a:buFont typeface="+mj-lt"/>
              <a:buAutoNum type="arabicPeriod"/>
            </a:pPr>
            <a:r>
              <a:rPr lang="ru-RU" sz="1200" b="0" i="0" kern="1200" dirty="0" smtClean="0">
                <a:solidFill>
                  <a:schemeClr val="tx1"/>
                </a:solidFill>
                <a:latin typeface="+mn-lt"/>
                <a:ea typeface="+mn-ea"/>
                <a:cs typeface="+mn-cs"/>
              </a:rPr>
              <a:t>Недостаточная производительность получаемой системы.</a:t>
            </a:r>
          </a:p>
          <a:p>
            <a:pPr marL="228600" indent="-228600">
              <a:buFont typeface="+mj-lt"/>
              <a:buAutoNum type="arabicPeriod"/>
            </a:pPr>
            <a:r>
              <a:rPr lang="ru-RU" sz="1200" b="0" i="0" kern="1200" dirty="0" smtClean="0">
                <a:solidFill>
                  <a:schemeClr val="tx1"/>
                </a:solidFill>
                <a:latin typeface="+mn-lt"/>
                <a:ea typeface="+mn-ea"/>
                <a:cs typeface="+mn-cs"/>
              </a:rPr>
              <a:t>Разрыв в квалификации специалистов разных областей.</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В сегодняшней спиральной модели определён следующий общий набор контрольных точек</a:t>
            </a:r>
            <a:r>
              <a:rPr lang="ru-RU" sz="1200" b="0" i="0" u="none" strike="noStrike" kern="1200" baseline="30000" dirty="0" smtClean="0">
                <a:solidFill>
                  <a:schemeClr val="tx1"/>
                </a:solidFill>
                <a:latin typeface="+mn-lt"/>
                <a:ea typeface="+mn-ea"/>
                <a:cs typeface="+mn-cs"/>
                <a:hlinkClick r:id="rId9"/>
              </a:rPr>
              <a:t>[5]</a:t>
            </a:r>
            <a:r>
              <a:rPr lang="ru-RU" sz="1200" b="0" i="0" kern="1200" dirty="0" smtClean="0">
                <a:solidFill>
                  <a:schemeClr val="tx1"/>
                </a:solidFill>
                <a:latin typeface="+mn-lt"/>
                <a:ea typeface="+mn-ea"/>
                <a:cs typeface="+mn-cs"/>
              </a:rPr>
              <a:t>:</a:t>
            </a:r>
          </a:p>
          <a:p>
            <a:pPr marL="228600" indent="-228600">
              <a:buFont typeface="+mj-lt"/>
              <a:buAutoNum type="arabicPeriod"/>
            </a:pPr>
            <a:r>
              <a:rPr lang="ru-RU" sz="1200" b="0" i="0" kern="1200" dirty="0" err="1" smtClean="0">
                <a:solidFill>
                  <a:schemeClr val="tx1"/>
                </a:solidFill>
                <a:latin typeface="+mn-lt"/>
                <a:ea typeface="+mn-ea"/>
                <a:cs typeface="+mn-cs"/>
              </a:rPr>
              <a:t>Concept</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of</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Operations</a:t>
            </a:r>
            <a:r>
              <a:rPr lang="ru-RU" sz="1200" b="0" i="0" kern="1200" dirty="0" smtClean="0">
                <a:solidFill>
                  <a:schemeClr val="tx1"/>
                </a:solidFill>
                <a:latin typeface="+mn-lt"/>
                <a:ea typeface="+mn-ea"/>
                <a:cs typeface="+mn-cs"/>
              </a:rPr>
              <a:t> (COO) — концепция (использования) системы;</a:t>
            </a:r>
          </a:p>
          <a:p>
            <a:pPr marL="228600" indent="-228600">
              <a:buFont typeface="+mj-lt"/>
              <a:buAutoNum type="arabicPeriod"/>
            </a:pPr>
            <a:r>
              <a:rPr lang="ru-RU" sz="1200" b="0" i="0" kern="1200" dirty="0" err="1" smtClean="0">
                <a:solidFill>
                  <a:schemeClr val="tx1"/>
                </a:solidFill>
                <a:latin typeface="+mn-lt"/>
                <a:ea typeface="+mn-ea"/>
                <a:cs typeface="+mn-cs"/>
              </a:rPr>
              <a:t>Life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Cycle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Objectives</a:t>
            </a:r>
            <a:r>
              <a:rPr lang="ru-RU" sz="1200" b="0" i="0" kern="1200" dirty="0" smtClean="0">
                <a:solidFill>
                  <a:schemeClr val="tx1"/>
                </a:solidFill>
                <a:latin typeface="+mn-lt"/>
                <a:ea typeface="+mn-ea"/>
                <a:cs typeface="+mn-cs"/>
              </a:rPr>
              <a:t> (LCO) — цели и содержание жизненного цикла;</a:t>
            </a:r>
          </a:p>
          <a:p>
            <a:pPr marL="228600" indent="-228600">
              <a:buFont typeface="+mj-lt"/>
              <a:buAutoNum type="arabicPeriod"/>
            </a:pPr>
            <a:r>
              <a:rPr lang="ru-RU" sz="1200" b="0" i="0" kern="1200" dirty="0" err="1" smtClean="0">
                <a:solidFill>
                  <a:schemeClr val="tx1"/>
                </a:solidFill>
                <a:latin typeface="+mn-lt"/>
                <a:ea typeface="+mn-ea"/>
                <a:cs typeface="+mn-cs"/>
              </a:rPr>
              <a:t>Life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Cycle</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Architecture</a:t>
            </a:r>
            <a:r>
              <a:rPr lang="ru-RU" sz="1200" b="0" i="0" kern="1200" dirty="0" smtClean="0">
                <a:solidFill>
                  <a:schemeClr val="tx1"/>
                </a:solidFill>
                <a:latin typeface="+mn-lt"/>
                <a:ea typeface="+mn-ea"/>
                <a:cs typeface="+mn-cs"/>
              </a:rPr>
              <a:t> (LCA) — архитектура жизненного цикла; здесь же возможно говорить о готовности концептуальной архитектуры целевой программной системы;</a:t>
            </a:r>
          </a:p>
          <a:p>
            <a:pPr marL="228600" indent="-228600">
              <a:buFont typeface="+mj-lt"/>
              <a:buAutoNum type="arabicPeriod"/>
            </a:pPr>
            <a:r>
              <a:rPr lang="ru-RU" sz="1200" b="0" i="0" kern="1200" dirty="0" err="1" smtClean="0">
                <a:solidFill>
                  <a:schemeClr val="tx1"/>
                </a:solidFill>
                <a:latin typeface="+mn-lt"/>
                <a:ea typeface="+mn-ea"/>
                <a:cs typeface="+mn-cs"/>
              </a:rPr>
              <a:t>Initial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Operational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Capability</a:t>
            </a:r>
            <a:r>
              <a:rPr lang="ru-RU" sz="1200" b="0" i="0" kern="1200" dirty="0" smtClean="0">
                <a:solidFill>
                  <a:schemeClr val="tx1"/>
                </a:solidFill>
                <a:latin typeface="+mn-lt"/>
                <a:ea typeface="+mn-ea"/>
                <a:cs typeface="+mn-cs"/>
              </a:rPr>
              <a:t> (IOC) — первая версия создаваемого продукта, пригодная для опытной эксплуатации;</a:t>
            </a:r>
          </a:p>
          <a:p>
            <a:pPr marL="228600" indent="-228600">
              <a:buFont typeface="+mj-lt"/>
              <a:buAutoNum type="arabicPeriod"/>
            </a:pPr>
            <a:r>
              <a:rPr lang="ru-RU" sz="1200" b="0" i="0" kern="1200" dirty="0" err="1" smtClean="0">
                <a:solidFill>
                  <a:schemeClr val="tx1"/>
                </a:solidFill>
                <a:latin typeface="+mn-lt"/>
                <a:ea typeface="+mn-ea"/>
                <a:cs typeface="+mn-cs"/>
              </a:rPr>
              <a:t>Final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Operational</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Capability</a:t>
            </a:r>
            <a:r>
              <a:rPr lang="ru-RU" sz="1200" b="0" i="0" kern="1200" dirty="0" smtClean="0">
                <a:solidFill>
                  <a:schemeClr val="tx1"/>
                </a:solidFill>
                <a:latin typeface="+mn-lt"/>
                <a:ea typeface="+mn-ea"/>
                <a:cs typeface="+mn-cs"/>
              </a:rPr>
              <a:t> (FOC) –— готовый продукт, развернутый (установленный и настроенный) для реальной эксплуатации.</a:t>
            </a:r>
          </a:p>
          <a:p>
            <a:endParaRPr lang="ru-RU" dirty="0" smtClean="0"/>
          </a:p>
          <a:p>
            <a:r>
              <a:rPr lang="ru-RU" dirty="0" smtClean="0"/>
              <a:t>===================================</a:t>
            </a:r>
          </a:p>
          <a:p>
            <a:endParaRPr lang="ru-RU" dirty="0" smtClean="0"/>
          </a:p>
          <a:p>
            <a:r>
              <a:rPr lang="ru-RU" sz="1200" b="1" i="0" kern="1200" dirty="0" smtClean="0">
                <a:solidFill>
                  <a:schemeClr val="tx1"/>
                </a:solidFill>
                <a:latin typeface="+mn-lt"/>
                <a:ea typeface="+mn-ea"/>
                <a:cs typeface="+mn-cs"/>
              </a:rPr>
              <a:t>Спиральная модель</a:t>
            </a:r>
            <a:r>
              <a:rPr lang="ru-RU" sz="1200" b="0" i="0" kern="1200" dirty="0" smtClean="0">
                <a:solidFill>
                  <a:schemeClr val="tx1"/>
                </a:solidFill>
                <a:latin typeface="+mn-lt"/>
                <a:ea typeface="+mn-ea"/>
                <a:cs typeface="+mn-cs"/>
              </a:rPr>
              <a:t>, предложенная </a:t>
            </a:r>
            <a:r>
              <a:rPr lang="ru-RU" sz="1200" b="0" i="0" kern="1200" dirty="0" err="1" smtClean="0">
                <a:solidFill>
                  <a:schemeClr val="tx1"/>
                </a:solidFill>
                <a:latin typeface="+mn-lt"/>
                <a:ea typeface="+mn-ea"/>
                <a:cs typeface="+mn-cs"/>
              </a:rPr>
              <a:t>Барри</a:t>
            </a:r>
            <a:r>
              <a:rPr lang="ru-RU" sz="1200" b="0" i="0" kern="1200" dirty="0" smtClean="0">
                <a:solidFill>
                  <a:schemeClr val="tx1"/>
                </a:solidFill>
                <a:latin typeface="+mn-lt"/>
                <a:ea typeface="+mn-ea"/>
                <a:cs typeface="+mn-cs"/>
              </a:rPr>
              <a:t> Боэмом в </a:t>
            </a:r>
            <a:r>
              <a:rPr lang="ru-RU" sz="1200" b="0" i="0" u="none" strike="noStrike" kern="1200" dirty="0" smtClean="0">
                <a:solidFill>
                  <a:schemeClr val="tx1"/>
                </a:solidFill>
                <a:latin typeface="+mn-lt"/>
                <a:ea typeface="+mn-ea"/>
                <a:cs typeface="+mn-cs"/>
                <a:hlinkClick r:id="rId10" tooltip="1988 год"/>
              </a:rPr>
              <a:t>1988 году</a:t>
            </a:r>
            <a:r>
              <a:rPr lang="ru-RU" sz="1200" b="0" i="0" kern="1200" dirty="0" smtClean="0">
                <a:solidFill>
                  <a:schemeClr val="tx1"/>
                </a:solidFill>
                <a:latin typeface="+mn-lt"/>
                <a:ea typeface="+mn-ea"/>
                <a:cs typeface="+mn-cs"/>
              </a:rPr>
              <a:t>, стала существенным прорывом в понимании природы разработки ПО. Она представляет собой </a:t>
            </a:r>
            <a:r>
              <a:rPr lang="ru-RU" sz="1200" b="0" i="0" u="none" strike="noStrike" kern="1200" dirty="0" smtClean="0">
                <a:solidFill>
                  <a:schemeClr val="tx1"/>
                </a:solidFill>
                <a:latin typeface="+mn-lt"/>
                <a:ea typeface="+mn-ea"/>
                <a:cs typeface="+mn-cs"/>
                <a:hlinkClick r:id="rId11" tooltip="Процесс разработки программного обеспечения"/>
              </a:rPr>
              <a:t>процесс разработки программного обеспечения</a:t>
            </a:r>
            <a:r>
              <a:rPr lang="ru-RU" sz="1200" b="0" i="0" kern="1200" dirty="0" smtClean="0">
                <a:solidFill>
                  <a:schemeClr val="tx1"/>
                </a:solidFill>
                <a:latin typeface="+mn-lt"/>
                <a:ea typeface="+mn-ea"/>
                <a:cs typeface="+mn-cs"/>
              </a:rPr>
              <a:t>, сочетающий в себе как проектирование, так и </a:t>
            </a:r>
            <a:r>
              <a:rPr lang="ru-RU" sz="1200" b="0" i="0" kern="1200" dirty="0" err="1" smtClean="0">
                <a:solidFill>
                  <a:schemeClr val="tx1"/>
                </a:solidFill>
                <a:latin typeface="+mn-lt"/>
                <a:ea typeface="+mn-ea"/>
                <a:cs typeface="+mn-cs"/>
              </a:rPr>
              <a:t>постадийное</a:t>
            </a:r>
            <a:r>
              <a:rPr lang="ru-RU" sz="1200" b="0" i="0" kern="1200" dirty="0" smtClean="0">
                <a:solidFill>
                  <a:schemeClr val="tx1"/>
                </a:solidFill>
                <a:latin typeface="+mn-lt"/>
                <a:ea typeface="+mn-ea"/>
                <a:cs typeface="+mn-cs"/>
              </a:rPr>
              <a:t> </a:t>
            </a:r>
            <a:r>
              <a:rPr lang="ru-RU" sz="1200" b="0" i="0" u="none" strike="noStrike" kern="1200" dirty="0" smtClean="0">
                <a:solidFill>
                  <a:schemeClr val="tx1"/>
                </a:solidFill>
                <a:latin typeface="+mn-lt"/>
                <a:ea typeface="+mn-ea"/>
                <a:cs typeface="+mn-cs"/>
                <a:hlinkClick r:id="rId12" tooltip="Прототипирование"/>
              </a:rPr>
              <a:t>прототипирование</a:t>
            </a:r>
            <a:r>
              <a:rPr lang="ru-RU" sz="1200" b="0" i="0" kern="1200" dirty="0" smtClean="0">
                <a:solidFill>
                  <a:schemeClr val="tx1"/>
                </a:solidFill>
                <a:latin typeface="+mn-lt"/>
                <a:ea typeface="+mn-ea"/>
                <a:cs typeface="+mn-cs"/>
              </a:rPr>
              <a:t> с целью сочетания преимуществ восходящей и нисходящей концепции, делающая упор на начальные этапы жизненного цикла: анализ и проектирование. Отличительной особенностью этой модели является специальное внимание рискам, влияющим на организацию жизненного цикла. Боэм формулирует десять наиболее распространённых (по приоритетам) рисков:</a:t>
            </a:r>
          </a:p>
          <a:p>
            <a:pPr marL="228600" indent="-228600">
              <a:buFont typeface="+mj-lt"/>
              <a:buAutoNum type="arabicPeriod"/>
            </a:pPr>
            <a:r>
              <a:rPr lang="ru-RU" sz="1200" b="0" i="0" kern="1200" dirty="0" smtClean="0">
                <a:solidFill>
                  <a:schemeClr val="tx1"/>
                </a:solidFill>
                <a:latin typeface="+mn-lt"/>
                <a:ea typeface="+mn-ea"/>
                <a:cs typeface="+mn-cs"/>
              </a:rPr>
              <a:t>Дефицит специалистов.</a:t>
            </a:r>
          </a:p>
          <a:p>
            <a:pPr marL="228600" indent="-228600">
              <a:buFont typeface="+mj-lt"/>
              <a:buAutoNum type="arabicPeriod"/>
            </a:pPr>
            <a:r>
              <a:rPr lang="ru-RU" sz="1200" b="0" i="0" kern="1200" dirty="0" smtClean="0">
                <a:solidFill>
                  <a:schemeClr val="tx1"/>
                </a:solidFill>
                <a:latin typeface="+mn-lt"/>
                <a:ea typeface="+mn-ea"/>
                <a:cs typeface="+mn-cs"/>
              </a:rPr>
              <a:t>Нереалистичные сроки и бюджет.</a:t>
            </a:r>
          </a:p>
          <a:p>
            <a:pPr marL="228600" indent="-228600">
              <a:buFont typeface="+mj-lt"/>
              <a:buAutoNum type="arabicPeriod"/>
            </a:pPr>
            <a:r>
              <a:rPr lang="ru-RU" sz="1200" b="0" i="0" kern="1200" dirty="0" smtClean="0">
                <a:solidFill>
                  <a:schemeClr val="tx1"/>
                </a:solidFill>
                <a:latin typeface="+mn-lt"/>
                <a:ea typeface="+mn-ea"/>
                <a:cs typeface="+mn-cs"/>
              </a:rPr>
              <a:t>Реализация несоответствующей функциональности.</a:t>
            </a:r>
          </a:p>
          <a:p>
            <a:pPr marL="228600" indent="-228600">
              <a:buFont typeface="+mj-lt"/>
              <a:buAutoNum type="arabicPeriod"/>
            </a:pPr>
            <a:r>
              <a:rPr lang="ru-RU" sz="1200" b="0" i="0" kern="1200" dirty="0" smtClean="0">
                <a:solidFill>
                  <a:schemeClr val="tx1"/>
                </a:solidFill>
                <a:latin typeface="+mn-lt"/>
                <a:ea typeface="+mn-ea"/>
                <a:cs typeface="+mn-cs"/>
              </a:rPr>
              <a:t>Разработка неправильного пользовательского интерфейса.</a:t>
            </a:r>
          </a:p>
          <a:p>
            <a:pPr marL="228600" indent="-228600">
              <a:buFont typeface="+mj-lt"/>
              <a:buAutoNum type="arabicPeriod"/>
            </a:pPr>
            <a:r>
              <a:rPr lang="ru-RU" sz="1200" b="0" i="0" kern="1200" dirty="0" smtClean="0">
                <a:solidFill>
                  <a:schemeClr val="tx1"/>
                </a:solidFill>
                <a:latin typeface="+mn-lt"/>
                <a:ea typeface="+mn-ea"/>
                <a:cs typeface="+mn-cs"/>
              </a:rPr>
              <a:t>«Золотая сервировка», </a:t>
            </a:r>
            <a:r>
              <a:rPr lang="ru-RU" sz="1200" b="0" i="0" kern="1200" dirty="0" err="1" smtClean="0">
                <a:solidFill>
                  <a:schemeClr val="tx1"/>
                </a:solidFill>
                <a:latin typeface="+mn-lt"/>
                <a:ea typeface="+mn-ea"/>
                <a:cs typeface="+mn-cs"/>
              </a:rPr>
              <a:t>перфекционизм</a:t>
            </a:r>
            <a:r>
              <a:rPr lang="ru-RU" sz="1200" b="0" i="0" kern="1200" dirty="0" smtClean="0">
                <a:solidFill>
                  <a:schemeClr val="tx1"/>
                </a:solidFill>
                <a:latin typeface="+mn-lt"/>
                <a:ea typeface="+mn-ea"/>
                <a:cs typeface="+mn-cs"/>
              </a:rPr>
              <a:t>, ненужная оптимизация и оттачивание деталей.</a:t>
            </a:r>
          </a:p>
          <a:p>
            <a:pPr marL="228600" indent="-228600">
              <a:buFont typeface="+mj-lt"/>
              <a:buAutoNum type="arabicPeriod"/>
            </a:pPr>
            <a:r>
              <a:rPr lang="ru-RU" sz="1200" b="0" i="0" kern="1200" dirty="0" smtClean="0">
                <a:solidFill>
                  <a:schemeClr val="tx1"/>
                </a:solidFill>
                <a:latin typeface="+mn-lt"/>
                <a:ea typeface="+mn-ea"/>
                <a:cs typeface="+mn-cs"/>
              </a:rPr>
              <a:t>Непрекращающийся поток изменений.</a:t>
            </a:r>
          </a:p>
          <a:p>
            <a:pPr marL="228600" indent="-228600">
              <a:buFont typeface="+mj-lt"/>
              <a:buAutoNum type="arabicPeriod"/>
            </a:pPr>
            <a:r>
              <a:rPr lang="ru-RU" sz="1200" b="0" i="0" kern="1200" dirty="0" smtClean="0">
                <a:solidFill>
                  <a:schemeClr val="tx1"/>
                </a:solidFill>
                <a:latin typeface="+mn-lt"/>
                <a:ea typeface="+mn-ea"/>
                <a:cs typeface="+mn-cs"/>
              </a:rPr>
              <a:t>Нехватка информации о внешних компонентах, определяющих окружение системы или вовлечённых в интеграцию.</a:t>
            </a:r>
          </a:p>
          <a:p>
            <a:pPr marL="228600" indent="-228600">
              <a:buFont typeface="+mj-lt"/>
              <a:buAutoNum type="arabicPeriod"/>
            </a:pPr>
            <a:r>
              <a:rPr lang="ru-RU" sz="1200" b="0" i="0" kern="1200" dirty="0" smtClean="0">
                <a:solidFill>
                  <a:schemeClr val="tx1"/>
                </a:solidFill>
                <a:latin typeface="+mn-lt"/>
                <a:ea typeface="+mn-ea"/>
                <a:cs typeface="+mn-cs"/>
              </a:rPr>
              <a:t>Недостатки в работах, выполняемых внешними (по отношению к проекту) ресурсами.</a:t>
            </a:r>
          </a:p>
          <a:p>
            <a:pPr marL="228600" indent="-228600">
              <a:buFont typeface="+mj-lt"/>
              <a:buAutoNum type="arabicPeriod"/>
            </a:pPr>
            <a:r>
              <a:rPr lang="ru-RU" sz="1200" b="0" i="0" kern="1200" dirty="0" smtClean="0">
                <a:solidFill>
                  <a:schemeClr val="tx1"/>
                </a:solidFill>
                <a:latin typeface="+mn-lt"/>
                <a:ea typeface="+mn-ea"/>
                <a:cs typeface="+mn-cs"/>
              </a:rPr>
              <a:t>Недостаточная производительность получаемой системы.</a:t>
            </a:r>
          </a:p>
          <a:p>
            <a:pPr marL="228600" indent="-228600">
              <a:buFont typeface="+mj-lt"/>
              <a:buAutoNum type="arabicPeriod"/>
            </a:pPr>
            <a:r>
              <a:rPr lang="ru-RU" sz="1200" b="0" i="0" kern="1200" dirty="0" smtClean="0">
                <a:solidFill>
                  <a:schemeClr val="tx1"/>
                </a:solidFill>
                <a:latin typeface="+mn-lt"/>
                <a:ea typeface="+mn-ea"/>
                <a:cs typeface="+mn-cs"/>
              </a:rPr>
              <a:t>«Разрыв» в квалификации специалистов разных областей знаний.</a:t>
            </a:r>
          </a:p>
          <a:p>
            <a:endParaRPr lang="ru-RU" sz="1200" b="0" i="0" kern="1200" dirty="0" smtClean="0">
              <a:solidFill>
                <a:schemeClr val="tx1"/>
              </a:solidFill>
              <a:latin typeface="+mn-lt"/>
              <a:ea typeface="+mn-ea"/>
              <a:cs typeface="+mn-cs"/>
            </a:endParaRPr>
          </a:p>
          <a:p>
            <a:r>
              <a:rPr lang="ru-RU" sz="1200" b="0" i="0" kern="1200" dirty="0" smtClean="0">
                <a:solidFill>
                  <a:schemeClr val="tx1"/>
                </a:solidFill>
                <a:latin typeface="+mn-lt"/>
                <a:ea typeface="+mn-ea"/>
                <a:cs typeface="+mn-cs"/>
              </a:rPr>
              <a:t>Большая часть этих рисков связана с организационными и процессными аспектами взаимодействия специалистов в проектной команде.</a:t>
            </a:r>
          </a:p>
          <a:p>
            <a:r>
              <a:rPr lang="ru-RU" sz="1200" b="0" i="0" kern="1200" dirty="0" smtClean="0">
                <a:solidFill>
                  <a:schemeClr val="tx1"/>
                </a:solidFill>
                <a:latin typeface="+mn-lt"/>
                <a:ea typeface="+mn-ea"/>
                <a:cs typeface="+mn-cs"/>
              </a:rPr>
              <a:t>Каждый виток спирали соответствует созданию фрагмента или версии программного обеспечения, на нем уточняются цели и характеристики проекта, определяется его качество и планируются работы следующего витка спирали. Таким образом углубляются и последовательно конкретизируются детали проекта и в результате выбирается обоснованный вариант, который доводится до реализации. Каждый виток разбит на 4 сектора:</a:t>
            </a:r>
          </a:p>
          <a:p>
            <a:pPr>
              <a:buFont typeface="Arial" pitchFamily="34" charset="0"/>
              <a:buChar char="•"/>
            </a:pPr>
            <a:r>
              <a:rPr lang="ru-RU" sz="1200" b="0" i="0" kern="1200" dirty="0" smtClean="0">
                <a:solidFill>
                  <a:schemeClr val="tx1"/>
                </a:solidFill>
                <a:latin typeface="+mn-lt"/>
                <a:ea typeface="+mn-ea"/>
                <a:cs typeface="+mn-cs"/>
              </a:rPr>
              <a:t>оценка и разрешение рисков,</a:t>
            </a:r>
          </a:p>
          <a:p>
            <a:pPr>
              <a:buFont typeface="Arial" pitchFamily="34" charset="0"/>
              <a:buChar char="•"/>
            </a:pPr>
            <a:r>
              <a:rPr lang="ru-RU" sz="1200" b="0" i="0" kern="1200" dirty="0" smtClean="0">
                <a:solidFill>
                  <a:schemeClr val="tx1"/>
                </a:solidFill>
                <a:latin typeface="+mn-lt"/>
                <a:ea typeface="+mn-ea"/>
                <a:cs typeface="+mn-cs"/>
              </a:rPr>
              <a:t>определение целей,</a:t>
            </a:r>
          </a:p>
          <a:p>
            <a:pPr>
              <a:buFont typeface="Arial" pitchFamily="34" charset="0"/>
              <a:buChar char="•"/>
            </a:pPr>
            <a:r>
              <a:rPr lang="ru-RU" sz="1200" b="0" i="0" kern="1200" dirty="0" smtClean="0">
                <a:solidFill>
                  <a:schemeClr val="tx1"/>
                </a:solidFill>
                <a:latin typeface="+mn-lt"/>
                <a:ea typeface="+mn-ea"/>
                <a:cs typeface="+mn-cs"/>
              </a:rPr>
              <a:t>разработка и тестирование,</a:t>
            </a:r>
          </a:p>
          <a:p>
            <a:pPr>
              <a:buFont typeface="Arial" pitchFamily="34" charset="0"/>
              <a:buChar char="•"/>
            </a:pPr>
            <a:r>
              <a:rPr lang="ru-RU" sz="1200" b="0" i="0" kern="1200" dirty="0" smtClean="0">
                <a:solidFill>
                  <a:schemeClr val="tx1"/>
                </a:solidFill>
                <a:latin typeface="+mn-lt"/>
                <a:ea typeface="+mn-ea"/>
                <a:cs typeface="+mn-cs"/>
              </a:rPr>
              <a:t>планирование.</a:t>
            </a:r>
          </a:p>
          <a:p>
            <a:r>
              <a:rPr lang="ru-RU" sz="1200" b="0" i="0" kern="1200" dirty="0" smtClean="0">
                <a:solidFill>
                  <a:schemeClr val="tx1"/>
                </a:solidFill>
                <a:latin typeface="+mn-lt"/>
                <a:ea typeface="+mn-ea"/>
                <a:cs typeface="+mn-cs"/>
              </a:rPr>
              <a:t>На каждом витке спирали могут применяться разные модели процесса разработки ПО. В конечном итоге на выходе получается готовый продукт. Модель сочетает в себе возможности модели прототипирования и </a:t>
            </a:r>
            <a:r>
              <a:rPr lang="ru-RU" sz="1200" b="0" i="0" u="none" strike="noStrike" kern="1200" dirty="0" smtClean="0">
                <a:solidFill>
                  <a:schemeClr val="tx1"/>
                </a:solidFill>
                <a:latin typeface="+mn-lt"/>
                <a:ea typeface="+mn-ea"/>
                <a:cs typeface="+mn-cs"/>
                <a:hlinkClick r:id="rId13" tooltip="Модель водопада"/>
              </a:rPr>
              <a:t>водопадной модели</a:t>
            </a:r>
            <a:r>
              <a:rPr lang="ru-RU" sz="1200" b="0" i="0" kern="1200" dirty="0" smtClean="0">
                <a:solidFill>
                  <a:schemeClr val="tx1"/>
                </a:solidFill>
                <a:latin typeface="+mn-lt"/>
                <a:ea typeface="+mn-ea"/>
                <a:cs typeface="+mn-cs"/>
              </a:rPr>
              <a:t>. Разработка итерациями отражает объективно существующий спиральный цикл создания системы. Неполное завершение работ на каждом этапе позволяет переходить на следующий этап, не дожидаясь полного завершения работы на текущем. При итеративном способе разработки недостающую работу можно будет выполнить на следующей итерации. Главная задача — как можно быстрее показать пользователям системы работоспособный продукт, тем самым активизируя процесс уточнения и дополнения требований. Основная проблема спирального цикла — определение момента перехода на следующий этап. Для ее решения необходимо ввести временные ограничения на каждый из этапов жизненного цикла. Переход осуществляется в соответствии с планом, даже если не вся запланированная работа закончена. План составляется на основе статистических данных, полученных в предыдущих проектах, и личного опыта разработчиков. Одним из возможных подходов к разработке программного обеспечения в рамках спиральной модели жизненного цикла является получившая в последнее время широкое распространение методология быстрой разработки приложений </a:t>
            </a:r>
            <a:r>
              <a:rPr lang="ru-RU" sz="1200" b="0" i="0" u="none" strike="noStrike" kern="1200" dirty="0" smtClean="0">
                <a:solidFill>
                  <a:schemeClr val="tx1"/>
                </a:solidFill>
                <a:latin typeface="+mn-lt"/>
                <a:ea typeface="+mn-ea"/>
                <a:cs typeface="+mn-cs"/>
                <a:hlinkClick r:id="rId14" tooltip="RAD (программирование)"/>
              </a:rPr>
              <a:t>RAD</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Rapid</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Application</a:t>
            </a:r>
            <a:r>
              <a:rPr lang="ru-RU" sz="1200" b="0" i="0" kern="1200" dirty="0" smtClean="0">
                <a:solidFill>
                  <a:schemeClr val="tx1"/>
                </a:solidFill>
                <a:latin typeface="+mn-lt"/>
                <a:ea typeface="+mn-ea"/>
                <a:cs typeface="+mn-cs"/>
              </a:rPr>
              <a:t> </a:t>
            </a:r>
            <a:r>
              <a:rPr lang="ru-RU" sz="1200" b="0" i="0" kern="1200" dirty="0" err="1" smtClean="0">
                <a:solidFill>
                  <a:schemeClr val="tx1"/>
                </a:solidFill>
                <a:latin typeface="+mn-lt"/>
                <a:ea typeface="+mn-ea"/>
                <a:cs typeface="+mn-cs"/>
              </a:rPr>
              <a:t>Development</a:t>
            </a:r>
            <a:r>
              <a:rPr lang="ru-RU" sz="1200" b="0" i="0" kern="1200" dirty="0" smtClean="0">
                <a:solidFill>
                  <a:schemeClr val="tx1"/>
                </a:solidFill>
                <a:latin typeface="+mn-lt"/>
                <a:ea typeface="+mn-ea"/>
                <a:cs typeface="+mn-cs"/>
              </a:rPr>
              <a:t>). Под этим термином обычно понимается процесс разработки программного обеспечения, содержащий 3 элемента:</a:t>
            </a:r>
          </a:p>
          <a:p>
            <a:pPr marL="228600" indent="-228600">
              <a:buFont typeface="+mj-lt"/>
              <a:buAutoNum type="arabicPeriod"/>
            </a:pPr>
            <a:r>
              <a:rPr lang="ru-RU" sz="1200" b="0" i="0" kern="1200" dirty="0" smtClean="0">
                <a:solidFill>
                  <a:schemeClr val="tx1"/>
                </a:solidFill>
                <a:latin typeface="+mn-lt"/>
                <a:ea typeface="+mn-ea"/>
                <a:cs typeface="+mn-cs"/>
              </a:rPr>
              <a:t>небольшую команду программистов (от 2 до 10 человек);</a:t>
            </a:r>
          </a:p>
          <a:p>
            <a:pPr marL="228600" indent="-228600">
              <a:buFont typeface="+mj-lt"/>
              <a:buAutoNum type="arabicPeriod"/>
            </a:pPr>
            <a:r>
              <a:rPr lang="ru-RU" sz="1200" b="0" i="0" kern="1200" dirty="0" smtClean="0">
                <a:solidFill>
                  <a:schemeClr val="tx1"/>
                </a:solidFill>
                <a:latin typeface="+mn-lt"/>
                <a:ea typeface="+mn-ea"/>
                <a:cs typeface="+mn-cs"/>
              </a:rPr>
              <a:t>короткий, но тщательно проработанный производственный график (от 2 до 6 месяцев);</a:t>
            </a:r>
          </a:p>
          <a:p>
            <a:pPr marL="228600" indent="-228600">
              <a:buFont typeface="+mj-lt"/>
              <a:buAutoNum type="arabicPeriod"/>
            </a:pPr>
            <a:r>
              <a:rPr lang="ru-RU" sz="1200" b="0" i="0" kern="1200" dirty="0" smtClean="0">
                <a:solidFill>
                  <a:schemeClr val="tx1"/>
                </a:solidFill>
                <a:latin typeface="+mn-lt"/>
                <a:ea typeface="+mn-ea"/>
                <a:cs typeface="+mn-cs"/>
              </a:rPr>
              <a:t>повторяющийся цикл, при котором разработчики, по мере того, как приложение начинает обретать форму, запрашивают и реализуют в продукте требования, полученные через взаимодействие с заказчиком.</a:t>
            </a:r>
          </a:p>
          <a:p>
            <a:r>
              <a:rPr lang="ru-RU" sz="1200" b="0" i="0" kern="1200" dirty="0" smtClean="0">
                <a:solidFill>
                  <a:schemeClr val="tx1"/>
                </a:solidFill>
                <a:latin typeface="+mn-lt"/>
                <a:ea typeface="+mn-ea"/>
                <a:cs typeface="+mn-cs"/>
              </a:rPr>
              <a:t>Жизненный цикл программного обеспечения по методологии RAD состоит из четырёх фаз:</a:t>
            </a:r>
          </a:p>
          <a:p>
            <a:pPr marL="228600" indent="-228600">
              <a:buFont typeface="+mj-lt"/>
              <a:buAutoNum type="arabicPeriod"/>
            </a:pPr>
            <a:r>
              <a:rPr lang="ru-RU" sz="1200" b="0" i="0" kern="1200" dirty="0" smtClean="0">
                <a:solidFill>
                  <a:schemeClr val="tx1"/>
                </a:solidFill>
                <a:latin typeface="+mn-lt"/>
                <a:ea typeface="+mn-ea"/>
                <a:cs typeface="+mn-cs"/>
              </a:rPr>
              <a:t>фаза определения требований и анализа;</a:t>
            </a:r>
          </a:p>
          <a:p>
            <a:pPr marL="228600" indent="-228600">
              <a:buFont typeface="+mj-lt"/>
              <a:buAutoNum type="arabicPeriod"/>
            </a:pPr>
            <a:r>
              <a:rPr lang="ru-RU" sz="1200" b="0" i="0" kern="1200" dirty="0" smtClean="0">
                <a:solidFill>
                  <a:schemeClr val="tx1"/>
                </a:solidFill>
                <a:latin typeface="+mn-lt"/>
                <a:ea typeface="+mn-ea"/>
                <a:cs typeface="+mn-cs"/>
              </a:rPr>
              <a:t>фаза проектирования;</a:t>
            </a:r>
          </a:p>
          <a:p>
            <a:pPr marL="228600" indent="-228600">
              <a:buFont typeface="+mj-lt"/>
              <a:buAutoNum type="arabicPeriod"/>
            </a:pPr>
            <a:r>
              <a:rPr lang="ru-RU" sz="1200" b="0" i="0" kern="1200" dirty="0" smtClean="0">
                <a:solidFill>
                  <a:schemeClr val="tx1"/>
                </a:solidFill>
                <a:latin typeface="+mn-lt"/>
                <a:ea typeface="+mn-ea"/>
                <a:cs typeface="+mn-cs"/>
              </a:rPr>
              <a:t>фаза реализации;</a:t>
            </a:r>
          </a:p>
          <a:p>
            <a:pPr marL="228600" indent="-228600">
              <a:buFont typeface="+mj-lt"/>
              <a:buAutoNum type="arabicPeriod"/>
            </a:pPr>
            <a:r>
              <a:rPr lang="ru-RU" sz="1200" b="0" i="0" kern="1200" dirty="0" smtClean="0">
                <a:solidFill>
                  <a:schemeClr val="tx1"/>
                </a:solidFill>
                <a:latin typeface="+mn-lt"/>
                <a:ea typeface="+mn-ea"/>
                <a:cs typeface="+mn-cs"/>
              </a:rPr>
              <a:t>фаза внедрения.</a:t>
            </a:r>
          </a:p>
          <a:p>
            <a:endParaRPr lang="ru-RU" sz="1200" b="0" i="0" kern="1200" dirty="0" smtClean="0">
              <a:solidFill>
                <a:schemeClr val="tx1"/>
              </a:solidFill>
              <a:latin typeface="+mn-lt"/>
              <a:ea typeface="+mn-ea"/>
              <a:cs typeface="+mn-cs"/>
            </a:endParaRPr>
          </a:p>
          <a:p>
            <a:r>
              <a:rPr lang="ru-RU" sz="1200" b="1" i="1" kern="1200" dirty="0" smtClean="0">
                <a:solidFill>
                  <a:schemeClr val="tx1"/>
                </a:solidFill>
                <a:latin typeface="+mn-lt"/>
                <a:ea typeface="+mn-ea"/>
                <a:cs typeface="+mn-cs"/>
              </a:rPr>
              <a:t>Спиральная модель ориентирована на большие, дорогостоящие и сложные проекты.</a:t>
            </a:r>
            <a:r>
              <a:rPr lang="ru-RU" sz="1200" b="0" i="0" kern="1200" dirty="0" smtClean="0">
                <a:solidFill>
                  <a:schemeClr val="tx1"/>
                </a:solidFill>
                <a:latin typeface="+mn-lt"/>
                <a:ea typeface="+mn-ea"/>
                <a:cs typeface="+mn-cs"/>
              </a:rPr>
              <a:t> В условиях, когда бизнес цели таких проектов могут измениться, но требуется разработка стабильной архитектуры, удовлетворяющей высоким требованиям по нагрузке и устойчивости, имеет смысл применение </a:t>
            </a:r>
            <a:r>
              <a:rPr lang="ru-RU" sz="1200" b="0" i="0" u="none" strike="noStrike" kern="1200" dirty="0" err="1" smtClean="0">
                <a:solidFill>
                  <a:schemeClr val="tx1"/>
                </a:solidFill>
                <a:latin typeface="+mn-lt"/>
                <a:ea typeface="+mn-ea"/>
                <a:cs typeface="+mn-cs"/>
                <a:hlinkClick r:id="rId15"/>
              </a:rPr>
              <a:t>Spiral</a:t>
            </a:r>
            <a:r>
              <a:rPr lang="ru-RU" sz="1200" b="0" i="0" u="none" strike="noStrike" kern="1200" dirty="0" smtClean="0">
                <a:solidFill>
                  <a:schemeClr val="tx1"/>
                </a:solidFill>
                <a:latin typeface="+mn-lt"/>
                <a:ea typeface="+mn-ea"/>
                <a:cs typeface="+mn-cs"/>
                <a:hlinkClick r:id="rId15"/>
              </a:rPr>
              <a:t> </a:t>
            </a:r>
            <a:r>
              <a:rPr lang="ru-RU" sz="1200" b="0" i="0" u="none" strike="noStrike" kern="1200" dirty="0" err="1" smtClean="0">
                <a:solidFill>
                  <a:schemeClr val="tx1"/>
                </a:solidFill>
                <a:latin typeface="+mn-lt"/>
                <a:ea typeface="+mn-ea"/>
                <a:cs typeface="+mn-cs"/>
                <a:hlinkClick r:id="rId15"/>
              </a:rPr>
              <a:t>Architecture</a:t>
            </a:r>
            <a:r>
              <a:rPr lang="ru-RU" sz="1200" b="0" i="0" u="none" strike="noStrike" kern="1200" dirty="0" smtClean="0">
                <a:solidFill>
                  <a:schemeClr val="tx1"/>
                </a:solidFill>
                <a:latin typeface="+mn-lt"/>
                <a:ea typeface="+mn-ea"/>
                <a:cs typeface="+mn-cs"/>
                <a:hlinkClick r:id="rId15"/>
              </a:rPr>
              <a:t> </a:t>
            </a:r>
            <a:r>
              <a:rPr lang="ru-RU" sz="1200" b="0" i="0" u="none" strike="noStrike" kern="1200" dirty="0" err="1" smtClean="0">
                <a:solidFill>
                  <a:schemeClr val="tx1"/>
                </a:solidFill>
                <a:latin typeface="+mn-lt"/>
                <a:ea typeface="+mn-ea"/>
                <a:cs typeface="+mn-cs"/>
                <a:hlinkClick r:id="rId15"/>
              </a:rPr>
              <a:t>Driven</a:t>
            </a:r>
            <a:r>
              <a:rPr lang="ru-RU" sz="1200" b="0" i="0" u="none" strike="noStrike" kern="1200" dirty="0" smtClean="0">
                <a:solidFill>
                  <a:schemeClr val="tx1"/>
                </a:solidFill>
                <a:latin typeface="+mn-lt"/>
                <a:ea typeface="+mn-ea"/>
                <a:cs typeface="+mn-cs"/>
                <a:hlinkClick r:id="rId15"/>
              </a:rPr>
              <a:t> </a:t>
            </a:r>
            <a:r>
              <a:rPr lang="ru-RU" sz="1200" b="0" i="0" u="none" strike="noStrike" kern="1200" dirty="0" err="1" smtClean="0">
                <a:solidFill>
                  <a:schemeClr val="tx1"/>
                </a:solidFill>
                <a:latin typeface="+mn-lt"/>
                <a:ea typeface="+mn-ea"/>
                <a:cs typeface="+mn-cs"/>
                <a:hlinkClick r:id="rId15"/>
              </a:rPr>
              <a:t>Development</a:t>
            </a:r>
            <a:r>
              <a:rPr lang="ru-RU" sz="1200" b="0" i="0" kern="1200" dirty="0" smtClean="0">
                <a:solidFill>
                  <a:schemeClr val="tx1"/>
                </a:solidFill>
                <a:latin typeface="+mn-lt"/>
                <a:ea typeface="+mn-ea"/>
                <a:cs typeface="+mn-cs"/>
              </a:rPr>
              <a:t>. Данная методология, включающая в себя лучшие идеи спиральной модели и некоторых других, позволяет существенно снизить архитектурные риски, что является немаловажным фактором успеха при разработке крупных систем.</a:t>
            </a:r>
          </a:p>
          <a:p>
            <a:endParaRPr lang="ru-RU" dirty="0"/>
          </a:p>
        </p:txBody>
      </p:sp>
      <p:sp>
        <p:nvSpPr>
          <p:cNvPr id="4" name="Номер слайда 3"/>
          <p:cNvSpPr>
            <a:spLocks noGrp="1"/>
          </p:cNvSpPr>
          <p:nvPr>
            <p:ph type="sldNum" sz="quarter" idx="10"/>
          </p:nvPr>
        </p:nvSpPr>
        <p:spPr/>
        <p:txBody>
          <a:bodyPr/>
          <a:lstStyle/>
          <a:p>
            <a:fld id="{24EA7333-40CC-4488-984A-3D4A33D1DCF2}" type="slidenum">
              <a:rPr lang="ru-RU" smtClean="0"/>
              <a:pPr/>
              <a:t>61</a:t>
            </a:fld>
            <a:endParaRPr lang="ru-RU"/>
          </a:p>
        </p:txBody>
      </p:sp>
    </p:spTree>
    <p:extLst>
      <p:ext uri="{BB962C8B-B14F-4D97-AF65-F5344CB8AC3E}">
        <p14:creationId xmlns:p14="http://schemas.microsoft.com/office/powerpoint/2010/main" val="31139101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55000" lnSpcReduction="20000"/>
          </a:bodyPr>
          <a:lstStyle/>
          <a:p>
            <a:r>
              <a:rPr lang="ru-RU" sz="1200" kern="1200" dirty="0" smtClean="0">
                <a:solidFill>
                  <a:schemeClr val="tx1"/>
                </a:solidFill>
                <a:latin typeface="+mn-lt"/>
                <a:ea typeface="+mn-ea"/>
                <a:cs typeface="+mn-cs"/>
              </a:rPr>
              <a:t>Спиральная модель — классический пример применения эволюционной стратегии разработки.</a:t>
            </a:r>
          </a:p>
          <a:p>
            <a:r>
              <a:rPr lang="ru-RU" sz="1200" kern="1200" dirty="0" smtClean="0">
                <a:solidFill>
                  <a:schemeClr val="tx1"/>
                </a:solidFill>
                <a:latin typeface="+mn-lt"/>
                <a:ea typeface="+mn-ea"/>
                <a:cs typeface="+mn-cs"/>
              </a:rPr>
              <a:t>Спиральная модель (автор Барри Боэм, 1988) базируется на лучших свойствах модели водопада и </a:t>
            </a:r>
            <a:r>
              <a:rPr lang="ru-RU" sz="1200" kern="1200" dirty="0" err="1" smtClean="0">
                <a:solidFill>
                  <a:schemeClr val="tx1"/>
                </a:solidFill>
                <a:latin typeface="+mn-lt"/>
                <a:ea typeface="+mn-ea"/>
                <a:cs typeface="+mn-cs"/>
              </a:rPr>
              <a:t>протипирования</a:t>
            </a:r>
            <a:r>
              <a:rPr lang="ru-RU" sz="1200" kern="1200" dirty="0" smtClean="0">
                <a:solidFill>
                  <a:schemeClr val="tx1"/>
                </a:solidFill>
                <a:latin typeface="+mn-lt"/>
                <a:ea typeface="+mn-ea"/>
                <a:cs typeface="+mn-cs"/>
              </a:rPr>
              <a:t>, к которым добавляется новый элемент — анализ риска, отсутствующий в этих моделях.</a:t>
            </a:r>
          </a:p>
          <a:p>
            <a:endParaRPr lang="ru-RU" sz="1200" kern="1200" dirty="0" smtClean="0">
              <a:solidFill>
                <a:schemeClr val="tx1"/>
              </a:solidFill>
              <a:latin typeface="+mn-lt"/>
              <a:ea typeface="+mn-ea"/>
              <a:cs typeface="+mn-cs"/>
            </a:endParaRPr>
          </a:p>
          <a:p>
            <a:r>
              <a:rPr lang="ru-RU" sz="1200" kern="1200" dirty="0" smtClean="0">
                <a:solidFill>
                  <a:schemeClr val="tx1"/>
                </a:solidFill>
                <a:latin typeface="+mn-lt"/>
                <a:ea typeface="+mn-ea"/>
                <a:cs typeface="+mn-cs"/>
              </a:rPr>
              <a:t>Как показано на рис. 1.6, модель определяет четыре действия, представляемые четырьмя квадрантами спирали.</a:t>
            </a:r>
          </a:p>
          <a:p>
            <a:r>
              <a:rPr lang="ru-RU" sz="1200" kern="1200" dirty="0" smtClean="0">
                <a:solidFill>
                  <a:schemeClr val="tx1"/>
                </a:solidFill>
                <a:latin typeface="+mn-lt"/>
                <a:ea typeface="+mn-ea"/>
                <a:cs typeface="+mn-cs"/>
              </a:rPr>
              <a:t>1. Планирование — определение целей, вариантов и ограничений.</a:t>
            </a:r>
          </a:p>
          <a:p>
            <a:r>
              <a:rPr lang="ru-RU" sz="1200" kern="1200" dirty="0" smtClean="0">
                <a:solidFill>
                  <a:schemeClr val="tx1"/>
                </a:solidFill>
                <a:latin typeface="+mn-lt"/>
                <a:ea typeface="+mn-ea"/>
                <a:cs typeface="+mn-cs"/>
              </a:rPr>
              <a:t>2. Анализ риска — анализ вариантов и распознавание/выбор риска.</a:t>
            </a:r>
          </a:p>
          <a:p>
            <a:r>
              <a:rPr lang="ru-RU" sz="1200" kern="1200" dirty="0" smtClean="0">
                <a:solidFill>
                  <a:schemeClr val="tx1"/>
                </a:solidFill>
                <a:latin typeface="+mn-lt"/>
                <a:ea typeface="+mn-ea"/>
                <a:cs typeface="+mn-cs"/>
              </a:rPr>
              <a:t>3. Конструирование — разработка продукта следующего уровня.</a:t>
            </a:r>
          </a:p>
          <a:p>
            <a:r>
              <a:rPr lang="ru-RU" sz="1200" kern="1200" dirty="0" smtClean="0">
                <a:solidFill>
                  <a:schemeClr val="tx1"/>
                </a:solidFill>
                <a:latin typeface="+mn-lt"/>
                <a:ea typeface="+mn-ea"/>
                <a:cs typeface="+mn-cs"/>
              </a:rPr>
              <a:t>4. Оценивание — оценка заказчиком текущих результатов конструирования. </a:t>
            </a:r>
          </a:p>
          <a:p>
            <a:r>
              <a:rPr lang="ru-RU" sz="1200" kern="1200" dirty="0" smtClean="0">
                <a:solidFill>
                  <a:schemeClr val="tx1"/>
                </a:solidFill>
                <a:latin typeface="+mn-lt"/>
                <a:ea typeface="+mn-ea"/>
                <a:cs typeface="+mn-cs"/>
              </a:rPr>
              <a:t>Интегрирующий аспект спиральной модели очевиден при учете радиального измерения спирали. </a:t>
            </a:r>
          </a:p>
          <a:p>
            <a:r>
              <a:rPr lang="ru-RU" sz="1200" kern="1200" dirty="0" smtClean="0">
                <a:solidFill>
                  <a:schemeClr val="tx1"/>
                </a:solidFill>
                <a:latin typeface="+mn-lt"/>
                <a:ea typeface="+mn-ea"/>
                <a:cs typeface="+mn-cs"/>
              </a:rPr>
              <a:t>С каждой итерацией по спирали (продвижением от центра к периферии) строятся все более полные версии ПО.</a:t>
            </a:r>
          </a:p>
          <a:p>
            <a:endParaRPr lang="ru-RU" sz="1200" kern="1200" dirty="0" smtClean="0">
              <a:solidFill>
                <a:schemeClr val="tx1"/>
              </a:solidFill>
              <a:latin typeface="+mn-lt"/>
              <a:ea typeface="+mn-ea"/>
              <a:cs typeface="+mn-cs"/>
            </a:endParaRPr>
          </a:p>
          <a:p>
            <a:r>
              <a:rPr lang="ru-RU" sz="1200" kern="1200" dirty="0" smtClean="0">
                <a:solidFill>
                  <a:schemeClr val="tx1"/>
                </a:solidFill>
                <a:latin typeface="+mn-lt"/>
                <a:ea typeface="+mn-ea"/>
                <a:cs typeface="+mn-cs"/>
              </a:rPr>
              <a:t>В первом витке спирали определяются начальные цели, варианты и ограничения, распознается и анализируется риск. </a:t>
            </a:r>
          </a:p>
          <a:p>
            <a:r>
              <a:rPr lang="ru-RU" sz="1200" kern="1200" dirty="0" smtClean="0">
                <a:solidFill>
                  <a:schemeClr val="tx1"/>
                </a:solidFill>
                <a:latin typeface="+mn-lt"/>
                <a:ea typeface="+mn-ea"/>
                <a:cs typeface="+mn-cs"/>
              </a:rPr>
              <a:t>Если анализ риска показывает неопределенность требований, на помощь разработчику и заказчику приходит макетирование (используемое в квадранте конструирования). </a:t>
            </a:r>
          </a:p>
          <a:p>
            <a:r>
              <a:rPr lang="ru-RU" sz="1200" kern="1200" dirty="0" smtClean="0">
                <a:solidFill>
                  <a:schemeClr val="tx1"/>
                </a:solidFill>
                <a:latin typeface="+mn-lt"/>
                <a:ea typeface="+mn-ea"/>
                <a:cs typeface="+mn-cs"/>
              </a:rPr>
              <a:t>Для дальнейшего определения проблемных и уточненных требований может быть использовано моделирование. </a:t>
            </a:r>
          </a:p>
          <a:p>
            <a:r>
              <a:rPr lang="ru-RU" sz="1200" kern="1200" dirty="0" smtClean="0">
                <a:solidFill>
                  <a:schemeClr val="tx1"/>
                </a:solidFill>
                <a:latin typeface="+mn-lt"/>
                <a:ea typeface="+mn-ea"/>
                <a:cs typeface="+mn-cs"/>
              </a:rPr>
              <a:t>Заказчик оценивает инженерную (конструкторскую) работу и вносит предложения по модификации (квадрант оценки заказчиком). </a:t>
            </a:r>
          </a:p>
          <a:p>
            <a:r>
              <a:rPr lang="ru-RU" sz="1200" kern="1200" dirty="0" smtClean="0">
                <a:solidFill>
                  <a:schemeClr val="tx1"/>
                </a:solidFill>
                <a:latin typeface="+mn-lt"/>
                <a:ea typeface="+mn-ea"/>
                <a:cs typeface="+mn-cs"/>
              </a:rPr>
              <a:t>Следующая фаза планирования и анализа риска базируется на предложениях заказчика. </a:t>
            </a:r>
          </a:p>
          <a:p>
            <a:r>
              <a:rPr lang="ru-RU" sz="1200" kern="1200" dirty="0" smtClean="0">
                <a:solidFill>
                  <a:schemeClr val="tx1"/>
                </a:solidFill>
                <a:latin typeface="+mn-lt"/>
                <a:ea typeface="+mn-ea"/>
                <a:cs typeface="+mn-cs"/>
              </a:rPr>
              <a:t>В каждом цикле по спирали результаты анализа риска формируются в виде «продолжать, не продолжать». </a:t>
            </a:r>
          </a:p>
          <a:p>
            <a:r>
              <a:rPr lang="ru-RU" sz="1200" kern="1200" dirty="0" smtClean="0">
                <a:solidFill>
                  <a:schemeClr val="tx1"/>
                </a:solidFill>
                <a:latin typeface="+mn-lt"/>
                <a:ea typeface="+mn-ea"/>
                <a:cs typeface="+mn-cs"/>
              </a:rPr>
              <a:t>Если риск слишком велик, проект может быть остановлен.</a:t>
            </a:r>
          </a:p>
          <a:p>
            <a:r>
              <a:rPr lang="ru-RU" sz="1200" kern="1200" dirty="0" smtClean="0">
                <a:solidFill>
                  <a:schemeClr val="tx1"/>
                </a:solidFill>
                <a:latin typeface="+mn-lt"/>
                <a:ea typeface="+mn-ea"/>
                <a:cs typeface="+mn-cs"/>
              </a:rPr>
              <a:t>В большинстве случаев движение по спирали продолжается, с каждым шагом продвигая разработчиков к более общей модели системы. </a:t>
            </a:r>
          </a:p>
          <a:p>
            <a:r>
              <a:rPr lang="ru-RU" sz="1200" kern="1200" dirty="0" smtClean="0">
                <a:solidFill>
                  <a:schemeClr val="tx1"/>
                </a:solidFill>
                <a:latin typeface="+mn-lt"/>
                <a:ea typeface="+mn-ea"/>
                <a:cs typeface="+mn-cs"/>
              </a:rPr>
              <a:t>В каждом цикле по спирали требуется конструирование (нижний правый квадрант), которое может быть реализовано классическим жизненным циклом или макетированием. </a:t>
            </a:r>
          </a:p>
          <a:p>
            <a:r>
              <a:rPr lang="ru-RU" sz="1200" kern="1200" dirty="0" smtClean="0">
                <a:solidFill>
                  <a:schemeClr val="tx1"/>
                </a:solidFill>
                <a:latin typeface="+mn-lt"/>
                <a:ea typeface="+mn-ea"/>
                <a:cs typeface="+mn-cs"/>
              </a:rPr>
              <a:t>Заметим, что количество действий по разработке (происходящих в правом нижнем квадранте) возрастает по мере продвижения от центра спирали.</a:t>
            </a:r>
          </a:p>
          <a:p>
            <a:endParaRPr lang="ru-RU" sz="1200" i="1" kern="1200" dirty="0" smtClean="0">
              <a:solidFill>
                <a:schemeClr val="tx1"/>
              </a:solidFill>
              <a:latin typeface="+mn-lt"/>
              <a:ea typeface="+mn-ea"/>
              <a:cs typeface="+mn-cs"/>
            </a:endParaRPr>
          </a:p>
          <a:p>
            <a:r>
              <a:rPr lang="ru-RU" sz="1200" i="1" kern="1200" dirty="0" smtClean="0">
                <a:solidFill>
                  <a:schemeClr val="tx1"/>
                </a:solidFill>
                <a:latin typeface="+mn-lt"/>
                <a:ea typeface="+mn-ea"/>
                <a:cs typeface="+mn-cs"/>
              </a:rPr>
              <a:t>Достоинства спиральной модели:</a:t>
            </a:r>
            <a:endParaRPr lang="ru-RU" sz="1200" kern="1200" dirty="0" smtClean="0">
              <a:solidFill>
                <a:schemeClr val="tx1"/>
              </a:solidFill>
              <a:latin typeface="+mn-lt"/>
              <a:ea typeface="+mn-ea"/>
              <a:cs typeface="+mn-cs"/>
            </a:endParaRPr>
          </a:p>
          <a:p>
            <a:r>
              <a:rPr lang="ru-RU" sz="1200" kern="1200" dirty="0" smtClean="0">
                <a:solidFill>
                  <a:schemeClr val="tx1"/>
                </a:solidFill>
                <a:latin typeface="+mn-lt"/>
                <a:ea typeface="+mn-ea"/>
                <a:cs typeface="+mn-cs"/>
              </a:rPr>
              <a:t>1) наиболее реально (в виде эволюции) отображает разработку программного обеспечения;</a:t>
            </a:r>
          </a:p>
          <a:p>
            <a:r>
              <a:rPr lang="ru-RU" sz="1200" kern="1200" dirty="0" smtClean="0">
                <a:solidFill>
                  <a:schemeClr val="tx1"/>
                </a:solidFill>
                <a:latin typeface="+mn-lt"/>
                <a:ea typeface="+mn-ea"/>
                <a:cs typeface="+mn-cs"/>
              </a:rPr>
              <a:t>2) позволяет явно учитывать риск на каждом витке эволюции разработки;</a:t>
            </a:r>
          </a:p>
          <a:p>
            <a:r>
              <a:rPr lang="ru-RU" sz="1200" kern="1200" dirty="0" smtClean="0">
                <a:solidFill>
                  <a:schemeClr val="tx1"/>
                </a:solidFill>
                <a:latin typeface="+mn-lt"/>
                <a:ea typeface="+mn-ea"/>
                <a:cs typeface="+mn-cs"/>
              </a:rPr>
              <a:t>3) включает шаг системного подхода в итерационную структуру разработки;</a:t>
            </a:r>
          </a:p>
          <a:p>
            <a:r>
              <a:rPr lang="ru-RU" sz="1200" kern="1200" dirty="0" smtClean="0">
                <a:solidFill>
                  <a:schemeClr val="tx1"/>
                </a:solidFill>
                <a:latin typeface="+mn-lt"/>
                <a:ea typeface="+mn-ea"/>
                <a:cs typeface="+mn-cs"/>
              </a:rPr>
              <a:t>4) использует моделирование для уменьшения риска и совершенствования программного изделия.</a:t>
            </a:r>
          </a:p>
          <a:p>
            <a:endParaRPr lang="ru-RU" sz="1200" i="1" kern="1200" dirty="0" smtClean="0">
              <a:solidFill>
                <a:schemeClr val="tx1"/>
              </a:solidFill>
              <a:latin typeface="+mn-lt"/>
              <a:ea typeface="+mn-ea"/>
              <a:cs typeface="+mn-cs"/>
            </a:endParaRPr>
          </a:p>
          <a:p>
            <a:r>
              <a:rPr lang="ru-RU" sz="1200" i="1" kern="1200" dirty="0" smtClean="0">
                <a:solidFill>
                  <a:schemeClr val="tx1"/>
                </a:solidFill>
                <a:latin typeface="+mn-lt"/>
                <a:ea typeface="+mn-ea"/>
                <a:cs typeface="+mn-cs"/>
              </a:rPr>
              <a:t>Недостатки спиральной модели:</a:t>
            </a:r>
            <a:endParaRPr lang="ru-RU" sz="1200" kern="1200" dirty="0" smtClean="0">
              <a:solidFill>
                <a:schemeClr val="tx1"/>
              </a:solidFill>
              <a:latin typeface="+mn-lt"/>
              <a:ea typeface="+mn-ea"/>
              <a:cs typeface="+mn-cs"/>
            </a:endParaRPr>
          </a:p>
          <a:p>
            <a:r>
              <a:rPr lang="ru-RU" sz="1200" kern="1200" dirty="0" smtClean="0">
                <a:solidFill>
                  <a:schemeClr val="tx1"/>
                </a:solidFill>
                <a:latin typeface="+mn-lt"/>
                <a:ea typeface="+mn-ea"/>
                <a:cs typeface="+mn-cs"/>
              </a:rPr>
              <a:t>1) новизна (отсутствует достаточная статистика эффективности модели);</a:t>
            </a:r>
          </a:p>
          <a:p>
            <a:r>
              <a:rPr lang="ru-RU" sz="1200" kern="1200" dirty="0" smtClean="0">
                <a:solidFill>
                  <a:schemeClr val="tx1"/>
                </a:solidFill>
                <a:latin typeface="+mn-lt"/>
                <a:ea typeface="+mn-ea"/>
                <a:cs typeface="+mn-cs"/>
              </a:rPr>
              <a:t>2) повышенные требования к заказчику; </a:t>
            </a:r>
          </a:p>
          <a:p>
            <a:r>
              <a:rPr lang="ru-RU" sz="1200" kern="1200" dirty="0" smtClean="0">
                <a:solidFill>
                  <a:schemeClr val="tx1"/>
                </a:solidFill>
                <a:latin typeface="+mn-lt"/>
                <a:ea typeface="+mn-ea"/>
                <a:cs typeface="+mn-cs"/>
              </a:rPr>
              <a:t>3) трудности контроля и управления временем разработки.</a:t>
            </a:r>
          </a:p>
          <a:p>
            <a:endParaRPr lang="ru-RU" sz="1200" kern="120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0A23FAD2-BB43-4743-ADCC-660877EE51E5}" type="slidenum">
              <a:rPr lang="ru-RU" smtClean="0"/>
              <a:pPr/>
              <a:t>62</a:t>
            </a:fld>
            <a:endParaRPr lang="ru-RU"/>
          </a:p>
        </p:txBody>
      </p:sp>
    </p:spTree>
    <p:extLst>
      <p:ext uri="{BB962C8B-B14F-4D97-AF65-F5344CB8AC3E}">
        <p14:creationId xmlns:p14="http://schemas.microsoft.com/office/powerpoint/2010/main" val="14322360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en-US" sz="1200" b="1" kern="1200" baseline="0" dirty="0" smtClean="0">
                <a:solidFill>
                  <a:schemeClr val="tx1"/>
                </a:solidFill>
                <a:latin typeface="+mn-lt"/>
                <a:ea typeface="+mn-ea"/>
                <a:cs typeface="+mn-cs"/>
              </a:rPr>
              <a:t>Rational Unified Process</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Унифицированный процесс </a:t>
            </a:r>
            <a:r>
              <a:rPr lang="en-US" sz="1200" kern="1200" baseline="0" dirty="0" smtClean="0">
                <a:solidFill>
                  <a:schemeClr val="tx1"/>
                </a:solidFill>
                <a:latin typeface="+mn-lt"/>
                <a:ea typeface="+mn-ea"/>
                <a:cs typeface="+mn-cs"/>
              </a:rPr>
              <a:t>Rational </a:t>
            </a:r>
            <a:r>
              <a:rPr lang="ru-RU" sz="1200" kern="1200" baseline="0" dirty="0" smtClean="0">
                <a:solidFill>
                  <a:schemeClr val="tx1"/>
                </a:solidFill>
                <a:latin typeface="+mn-lt"/>
                <a:ea typeface="+mn-ea"/>
                <a:cs typeface="+mn-cs"/>
              </a:rPr>
              <a:t>(</a:t>
            </a:r>
            <a:r>
              <a:rPr lang="en-US" sz="1200" kern="1200" baseline="0" dirty="0" smtClean="0">
                <a:solidFill>
                  <a:schemeClr val="tx1"/>
                </a:solidFill>
                <a:latin typeface="+mn-lt"/>
                <a:ea typeface="+mn-ea"/>
                <a:cs typeface="+mn-cs"/>
              </a:rPr>
              <a:t>Rational Unified Process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RUP</a:t>
            </a:r>
            <a:r>
              <a:rPr lang="ru-RU" sz="1200" kern="1200" baseline="0" dirty="0" smtClean="0">
                <a:solidFill>
                  <a:schemeClr val="tx1"/>
                </a:solidFill>
                <a:latin typeface="+mn-lt"/>
                <a:ea typeface="+mn-ea"/>
                <a:cs typeface="+mn-cs"/>
              </a:rPr>
              <a:t>) это другой итеративный процесс, разработанный компанией </a:t>
            </a:r>
            <a:r>
              <a:rPr lang="en-US" sz="1200" kern="1200" baseline="0" dirty="0" smtClean="0">
                <a:solidFill>
                  <a:schemeClr val="tx1"/>
                </a:solidFill>
                <a:latin typeface="+mn-lt"/>
                <a:ea typeface="+mn-ea"/>
                <a:cs typeface="+mn-cs"/>
              </a:rPr>
              <a:t>Rational</a:t>
            </a:r>
            <a:r>
              <a:rPr lang="ru-RU" sz="1200" kern="1200" baseline="0" dirty="0" smtClean="0">
                <a:solidFill>
                  <a:schemeClr val="tx1"/>
                </a:solidFill>
                <a:latin typeface="+mn-lt"/>
                <a:ea typeface="+mn-ea"/>
                <a:cs typeface="+mn-cs"/>
              </a:rPr>
              <a:t>, теперь вошедшей в состав </a:t>
            </a:r>
            <a:r>
              <a:rPr lang="en-US" sz="1200" kern="1200" baseline="0" dirty="0" smtClean="0">
                <a:solidFill>
                  <a:schemeClr val="tx1"/>
                </a:solidFill>
                <a:latin typeface="+mn-lt"/>
                <a:ea typeface="+mn-ea"/>
                <a:cs typeface="+mn-cs"/>
              </a:rPr>
              <a:t>IBM.</a:t>
            </a:r>
          </a:p>
          <a:p>
            <a:r>
              <a:rPr lang="en-US" sz="1200" kern="1200" baseline="0" dirty="0" smtClean="0">
                <a:solidFill>
                  <a:schemeClr val="tx1"/>
                </a:solidFill>
                <a:latin typeface="+mn-lt"/>
                <a:ea typeface="+mn-ea"/>
                <a:cs typeface="+mn-cs"/>
              </a:rPr>
              <a:t>Rational Unified Process (RUP) [51, 63] is another iterative process model</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that was designed by Rational, now part of IBM.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Хотя это общая модель процесса, но она была разработана для ОО разработки с использованием </a:t>
            </a:r>
            <a:r>
              <a:rPr lang="en-US" sz="1200" kern="1200" baseline="0" dirty="0" smtClean="0">
                <a:solidFill>
                  <a:schemeClr val="tx1"/>
                </a:solidFill>
                <a:latin typeface="+mn-lt"/>
                <a:ea typeface="+mn-ea"/>
                <a:cs typeface="+mn-cs"/>
              </a:rPr>
              <a:t>UML.</a:t>
            </a:r>
          </a:p>
          <a:p>
            <a:r>
              <a:rPr lang="en-US" sz="1200" kern="1200" baseline="0" dirty="0" smtClean="0">
                <a:solidFill>
                  <a:schemeClr val="tx1"/>
                </a:solidFill>
                <a:latin typeface="+mn-lt"/>
                <a:ea typeface="+mn-ea"/>
                <a:cs typeface="+mn-cs"/>
              </a:rPr>
              <a:t>Though it is a general process</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model, it was designed for object-oriented development using the Unified</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Modeling Language (UML). </a:t>
            </a:r>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(We will discuss these topics in a later chapter).</a:t>
            </a:r>
            <a:r>
              <a:rPr lang="ru-RU" sz="1200" kern="1200" baseline="0" dirty="0" smtClean="0">
                <a:solidFill>
                  <a:schemeClr val="tx1"/>
                </a:solidFill>
                <a:latin typeface="+mn-lt"/>
                <a:ea typeface="+mn-ea"/>
                <a:cs typeface="+mn-cs"/>
              </a:rPr>
              <a:t> </a:t>
            </a:r>
          </a:p>
          <a:p>
            <a:endParaRPr lang="ru-RU"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RUP </a:t>
            </a:r>
            <a:r>
              <a:rPr lang="ru-RU" sz="1200" kern="1200" baseline="0" dirty="0" smtClean="0">
                <a:solidFill>
                  <a:schemeClr val="tx1"/>
                </a:solidFill>
                <a:latin typeface="+mn-lt"/>
                <a:ea typeface="+mn-ea"/>
                <a:cs typeface="+mn-cs"/>
              </a:rPr>
              <a:t>предлагает разделить разработку ПО на циклы и в результате выполнения каждого цикла предоставлять полностью работающую систему. </a:t>
            </a:r>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RUP proposes that development of software be divided into cycles, each</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cycle delivering a fully working system.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Обычно, каждый цикл выполняется в виде отдельного проекта, целью которого является предоставление дополнительных возможностей существующей системе (разработанной в предыдущем цикле).</a:t>
            </a:r>
          </a:p>
          <a:p>
            <a:r>
              <a:rPr lang="en-US" sz="1200" kern="1200" baseline="0" dirty="0" smtClean="0">
                <a:solidFill>
                  <a:schemeClr val="tx1"/>
                </a:solidFill>
                <a:latin typeface="+mn-lt"/>
                <a:ea typeface="+mn-ea"/>
                <a:cs typeface="+mn-cs"/>
              </a:rPr>
              <a:t>Generally, each cycle is executed as a</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separate project whose goal is to deliver some additional capability to an existing</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system (built by the previous cycle).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a:t>
            </a:r>
          </a:p>
          <a:p>
            <a:pPr>
              <a:buFont typeface="Arial" pitchFamily="34" charset="0"/>
              <a:buChar char="•"/>
            </a:pPr>
            <a:r>
              <a:rPr lang="ru-RU" sz="1200" kern="1200" baseline="0" dirty="0" smtClean="0">
                <a:solidFill>
                  <a:schemeClr val="tx1"/>
                </a:solidFill>
                <a:latin typeface="+mn-lt"/>
                <a:ea typeface="+mn-ea"/>
                <a:cs typeface="+mn-cs"/>
              </a:rPr>
              <a:t>весь период разработки делится на циклы</a:t>
            </a:r>
            <a:r>
              <a:rPr lang="en-US" sz="1200" kern="1200" baseline="0" dirty="0" smtClean="0">
                <a:solidFill>
                  <a:schemeClr val="tx1"/>
                </a:solidFill>
                <a:latin typeface="+mn-lt"/>
                <a:ea typeface="+mn-ea"/>
                <a:cs typeface="+mn-cs"/>
              </a:rPr>
              <a:t>;</a:t>
            </a:r>
          </a:p>
          <a:p>
            <a:pPr>
              <a:buFont typeface="Arial" pitchFamily="34" charset="0"/>
              <a:buChar char="•"/>
            </a:pPr>
            <a:r>
              <a:rPr lang="ru-RU" sz="1200" kern="1200" baseline="0" dirty="0" smtClean="0">
                <a:solidFill>
                  <a:schemeClr val="tx1"/>
                </a:solidFill>
                <a:latin typeface="+mn-lt"/>
                <a:ea typeface="+mn-ea"/>
                <a:cs typeface="+mn-cs"/>
              </a:rPr>
              <a:t>циклы делятся на фазы</a:t>
            </a:r>
            <a:r>
              <a:rPr lang="en-US" sz="1200" kern="1200" baseline="0" dirty="0" smtClean="0">
                <a:solidFill>
                  <a:schemeClr val="tx1"/>
                </a:solidFill>
                <a:latin typeface="+mn-lt"/>
                <a:ea typeface="+mn-ea"/>
                <a:cs typeface="+mn-cs"/>
              </a:rPr>
              <a:t>;</a:t>
            </a:r>
          </a:p>
          <a:p>
            <a:pPr>
              <a:buFont typeface="Arial" pitchFamily="34" charset="0"/>
              <a:buChar char="•"/>
            </a:pPr>
            <a:r>
              <a:rPr lang="ru-RU" sz="1200" kern="1200" baseline="0" dirty="0" smtClean="0">
                <a:solidFill>
                  <a:schemeClr val="tx1"/>
                </a:solidFill>
                <a:latin typeface="+mn-lt"/>
                <a:ea typeface="+mn-ea"/>
                <a:cs typeface="+mn-cs"/>
              </a:rPr>
              <a:t>в фазах могут выполняться итерации</a:t>
            </a:r>
          </a:p>
          <a:p>
            <a:r>
              <a:rPr lang="ru-RU" sz="1200" kern="1200" baseline="0" dirty="0" smtClean="0">
                <a:solidFill>
                  <a:schemeClr val="tx1"/>
                </a:solidFill>
                <a:latin typeface="+mn-lt"/>
                <a:ea typeface="+mn-ea"/>
                <a:cs typeface="+mn-cs"/>
              </a:rPr>
              <a:t>)</a:t>
            </a:r>
          </a:p>
          <a:p>
            <a:endParaRPr lang="ru-RU" sz="1200" kern="1200" baseline="0" dirty="0" smtClean="0">
              <a:solidFill>
                <a:schemeClr val="tx1"/>
              </a:solidFill>
              <a:latin typeface="+mn-lt"/>
              <a:ea typeface="+mn-ea"/>
              <a:cs typeface="+mn-cs"/>
            </a:endParaRPr>
          </a:p>
          <a:p>
            <a:r>
              <a:rPr lang="ru-RU" sz="1200" kern="1200" baseline="0" dirty="0" smtClean="0">
                <a:solidFill>
                  <a:schemeClr val="tx1"/>
                </a:solidFill>
                <a:latin typeface="+mn-lt"/>
                <a:ea typeface="+mn-ea"/>
                <a:cs typeface="+mn-cs"/>
              </a:rPr>
              <a:t>Т.о., для проекта, процесс выполнения одного цикла формирует общий процесс проекта.</a:t>
            </a:r>
          </a:p>
          <a:p>
            <a:r>
              <a:rPr lang="en-US" sz="1200" kern="1200" baseline="0" dirty="0" smtClean="0">
                <a:solidFill>
                  <a:schemeClr val="tx1"/>
                </a:solidFill>
                <a:latin typeface="+mn-lt"/>
                <a:ea typeface="+mn-ea"/>
                <a:cs typeface="+mn-cs"/>
              </a:rPr>
              <a:t>Hence, for a project, the process for a</a:t>
            </a:r>
            <a:r>
              <a:rPr lang="ru-RU" sz="1200"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cycle forms the overall process. </a:t>
            </a:r>
            <a:endParaRPr lang="ru-RU" sz="1200" kern="1200" baseline="0" dirty="0" smtClean="0">
              <a:solidFill>
                <a:schemeClr val="tx1"/>
              </a:solidFill>
              <a:latin typeface="+mn-lt"/>
              <a:ea typeface="+mn-ea"/>
              <a:cs typeface="+mn-cs"/>
            </a:endParaRPr>
          </a:p>
          <a:p>
            <a:endParaRPr lang="ru-RU" sz="1200" kern="1200" baseline="0" dirty="0" smtClean="0">
              <a:solidFill>
                <a:schemeClr val="tx1"/>
              </a:solidFill>
              <a:latin typeface="+mn-lt"/>
              <a:ea typeface="+mn-ea"/>
              <a:cs typeface="+mn-cs"/>
            </a:endParaRPr>
          </a:p>
        </p:txBody>
      </p:sp>
      <p:sp>
        <p:nvSpPr>
          <p:cNvPr id="4" name="Номер слайда 3"/>
          <p:cNvSpPr>
            <a:spLocks noGrp="1"/>
          </p:cNvSpPr>
          <p:nvPr>
            <p:ph type="sldNum" sz="quarter" idx="10"/>
          </p:nvPr>
        </p:nvSpPr>
        <p:spPr/>
        <p:txBody>
          <a:bodyPr/>
          <a:lstStyle/>
          <a:p>
            <a:fld id="{24EA7333-40CC-4488-984A-3D4A33D1DCF2}" type="slidenum">
              <a:rPr lang="ru-RU" smtClean="0"/>
              <a:pPr/>
              <a:t>63</a:t>
            </a:fld>
            <a:endParaRPr lang="ru-RU"/>
          </a:p>
        </p:txBody>
      </p:sp>
    </p:spTree>
    <p:extLst>
      <p:ext uri="{BB962C8B-B14F-4D97-AF65-F5344CB8AC3E}">
        <p14:creationId xmlns:p14="http://schemas.microsoft.com/office/powerpoint/2010/main" val="35329644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r>
              <a:rPr lang="ru-RU" sz="1200" b="0" kern="1200" baseline="0" dirty="0" smtClean="0">
                <a:solidFill>
                  <a:schemeClr val="tx1"/>
                </a:solidFill>
                <a:latin typeface="+mn-lt"/>
                <a:ea typeface="+mn-ea"/>
                <a:cs typeface="+mn-cs"/>
              </a:rPr>
              <a:t>Процесс,</a:t>
            </a:r>
            <a:r>
              <a:rPr lang="en-US" sz="1200" b="0" kern="1200" baseline="0" dirty="0" smtClean="0">
                <a:solidFill>
                  <a:schemeClr val="tx1"/>
                </a:solidFill>
                <a:latin typeface="+mn-lt"/>
                <a:ea typeface="+mn-ea"/>
                <a:cs typeface="+mn-cs"/>
              </a:rPr>
              <a:t> </a:t>
            </a:r>
            <a:r>
              <a:rPr lang="ru-RU" sz="1200" b="0" kern="1200" baseline="0" dirty="0" smtClean="0">
                <a:solidFill>
                  <a:schemeClr val="tx1"/>
                </a:solidFill>
                <a:latin typeface="+mn-lt"/>
                <a:ea typeface="+mn-ea"/>
                <a:cs typeface="+mn-cs"/>
              </a:rPr>
              <a:t>направляемый</a:t>
            </a:r>
            <a:r>
              <a:rPr lang="en-US" sz="1200" b="0" kern="1200" baseline="0" dirty="0" smtClean="0">
                <a:solidFill>
                  <a:schemeClr val="tx1"/>
                </a:solidFill>
                <a:latin typeface="+mn-lt"/>
                <a:ea typeface="+mn-ea"/>
                <a:cs typeface="+mn-cs"/>
              </a:rPr>
              <a:t> </a:t>
            </a:r>
            <a:r>
              <a:rPr lang="ru-RU" sz="1200" b="0" kern="1200" baseline="0" dirty="0" smtClean="0">
                <a:solidFill>
                  <a:schemeClr val="tx1"/>
                </a:solidFill>
                <a:latin typeface="+mn-lt"/>
                <a:ea typeface="+mn-ea"/>
                <a:cs typeface="+mn-cs"/>
              </a:rPr>
              <a:t>вариантами</a:t>
            </a:r>
            <a:r>
              <a:rPr lang="en-US" sz="1200" b="0" kern="1200" baseline="0" dirty="0" smtClean="0">
                <a:solidFill>
                  <a:schemeClr val="tx1"/>
                </a:solidFill>
                <a:latin typeface="+mn-lt"/>
                <a:ea typeface="+mn-ea"/>
                <a:cs typeface="+mn-cs"/>
              </a:rPr>
              <a:t> </a:t>
            </a:r>
            <a:r>
              <a:rPr lang="ru-RU" sz="1200" b="0" kern="1200" baseline="0" dirty="0" smtClean="0">
                <a:solidFill>
                  <a:schemeClr val="tx1"/>
                </a:solidFill>
                <a:latin typeface="+mn-lt"/>
                <a:ea typeface="+mn-ea"/>
                <a:cs typeface="+mn-cs"/>
              </a:rPr>
              <a:t>использования</a:t>
            </a:r>
            <a:endParaRPr lang="en-US" sz="1200" b="0" kern="1200" baseline="0" dirty="0" smtClean="0">
              <a:solidFill>
                <a:schemeClr val="tx1"/>
              </a:solidFill>
              <a:latin typeface="+mn-lt"/>
              <a:ea typeface="+mn-ea"/>
              <a:cs typeface="+mn-cs"/>
            </a:endParaRPr>
          </a:p>
          <a:p>
            <a:r>
              <a:rPr lang="ru-RU" sz="1200" b="0" kern="1200" baseline="0" dirty="0" err="1" smtClean="0">
                <a:solidFill>
                  <a:schemeClr val="tx1"/>
                </a:solidFill>
                <a:latin typeface="+mn-lt"/>
                <a:ea typeface="+mn-ea"/>
                <a:cs typeface="+mn-cs"/>
              </a:rPr>
              <a:t>Архитектуро-центрированный</a:t>
            </a:r>
            <a:r>
              <a:rPr lang="ru-RU" sz="1200" b="0" kern="1200" baseline="0" dirty="0" smtClean="0">
                <a:solidFill>
                  <a:schemeClr val="tx1"/>
                </a:solidFill>
                <a:latin typeface="+mn-lt"/>
                <a:ea typeface="+mn-ea"/>
                <a:cs typeface="+mn-cs"/>
              </a:rPr>
              <a:t> процесс</a:t>
            </a:r>
            <a:endParaRPr lang="en-US" sz="1200" b="0"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Итеративный и инкрементный процесс</a:t>
            </a:r>
            <a:endParaRPr lang="ru-RU" b="0"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64</a:t>
            </a:fld>
            <a:endParaRPr lang="ru-RU"/>
          </a:p>
        </p:txBody>
      </p:sp>
    </p:spTree>
    <p:extLst>
      <p:ext uri="{BB962C8B-B14F-4D97-AF65-F5344CB8AC3E}">
        <p14:creationId xmlns:p14="http://schemas.microsoft.com/office/powerpoint/2010/main" val="9289774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fontScale="77500" lnSpcReduction="20000"/>
          </a:bodyPr>
          <a:lstStyle/>
          <a:p>
            <a:r>
              <a:rPr lang="ru-RU" sz="1200" kern="1200" baseline="0" dirty="0" smtClean="0">
                <a:solidFill>
                  <a:schemeClr val="tx1"/>
                </a:solidFill>
                <a:latin typeface="+mn-lt"/>
                <a:ea typeface="+mn-ea"/>
                <a:cs typeface="+mn-cs"/>
              </a:rPr>
              <a:t>Процесс производства программного обеспечения (SEP) превращает требования пользователя в ПО, определяя </a:t>
            </a:r>
            <a:r>
              <a:rPr lang="ru-RU" sz="1200" i="1" kern="1200" baseline="0" dirty="0" smtClean="0">
                <a:solidFill>
                  <a:schemeClr val="tx1"/>
                </a:solidFill>
                <a:latin typeface="+mn-lt"/>
                <a:ea typeface="+mn-ea"/>
                <a:cs typeface="+mn-cs"/>
              </a:rPr>
              <a:t>кто что делает и когда.</a:t>
            </a:r>
          </a:p>
          <a:p>
            <a:endParaRPr lang="ru-RU" sz="1200" i="1"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 Унифицированный процесс (UP) разрабатывается с 1967 года. </a:t>
            </a:r>
          </a:p>
          <a:p>
            <a:r>
              <a:rPr lang="ru-RU" sz="1200" b="0" kern="1200" baseline="0" dirty="0" smtClean="0">
                <a:solidFill>
                  <a:schemeClr val="tx1"/>
                </a:solidFill>
                <a:latin typeface="+mn-lt"/>
                <a:ea typeface="+mn-ea"/>
                <a:cs typeface="+mn-cs"/>
              </a:rPr>
              <a:t>Это сложившийся открытый SEP от авторов UML.</a:t>
            </a:r>
          </a:p>
          <a:p>
            <a:endParaRPr lang="ru-RU" sz="1200" b="0"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 Унифицированный процесс компании </a:t>
            </a:r>
            <a:r>
              <a:rPr lang="ru-RU" sz="1200" b="0" kern="1200" baseline="0" dirty="0" err="1" smtClean="0">
                <a:solidFill>
                  <a:schemeClr val="tx1"/>
                </a:solidFill>
                <a:latin typeface="+mn-lt"/>
                <a:ea typeface="+mn-ea"/>
                <a:cs typeface="+mn-cs"/>
              </a:rPr>
              <a:t>Rational</a:t>
            </a:r>
            <a:r>
              <a:rPr lang="ru-RU" sz="1200" b="0" kern="1200" baseline="0" dirty="0" smtClean="0">
                <a:solidFill>
                  <a:schemeClr val="tx1"/>
                </a:solidFill>
                <a:latin typeface="+mn-lt"/>
                <a:ea typeface="+mn-ea"/>
                <a:cs typeface="+mn-cs"/>
              </a:rPr>
              <a:t> (RUP) – это коммерческое расширение UP. </a:t>
            </a:r>
          </a:p>
          <a:p>
            <a:r>
              <a:rPr lang="ru-RU" sz="1200" b="0" kern="1200" baseline="0" dirty="0" smtClean="0">
                <a:solidFill>
                  <a:schemeClr val="tx1"/>
                </a:solidFill>
                <a:latin typeface="+mn-lt"/>
                <a:ea typeface="+mn-ea"/>
                <a:cs typeface="+mn-cs"/>
              </a:rPr>
              <a:t>Он полностью совместим с UP, но более полный и детализированный.</a:t>
            </a:r>
          </a:p>
          <a:p>
            <a:endParaRPr lang="ru-RU" sz="1200" b="0"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 UP (и RUP) должны настраиваться под каждый конкретный проект путем добавления внутренних стандартов и др.</a:t>
            </a:r>
          </a:p>
          <a:p>
            <a:r>
              <a:rPr lang="ru-RU" sz="1200" b="0" kern="1200" baseline="0" dirty="0" smtClean="0">
                <a:solidFill>
                  <a:schemeClr val="tx1"/>
                </a:solidFill>
                <a:latin typeface="+mn-lt"/>
                <a:ea typeface="+mn-ea"/>
                <a:cs typeface="+mn-cs"/>
              </a:rPr>
              <a:t>• UP – это современный SEP, который является:</a:t>
            </a:r>
          </a:p>
          <a:p>
            <a:r>
              <a:rPr lang="ru-RU" sz="1200" b="0" kern="1200" baseline="0" dirty="0" smtClean="0">
                <a:solidFill>
                  <a:schemeClr val="tx1"/>
                </a:solidFill>
                <a:latin typeface="+mn-lt"/>
                <a:ea typeface="+mn-ea"/>
                <a:cs typeface="+mn-cs"/>
              </a:rPr>
              <a:t>  - управляемым рисками и прецедентами (требованиями);</a:t>
            </a:r>
          </a:p>
          <a:p>
            <a:r>
              <a:rPr lang="ru-RU" sz="1200" b="0" kern="1200" baseline="0" dirty="0" smtClean="0">
                <a:solidFill>
                  <a:schemeClr val="tx1"/>
                </a:solidFill>
                <a:latin typeface="+mn-lt"/>
                <a:ea typeface="+mn-ea"/>
                <a:cs typeface="+mn-cs"/>
              </a:rPr>
              <a:t>  - </a:t>
            </a:r>
            <a:r>
              <a:rPr lang="ru-RU" sz="1200" b="0" kern="1200" baseline="0" dirty="0" err="1" smtClean="0">
                <a:solidFill>
                  <a:schemeClr val="tx1"/>
                </a:solidFill>
                <a:latin typeface="+mn-lt"/>
                <a:ea typeface="+mn-ea"/>
                <a:cs typeface="+mn-cs"/>
              </a:rPr>
              <a:t>архитектуро-центричным</a:t>
            </a:r>
            <a:r>
              <a:rPr lang="ru-RU" sz="1200" b="0" kern="1200" baseline="0" dirty="0" smtClean="0">
                <a:solidFill>
                  <a:schemeClr val="tx1"/>
                </a:solidFill>
                <a:latin typeface="+mn-lt"/>
                <a:ea typeface="+mn-ea"/>
                <a:cs typeface="+mn-cs"/>
              </a:rPr>
              <a:t>;</a:t>
            </a:r>
          </a:p>
          <a:p>
            <a:r>
              <a:rPr lang="ru-RU" sz="1200" b="0" kern="1200" baseline="0" dirty="0" smtClean="0">
                <a:solidFill>
                  <a:schemeClr val="tx1"/>
                </a:solidFill>
                <a:latin typeface="+mn-lt"/>
                <a:ea typeface="+mn-ea"/>
                <a:cs typeface="+mn-cs"/>
              </a:rPr>
              <a:t>  - итеративным и инкрементным.</a:t>
            </a:r>
          </a:p>
          <a:p>
            <a:endParaRPr lang="ru-RU" sz="1200" b="0"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 В UP программное обеспечение создается через итерации:</a:t>
            </a:r>
          </a:p>
          <a:p>
            <a:r>
              <a:rPr lang="ru-RU" sz="1200" b="0" kern="1200" baseline="0" dirty="0" smtClean="0">
                <a:solidFill>
                  <a:schemeClr val="tx1"/>
                </a:solidFill>
                <a:latin typeface="+mn-lt"/>
                <a:ea typeface="+mn-ea"/>
                <a:cs typeface="+mn-cs"/>
              </a:rPr>
              <a:t>   - каждая итерация подобна </a:t>
            </a:r>
            <a:r>
              <a:rPr lang="ru-RU" sz="1200" b="0" kern="1200" baseline="0" dirty="0" err="1" smtClean="0">
                <a:solidFill>
                  <a:schemeClr val="tx1"/>
                </a:solidFill>
                <a:latin typeface="+mn-lt"/>
                <a:ea typeface="+mn-ea"/>
                <a:cs typeface="+mn-cs"/>
              </a:rPr>
              <a:t>минипроекту</a:t>
            </a:r>
            <a:r>
              <a:rPr lang="ru-RU" sz="1200" b="0" kern="1200" baseline="0" dirty="0" smtClean="0">
                <a:solidFill>
                  <a:schemeClr val="tx1"/>
                </a:solidFill>
                <a:latin typeface="+mn-lt"/>
                <a:ea typeface="+mn-ea"/>
                <a:cs typeface="+mn-cs"/>
              </a:rPr>
              <a:t>, создающему часть системы;</a:t>
            </a:r>
          </a:p>
          <a:p>
            <a:r>
              <a:rPr lang="ru-RU" sz="1200" b="0" kern="1200" baseline="0" dirty="0" smtClean="0">
                <a:solidFill>
                  <a:schemeClr val="tx1"/>
                </a:solidFill>
                <a:latin typeface="+mn-lt"/>
                <a:ea typeface="+mn-ea"/>
                <a:cs typeface="+mn-cs"/>
              </a:rPr>
              <a:t>   - для создания окончательной системы итерации надстраиваются друг над другом.</a:t>
            </a:r>
          </a:p>
          <a:p>
            <a:r>
              <a:rPr lang="ru-RU" sz="1200" b="0" kern="1200" baseline="0" dirty="0" smtClean="0">
                <a:solidFill>
                  <a:schemeClr val="tx1"/>
                </a:solidFill>
                <a:latin typeface="+mn-lt"/>
                <a:ea typeface="+mn-ea"/>
                <a:cs typeface="+mn-cs"/>
              </a:rPr>
              <a:t>• В каждой итерации пять основных рабочих потоков:</a:t>
            </a:r>
          </a:p>
          <a:p>
            <a:r>
              <a:rPr lang="ru-RU" sz="1200" b="0" kern="1200" baseline="0" dirty="0" smtClean="0">
                <a:solidFill>
                  <a:schemeClr val="tx1"/>
                </a:solidFill>
                <a:latin typeface="+mn-lt"/>
                <a:ea typeface="+mn-ea"/>
                <a:cs typeface="+mn-cs"/>
              </a:rPr>
              <a:t>   - определение требований – выяснение того, что должна делать система;</a:t>
            </a:r>
          </a:p>
          <a:p>
            <a:r>
              <a:rPr lang="ru-RU" sz="1200" b="0" kern="1200" baseline="0" dirty="0" smtClean="0">
                <a:solidFill>
                  <a:schemeClr val="tx1"/>
                </a:solidFill>
                <a:latin typeface="+mn-lt"/>
                <a:ea typeface="+mn-ea"/>
                <a:cs typeface="+mn-cs"/>
              </a:rPr>
              <a:t>   - </a:t>
            </a:r>
            <a:r>
              <a:rPr lang="ru-RU" sz="1200" b="1" i="1" kern="1200" baseline="0" dirty="0" smtClean="0">
                <a:solidFill>
                  <a:schemeClr val="tx1"/>
                </a:solidFill>
                <a:latin typeface="+mn-lt"/>
                <a:ea typeface="+mn-ea"/>
                <a:cs typeface="+mn-cs"/>
              </a:rPr>
              <a:t>анализ – конкретизация и структурирование требований;</a:t>
            </a:r>
          </a:p>
          <a:p>
            <a:r>
              <a:rPr lang="ru-RU" sz="1200" b="0" kern="1200" baseline="0" dirty="0" smtClean="0">
                <a:solidFill>
                  <a:schemeClr val="tx1"/>
                </a:solidFill>
                <a:latin typeface="+mn-lt"/>
                <a:ea typeface="+mn-ea"/>
                <a:cs typeface="+mn-cs"/>
              </a:rPr>
              <a:t>   - проектирование – реализация требований в архитектуре системы (как система это делает);</a:t>
            </a:r>
          </a:p>
          <a:p>
            <a:r>
              <a:rPr lang="ru-RU" sz="1200" b="0" kern="1200" baseline="0" dirty="0" smtClean="0">
                <a:solidFill>
                  <a:schemeClr val="tx1"/>
                </a:solidFill>
                <a:latin typeface="+mn-lt"/>
                <a:ea typeface="+mn-ea"/>
                <a:cs typeface="+mn-cs"/>
              </a:rPr>
              <a:t>   - реализация – построение программного обеспечения;</a:t>
            </a:r>
          </a:p>
          <a:p>
            <a:r>
              <a:rPr lang="ru-RU" sz="1200" b="0" kern="1200" baseline="0" dirty="0" smtClean="0">
                <a:solidFill>
                  <a:schemeClr val="tx1"/>
                </a:solidFill>
                <a:latin typeface="+mn-lt"/>
                <a:ea typeface="+mn-ea"/>
                <a:cs typeface="+mn-cs"/>
              </a:rPr>
              <a:t>   - тестирование – проверяется, работает ли должным образом реализация.</a:t>
            </a:r>
          </a:p>
          <a:p>
            <a:endParaRPr lang="ru-RU" sz="1200" b="0" kern="1200" baseline="0" dirty="0" smtClean="0">
              <a:solidFill>
                <a:schemeClr val="tx1"/>
              </a:solidFill>
              <a:latin typeface="+mn-lt"/>
              <a:ea typeface="+mn-ea"/>
              <a:cs typeface="+mn-cs"/>
            </a:endParaRPr>
          </a:p>
          <a:p>
            <a:r>
              <a:rPr lang="ru-RU" sz="1200" b="0" kern="1200" baseline="0" dirty="0" smtClean="0">
                <a:solidFill>
                  <a:schemeClr val="tx1"/>
                </a:solidFill>
                <a:latin typeface="+mn-lt"/>
                <a:ea typeface="+mn-ea"/>
                <a:cs typeface="+mn-cs"/>
              </a:rPr>
              <a:t>• В UP четыре фазы, каждая из которых заканчивается важной контрольной точкой:</a:t>
            </a:r>
          </a:p>
          <a:p>
            <a:pPr marL="228600" indent="-228600">
              <a:buFont typeface="+mj-lt"/>
              <a:buAutoNum type="arabicPeriod"/>
            </a:pPr>
            <a:r>
              <a:rPr lang="ru-RU" sz="1200" b="0" kern="1200" baseline="0" dirty="0" smtClean="0">
                <a:solidFill>
                  <a:schemeClr val="tx1"/>
                </a:solidFill>
                <a:latin typeface="+mn-lt"/>
                <a:ea typeface="+mn-ea"/>
                <a:cs typeface="+mn-cs"/>
              </a:rPr>
              <a:t>Начало – проект сдвигается с «мертвой точки»: Цели жизненного цикла;</a:t>
            </a:r>
          </a:p>
          <a:p>
            <a:pPr marL="228600" indent="-228600">
              <a:buFont typeface="+mj-lt"/>
              <a:buAutoNum type="arabicPeriod"/>
            </a:pPr>
            <a:r>
              <a:rPr lang="ru-RU" sz="1200" b="0" kern="1200" baseline="0" dirty="0" smtClean="0">
                <a:solidFill>
                  <a:schemeClr val="tx1"/>
                </a:solidFill>
                <a:latin typeface="+mn-lt"/>
                <a:ea typeface="+mn-ea"/>
                <a:cs typeface="+mn-cs"/>
              </a:rPr>
              <a:t>Уточнение – развитие архитектуры системы: Архитектура жизненного цикла;</a:t>
            </a:r>
          </a:p>
          <a:p>
            <a:pPr marL="228600" indent="-228600">
              <a:buFont typeface="+mj-lt"/>
              <a:buAutoNum type="arabicPeriod"/>
            </a:pPr>
            <a:r>
              <a:rPr lang="ru-RU" sz="1200" b="0" kern="1200" baseline="0" dirty="0" smtClean="0">
                <a:solidFill>
                  <a:schemeClr val="tx1"/>
                </a:solidFill>
                <a:latin typeface="+mn-lt"/>
                <a:ea typeface="+mn-ea"/>
                <a:cs typeface="+mn-cs"/>
              </a:rPr>
              <a:t>Построение – </a:t>
            </a:r>
            <a:r>
              <a:rPr lang="ru-RU" sz="1200" b="0" kern="1200" baseline="0" dirty="0" err="1" smtClean="0">
                <a:solidFill>
                  <a:schemeClr val="tx1"/>
                </a:solidFill>
                <a:latin typeface="+mn-lt"/>
                <a:ea typeface="+mn-ea"/>
                <a:cs typeface="+mn-cs"/>
              </a:rPr>
              <a:t>построение</a:t>
            </a:r>
            <a:r>
              <a:rPr lang="ru-RU" sz="1200" b="0" kern="1200" baseline="0" dirty="0" smtClean="0">
                <a:solidFill>
                  <a:schemeClr val="tx1"/>
                </a:solidFill>
                <a:latin typeface="+mn-lt"/>
                <a:ea typeface="+mn-ea"/>
                <a:cs typeface="+mn-cs"/>
              </a:rPr>
              <a:t> программного обеспечения: Базовая функциональность;</a:t>
            </a:r>
          </a:p>
          <a:p>
            <a:pPr marL="228600" indent="-228600">
              <a:buFont typeface="+mj-lt"/>
              <a:buAutoNum type="arabicPeriod"/>
            </a:pPr>
            <a:r>
              <a:rPr lang="ru-RU" sz="1200" b="0" kern="1200" baseline="0" dirty="0" smtClean="0">
                <a:solidFill>
                  <a:schemeClr val="tx1"/>
                </a:solidFill>
                <a:latin typeface="+mn-lt"/>
                <a:ea typeface="+mn-ea"/>
                <a:cs typeface="+mn-cs"/>
              </a:rPr>
              <a:t>Внедрение – развертывание программного обеспечения в пользовательской среде: Выпуск продукта.</a:t>
            </a:r>
            <a:endParaRPr lang="ru-RU" b="0" dirty="0"/>
          </a:p>
        </p:txBody>
      </p:sp>
      <p:sp>
        <p:nvSpPr>
          <p:cNvPr id="4" name="Номер слайда 3"/>
          <p:cNvSpPr>
            <a:spLocks noGrp="1"/>
          </p:cNvSpPr>
          <p:nvPr>
            <p:ph type="sldNum" sz="quarter" idx="10"/>
          </p:nvPr>
        </p:nvSpPr>
        <p:spPr/>
        <p:txBody>
          <a:bodyPr/>
          <a:lstStyle/>
          <a:p>
            <a:fld id="{0A23FAD2-BB43-4743-ADCC-660877EE51E5}" type="slidenum">
              <a:rPr lang="ru-RU" smtClean="0"/>
              <a:pPr/>
              <a:t>65</a:t>
            </a:fld>
            <a:endParaRPr lang="ru-RU"/>
          </a:p>
        </p:txBody>
      </p:sp>
    </p:spTree>
    <p:extLst>
      <p:ext uri="{BB962C8B-B14F-4D97-AF65-F5344CB8AC3E}">
        <p14:creationId xmlns:p14="http://schemas.microsoft.com/office/powerpoint/2010/main" val="14883686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Если ты направился к цели и станешь дорогою останавливаться, чтобы швырять камни во всякую лающую на тебя собаку, то никогда не дойдешь до цели.</a:t>
            </a:r>
          </a:p>
          <a:p>
            <a:endParaRPr lang="ru-RU" dirty="0"/>
          </a:p>
        </p:txBody>
      </p:sp>
      <p:sp>
        <p:nvSpPr>
          <p:cNvPr id="4" name="Номер слайда 3"/>
          <p:cNvSpPr>
            <a:spLocks noGrp="1"/>
          </p:cNvSpPr>
          <p:nvPr>
            <p:ph type="sldNum" sz="quarter" idx="10"/>
          </p:nvPr>
        </p:nvSpPr>
        <p:spPr/>
        <p:txBody>
          <a:bodyPr/>
          <a:lstStyle/>
          <a:p>
            <a:fld id="{7330E90C-874E-41A0-A340-7342A18E153B}" type="slidenum">
              <a:rPr lang="ru-RU" smtClean="0"/>
              <a:t>66</a:t>
            </a:fld>
            <a:endParaRPr lang="ru-RU"/>
          </a:p>
        </p:txBody>
      </p:sp>
    </p:spTree>
    <p:extLst>
      <p:ext uri="{BB962C8B-B14F-4D97-AF65-F5344CB8AC3E}">
        <p14:creationId xmlns:p14="http://schemas.microsoft.com/office/powerpoint/2010/main" val="1807624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D0B6A2-87B7-4169-9AD0-6F5D6795539F}" type="datetimeFigureOut">
              <a:rPr lang="en-US" smtClean="0"/>
              <a:t>2/28/2017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681025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0B6A2-87B7-4169-9AD0-6F5D6795539F}" type="datetimeFigureOut">
              <a:rPr lang="en-US" smtClean="0"/>
              <a:t>2/28/2017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223306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D0B6A2-87B7-4169-9AD0-6F5D6795539F}" type="datetimeFigureOut">
              <a:rPr lang="en-US" smtClean="0"/>
              <a:t>2/28/2017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373083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D0B6A2-87B7-4169-9AD0-6F5D6795539F}" type="datetimeFigureOut">
              <a:rPr lang="en-US" smtClean="0"/>
              <a:t>2/28/2017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3584422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D0B6A2-87B7-4169-9AD0-6F5D6795539F}" type="datetimeFigureOut">
              <a:rPr lang="en-US" smtClean="0"/>
              <a:t>2/28/2017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254758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D0B6A2-87B7-4169-9AD0-6F5D6795539F}" type="datetimeFigureOut">
              <a:rPr lang="en-US" smtClean="0"/>
              <a:t>2/28/2017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4090404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D0B6A2-87B7-4169-9AD0-6F5D6795539F}" type="datetimeFigureOut">
              <a:rPr lang="en-US" smtClean="0"/>
              <a:t>2/28/2017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3517409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D0B6A2-87B7-4169-9AD0-6F5D6795539F}" type="datetimeFigureOut">
              <a:rPr lang="en-US" smtClean="0"/>
              <a:t>2/28/2017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212798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D0B6A2-87B7-4169-9AD0-6F5D6795539F}" type="datetimeFigureOut">
              <a:rPr lang="en-US" smtClean="0"/>
              <a:t>2/28/2017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1353210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0B6A2-87B7-4169-9AD0-6F5D6795539F}" type="datetimeFigureOut">
              <a:rPr lang="en-US" smtClean="0"/>
              <a:t>2/28/2017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2051712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D0B6A2-87B7-4169-9AD0-6F5D6795539F}" type="datetimeFigureOut">
              <a:rPr lang="en-US" smtClean="0"/>
              <a:t>2/28/2017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911FE-9CEC-47A9-BD87-00D41E7EAD33}" type="slidenum">
              <a:rPr lang="en-US" smtClean="0"/>
              <a:t>‹#›</a:t>
            </a:fld>
            <a:endParaRPr lang="en-US"/>
          </a:p>
        </p:txBody>
      </p:sp>
    </p:spTree>
    <p:extLst>
      <p:ext uri="{BB962C8B-B14F-4D97-AF65-F5344CB8AC3E}">
        <p14:creationId xmlns:p14="http://schemas.microsoft.com/office/powerpoint/2010/main" val="1117404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0938" y="214313"/>
            <a:ext cx="7793037" cy="1462087"/>
          </a:xfrm>
        </p:spPr>
        <p:txBody>
          <a:bodyPr/>
          <a:lstStyle/>
          <a:p>
            <a:r>
              <a:rPr lang="ru-RU" smtClean="0"/>
              <a:t>Образец заголовка</a:t>
            </a:r>
            <a:endParaRPr lang="ru-RU"/>
          </a:p>
        </p:txBody>
      </p:sp>
      <p:sp>
        <p:nvSpPr>
          <p:cNvPr id="3" name="Таблица 2"/>
          <p:cNvSpPr>
            <a:spLocks noGrp="1"/>
          </p:cNvSpPr>
          <p:nvPr>
            <p:ph type="tbl" idx="1"/>
          </p:nvPr>
        </p:nvSpPr>
        <p:spPr>
          <a:xfrm>
            <a:off x="1182688" y="2017713"/>
            <a:ext cx="7772400" cy="4114800"/>
          </a:xfrm>
        </p:spPr>
        <p:txBody>
          <a:bodyPr/>
          <a:lstStyle/>
          <a:p>
            <a:endParaRPr lang="ru-RU"/>
          </a:p>
        </p:txBody>
      </p:sp>
      <p:sp>
        <p:nvSpPr>
          <p:cNvPr id="4" name="Дата 3"/>
          <p:cNvSpPr>
            <a:spLocks noGrp="1"/>
          </p:cNvSpPr>
          <p:nvPr>
            <p:ph type="dt" sz="half" idx="10"/>
          </p:nvPr>
        </p:nvSpPr>
        <p:spPr>
          <a:xfrm>
            <a:off x="1162050" y="6243638"/>
            <a:ext cx="1905000" cy="457200"/>
          </a:xfrm>
        </p:spPr>
        <p:txBody>
          <a:bodyPr/>
          <a:lstStyle>
            <a:lvl1pPr>
              <a:defRPr/>
            </a:lvl1pPr>
          </a:lstStyle>
          <a:p>
            <a:endParaRPr lang="en-US"/>
          </a:p>
        </p:txBody>
      </p:sp>
      <p:sp>
        <p:nvSpPr>
          <p:cNvPr id="5" name="Нижний колонтитул 4"/>
          <p:cNvSpPr>
            <a:spLocks noGrp="1"/>
          </p:cNvSpPr>
          <p:nvPr>
            <p:ph type="ftr" sz="quarter" idx="11"/>
          </p:nvPr>
        </p:nvSpPr>
        <p:spPr>
          <a:xfrm>
            <a:off x="3657600" y="6243638"/>
            <a:ext cx="2895600" cy="457200"/>
          </a:xfrm>
        </p:spPr>
        <p:txBody>
          <a:bodyPr/>
          <a:lstStyle>
            <a:lvl1pPr>
              <a:defRPr/>
            </a:lvl1pPr>
          </a:lstStyle>
          <a:p>
            <a:r>
              <a:rPr lang="en-US"/>
              <a:t>Sofware Process</a:t>
            </a:r>
          </a:p>
        </p:txBody>
      </p:sp>
      <p:sp>
        <p:nvSpPr>
          <p:cNvPr id="6" name="Номер слайда 5"/>
          <p:cNvSpPr>
            <a:spLocks noGrp="1"/>
          </p:cNvSpPr>
          <p:nvPr>
            <p:ph type="sldNum" sz="quarter" idx="12"/>
          </p:nvPr>
        </p:nvSpPr>
        <p:spPr>
          <a:xfrm>
            <a:off x="7042150" y="6243638"/>
            <a:ext cx="1905000" cy="457200"/>
          </a:xfrm>
        </p:spPr>
        <p:txBody>
          <a:bodyPr/>
          <a:lstStyle>
            <a:lvl1pPr>
              <a:defRPr/>
            </a:lvl1pPr>
          </a:lstStyle>
          <a:p>
            <a:fld id="{D9EF144B-32E1-48A0-9DA3-AEB1C18A9BD8}" type="slidenum">
              <a:rPr lang="en-US"/>
              <a:pPr/>
              <a:t>‹#›</a:t>
            </a:fld>
            <a:endParaRPr lang="en-US"/>
          </a:p>
        </p:txBody>
      </p:sp>
    </p:spTree>
    <p:extLst>
      <p:ext uri="{BB962C8B-B14F-4D97-AF65-F5344CB8AC3E}">
        <p14:creationId xmlns:p14="http://schemas.microsoft.com/office/powerpoint/2010/main" val="411857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D0B6A2-87B7-4169-9AD0-6F5D6795539F}" type="datetimeFigureOut">
              <a:rPr lang="en-US" smtClean="0"/>
              <a:t>2/28/2017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9911FE-9CEC-47A9-BD87-00D41E7EAD33}" type="slidenum">
              <a:rPr lang="en-US" smtClean="0"/>
              <a:t>‹#›</a:t>
            </a:fld>
            <a:endParaRPr lang="en-US"/>
          </a:p>
        </p:txBody>
      </p:sp>
      <p:pic>
        <p:nvPicPr>
          <p:cNvPr id="9" name="Picture 8"/>
          <p:cNvPicPr>
            <a:picLocks noChangeAspect="1"/>
          </p:cNvPicPr>
          <p:nvPr userDrawn="1"/>
        </p:nvPicPr>
        <p:blipFill rotWithShape="1">
          <a:blip r:embed="rId14" cstate="print">
            <a:extLst>
              <a:ext uri="{28A0092B-C50C-407E-A947-70E740481C1C}">
                <a14:useLocalDpi xmlns:a14="http://schemas.microsoft.com/office/drawing/2010/main" val="0"/>
              </a:ext>
            </a:extLst>
          </a:blip>
          <a:srcRect b="25913"/>
          <a:stretch/>
        </p:blipFill>
        <p:spPr>
          <a:xfrm>
            <a:off x="0" y="1"/>
            <a:ext cx="2662283" cy="1298446"/>
          </a:xfrm>
          <a:prstGeom prst="rect">
            <a:avLst/>
          </a:prstGeom>
        </p:spPr>
      </p:pic>
      <p:sp>
        <p:nvSpPr>
          <p:cNvPr id="14" name="Rectangle 13"/>
          <p:cNvSpPr/>
          <p:nvPr userDrawn="1"/>
        </p:nvSpPr>
        <p:spPr>
          <a:xfrm>
            <a:off x="2590800" y="1252728"/>
            <a:ext cx="6553200" cy="45719"/>
          </a:xfrm>
          <a:prstGeom prst="rect">
            <a:avLst/>
          </a:prstGeom>
          <a:gradFill>
            <a:gsLst>
              <a:gs pos="0">
                <a:srgbClr val="C00000">
                  <a:alpha val="0"/>
                </a:srgbClr>
              </a:gs>
              <a:gs pos="1000">
                <a:srgbClr val="C00000"/>
              </a:gs>
              <a:gs pos="100000">
                <a:srgbClr val="C00000"/>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0" y="1275587"/>
            <a:ext cx="9144000" cy="5582413"/>
          </a:xfrm>
          <a:prstGeom prst="rect">
            <a:avLst/>
          </a:prstGeom>
          <a:gradFill flip="none" rotWithShape="1">
            <a:gsLst>
              <a:gs pos="0">
                <a:schemeClr val="bg1"/>
              </a:gs>
              <a:gs pos="100000">
                <a:schemeClr val="bg1">
                  <a:lumMod val="95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15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kasatkinda@cfuv.r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3717"/>
            <a:ext cx="9144000" cy="2111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b="21148"/>
          <a:stretch/>
        </p:blipFill>
        <p:spPr>
          <a:xfrm>
            <a:off x="685800" y="1672249"/>
            <a:ext cx="8458200" cy="4390555"/>
          </a:xfrm>
          <a:prstGeom prst="rect">
            <a:avLst/>
          </a:prstGeom>
        </p:spPr>
      </p:pic>
      <p:sp>
        <p:nvSpPr>
          <p:cNvPr id="5" name="Rectangle 4"/>
          <p:cNvSpPr/>
          <p:nvPr/>
        </p:nvSpPr>
        <p:spPr>
          <a:xfrm>
            <a:off x="571500" y="198388"/>
            <a:ext cx="8001000" cy="1754326"/>
          </a:xfrm>
          <a:prstGeom prst="rect">
            <a:avLst/>
          </a:prstGeom>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ru-RU" sz="54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Технология и процесс разработки ПО </a:t>
            </a:r>
            <a:endParaRPr lang="en-US" sz="5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
        <p:nvSpPr>
          <p:cNvPr id="6" name="Rectangle 5"/>
          <p:cNvSpPr/>
          <p:nvPr/>
        </p:nvSpPr>
        <p:spPr>
          <a:xfrm>
            <a:off x="0" y="5859308"/>
            <a:ext cx="3959772" cy="830997"/>
          </a:xfrm>
          <a:prstGeom prst="rect">
            <a:avLst/>
          </a:prstGeom>
        </p:spPr>
        <p:txBody>
          <a:bodyPr wrap="square">
            <a:spAutoFit/>
          </a:bodyPr>
          <a:lstStyle/>
          <a:p>
            <a:pPr algn="ctr"/>
            <a:r>
              <a:rPr lang="ru-RU" sz="2400" dirty="0" err="1" smtClean="0"/>
              <a:t>к.п.н</a:t>
            </a:r>
            <a:r>
              <a:rPr lang="ru-RU" sz="2400" dirty="0" smtClean="0"/>
              <a:t>., доцент Касаткин Д.А.</a:t>
            </a:r>
          </a:p>
          <a:p>
            <a:pPr algn="ctr"/>
            <a:r>
              <a:rPr lang="en-US" sz="2400" i="1" dirty="0" smtClean="0">
                <a:hlinkClick r:id="rId4"/>
              </a:rPr>
              <a:t>e-mail: kasatkinda@cfuv.ru</a:t>
            </a:r>
            <a:endParaRPr lang="en-US" sz="2400" i="1" dirty="0" smtClean="0"/>
          </a:p>
        </p:txBody>
      </p:sp>
    </p:spTree>
    <p:extLst>
      <p:ext uri="{BB962C8B-B14F-4D97-AF65-F5344CB8AC3E}">
        <p14:creationId xmlns:p14="http://schemas.microsoft.com/office/powerpoint/2010/main" val="30497704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ТРПО</a:t>
            </a:r>
            <a:endParaRPr lang="ru-RU" dirty="0"/>
          </a:p>
        </p:txBody>
      </p:sp>
      <p:sp>
        <p:nvSpPr>
          <p:cNvPr id="3" name="Объект 2"/>
          <p:cNvSpPr>
            <a:spLocks noGrp="1"/>
          </p:cNvSpPr>
          <p:nvPr>
            <p:ph idx="1"/>
          </p:nvPr>
        </p:nvSpPr>
        <p:spPr>
          <a:xfrm>
            <a:off x="0" y="1219200"/>
            <a:ext cx="9144000" cy="5638800"/>
          </a:xfrm>
        </p:spPr>
        <p:txBody>
          <a:bodyPr>
            <a:normAutofit fontScale="92500" lnSpcReduction="20000"/>
          </a:bodyPr>
          <a:lstStyle/>
          <a:p>
            <a:pPr marL="365125" indent="-1588">
              <a:spcAft>
                <a:spcPct val="20000"/>
              </a:spcAft>
              <a:buNone/>
            </a:pPr>
            <a:r>
              <a:rPr lang="ru-RU" b="1" dirty="0"/>
              <a:t>разработка = анализ + проектирование + программирование (кодирование) + тестирование + отладка</a:t>
            </a:r>
          </a:p>
          <a:p>
            <a:pPr marL="365125" indent="-1588">
              <a:spcAft>
                <a:spcPct val="20000"/>
              </a:spcAft>
              <a:buNone/>
            </a:pPr>
            <a:r>
              <a:rPr lang="ru-RU" dirty="0"/>
              <a:t>Технология разработки программного обеспечения (ТРПО) – это совокупность процессов и методов создания программного продукта.</a:t>
            </a:r>
          </a:p>
          <a:p>
            <a:pPr marL="365125" indent="-1588">
              <a:spcAft>
                <a:spcPct val="20000"/>
              </a:spcAft>
              <a:buNone/>
            </a:pPr>
            <a:endParaRPr lang="en-US" altLang="ru-RU" u="sng" dirty="0" smtClean="0"/>
          </a:p>
          <a:p>
            <a:pPr marL="365125" indent="-1588">
              <a:spcAft>
                <a:spcPct val="20000"/>
              </a:spcAft>
              <a:buNone/>
            </a:pPr>
            <a:r>
              <a:rPr lang="ru-RU" altLang="ru-RU" u="sng" dirty="0" smtClean="0"/>
              <a:t>Технология </a:t>
            </a:r>
            <a:r>
              <a:rPr lang="ru-RU" altLang="ru-RU" u="sng" dirty="0"/>
              <a:t>программирования</a:t>
            </a:r>
            <a:r>
              <a:rPr lang="en-US" altLang="ru-RU" u="sng" dirty="0"/>
              <a:t> (</a:t>
            </a:r>
            <a:r>
              <a:rPr lang="ru-RU" altLang="ru-RU" u="sng" dirty="0"/>
              <a:t>технология разработки ПО)</a:t>
            </a:r>
            <a:r>
              <a:rPr lang="ru-RU" altLang="ru-RU" dirty="0"/>
              <a:t> — </a:t>
            </a:r>
            <a:r>
              <a:rPr lang="ru-RU" altLang="ru-RU" dirty="0">
                <a:solidFill>
                  <a:srgbClr val="C00000"/>
                </a:solidFill>
              </a:rPr>
              <a:t>способ организации </a:t>
            </a:r>
            <a:r>
              <a:rPr lang="ru-RU" altLang="ru-RU" b="1" dirty="0">
                <a:solidFill>
                  <a:srgbClr val="C00000"/>
                </a:solidFill>
              </a:rPr>
              <a:t>процесса</a:t>
            </a:r>
            <a:r>
              <a:rPr lang="ru-RU" altLang="ru-RU" dirty="0">
                <a:solidFill>
                  <a:srgbClr val="C00000"/>
                </a:solidFill>
              </a:rPr>
              <a:t> создания программы</a:t>
            </a:r>
            <a:r>
              <a:rPr lang="ru-RU" altLang="ru-RU" dirty="0"/>
              <a:t>, совокупность приемов и способов выполнения определенных видов деятельности</a:t>
            </a:r>
            <a:r>
              <a:rPr lang="ru-RU" altLang="ru-RU" dirty="0" smtClean="0"/>
              <a:t>.</a:t>
            </a:r>
          </a:p>
          <a:p>
            <a:endParaRPr lang="ru-RU" dirty="0"/>
          </a:p>
        </p:txBody>
      </p:sp>
    </p:spTree>
    <p:extLst>
      <p:ext uri="{BB962C8B-B14F-4D97-AF65-F5344CB8AC3E}">
        <p14:creationId xmlns:p14="http://schemas.microsoft.com/office/powerpoint/2010/main" val="12912198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0" y="304800"/>
            <a:ext cx="7401744" cy="733946"/>
          </a:xfrm>
        </p:spPr>
        <p:txBody>
          <a:bodyPr>
            <a:normAutofit fontScale="90000"/>
          </a:bodyPr>
          <a:lstStyle/>
          <a:p>
            <a:r>
              <a:rPr lang="ru-RU" dirty="0" smtClean="0"/>
              <a:t>Программная инженерия</a:t>
            </a:r>
            <a:br>
              <a:rPr lang="ru-RU" dirty="0" smtClean="0"/>
            </a:br>
            <a:r>
              <a:rPr lang="ru-RU" dirty="0" smtClean="0"/>
              <a:t>(</a:t>
            </a:r>
            <a:r>
              <a:rPr lang="en-US" dirty="0" smtClean="0"/>
              <a:t>Software engineering</a:t>
            </a:r>
            <a:r>
              <a:rPr lang="ru-RU" dirty="0" smtClean="0"/>
              <a:t>)</a:t>
            </a:r>
            <a:endParaRPr lang="ru-RU" dirty="0"/>
          </a:p>
        </p:txBody>
      </p:sp>
      <p:sp>
        <p:nvSpPr>
          <p:cNvPr id="3" name="Содержимое 2"/>
          <p:cNvSpPr>
            <a:spLocks noGrp="1"/>
          </p:cNvSpPr>
          <p:nvPr>
            <p:ph idx="1"/>
          </p:nvPr>
        </p:nvSpPr>
        <p:spPr>
          <a:xfrm>
            <a:off x="228600" y="1628800"/>
            <a:ext cx="8468544" cy="5040560"/>
          </a:xfrm>
        </p:spPr>
        <p:txBody>
          <a:bodyPr>
            <a:normAutofit/>
          </a:bodyPr>
          <a:lstStyle/>
          <a:p>
            <a:r>
              <a:rPr lang="ru-RU" dirty="0" smtClean="0"/>
              <a:t>Программная инженерия это систематизированный подход к профессиональной разработке, внедрению</a:t>
            </a:r>
            <a:r>
              <a:rPr lang="en-US" dirty="0" smtClean="0"/>
              <a:t>, </a:t>
            </a:r>
            <a:r>
              <a:rPr lang="ru-RU" dirty="0" smtClean="0"/>
              <a:t>сопровождению и изъятию из использования ПО</a:t>
            </a:r>
            <a:r>
              <a:rPr lang="en-US" dirty="0" smtClean="0"/>
              <a:t>.</a:t>
            </a:r>
          </a:p>
          <a:p>
            <a:r>
              <a:rPr lang="ru-RU" dirty="0" smtClean="0"/>
              <a:t>Такой систематизированный подход должен помогать повышать качество и производительность разработки ПО (</a:t>
            </a:r>
            <a:r>
              <a:rPr lang="en-US" dirty="0" smtClean="0"/>
              <a:t>Q&amp;P). </a:t>
            </a:r>
            <a:endParaRPr lang="ru-RU" dirty="0" smtClean="0"/>
          </a:p>
        </p:txBody>
      </p:sp>
    </p:spTree>
    <p:extLst>
      <p:ext uri="{BB962C8B-B14F-4D97-AF65-F5344CB8AC3E}">
        <p14:creationId xmlns:p14="http://schemas.microsoft.com/office/powerpoint/2010/main" val="242221833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533400"/>
            <a:ext cx="7467600" cy="879376"/>
          </a:xfrm>
        </p:spPr>
        <p:txBody>
          <a:bodyPr>
            <a:normAutofit fontScale="90000"/>
          </a:bodyPr>
          <a:lstStyle/>
          <a:p>
            <a:r>
              <a:rPr lang="ru-RU" dirty="0"/>
              <a:t>Качество и производительность разработки ПО зависит от</a:t>
            </a:r>
            <a:r>
              <a:rPr lang="en-US" dirty="0" smtClean="0"/>
              <a:t>:</a:t>
            </a:r>
            <a:r>
              <a:rPr lang="ru-RU" dirty="0"/>
              <a:t/>
            </a:r>
            <a:br>
              <a:rPr lang="ru-RU" dirty="0"/>
            </a:br>
            <a:endParaRPr lang="ru-RU" dirty="0"/>
          </a:p>
        </p:txBody>
      </p:sp>
      <p:sp>
        <p:nvSpPr>
          <p:cNvPr id="3" name="Содержимое 2"/>
          <p:cNvSpPr>
            <a:spLocks noGrp="1"/>
          </p:cNvSpPr>
          <p:nvPr>
            <p:ph idx="1"/>
          </p:nvPr>
        </p:nvSpPr>
        <p:spPr>
          <a:xfrm>
            <a:off x="251520" y="1412776"/>
            <a:ext cx="8712968" cy="5445224"/>
          </a:xfrm>
        </p:spPr>
        <p:txBody>
          <a:bodyPr>
            <a:normAutofit/>
          </a:bodyPr>
          <a:lstStyle/>
          <a:p>
            <a:pPr lvl="1"/>
            <a:endParaRPr lang="ru-RU" b="1" i="1" dirty="0" smtClean="0"/>
          </a:p>
          <a:p>
            <a:pPr lvl="1"/>
            <a:r>
              <a:rPr lang="ru-RU" b="1" i="1" dirty="0" smtClean="0"/>
              <a:t>квалификации (умения) людей, </a:t>
            </a:r>
            <a:r>
              <a:rPr lang="ru-RU" dirty="0" smtClean="0"/>
              <a:t>участвующих в разработке ПО</a:t>
            </a:r>
            <a:r>
              <a:rPr lang="en-US" dirty="0" smtClean="0"/>
              <a:t>;</a:t>
            </a:r>
            <a:endParaRPr lang="ru-RU" dirty="0" smtClean="0"/>
          </a:p>
          <a:p>
            <a:pPr lvl="1"/>
            <a:r>
              <a:rPr lang="ru-RU" b="1" i="1" dirty="0" smtClean="0"/>
              <a:t>качества процессов</a:t>
            </a:r>
            <a:r>
              <a:rPr lang="en-US" dirty="0" smtClean="0"/>
              <a:t> </a:t>
            </a:r>
            <a:r>
              <a:rPr lang="ru-RU" dirty="0" smtClean="0"/>
              <a:t>организации работы специалистов, которые используют для выполнения различных задач проекта</a:t>
            </a:r>
            <a:r>
              <a:rPr lang="en-US" dirty="0" smtClean="0"/>
              <a:t>;</a:t>
            </a:r>
            <a:endParaRPr lang="ru-RU" dirty="0" smtClean="0"/>
          </a:p>
          <a:p>
            <a:pPr lvl="1"/>
            <a:r>
              <a:rPr lang="ru-RU" dirty="0" smtClean="0"/>
              <a:t>возможностей используемых </a:t>
            </a:r>
            <a:r>
              <a:rPr lang="ru-RU" b="1" i="1" dirty="0" smtClean="0"/>
              <a:t>программных средств разработки</a:t>
            </a:r>
            <a:r>
              <a:rPr lang="ru-RU" dirty="0" smtClean="0"/>
              <a:t> (инструментов).</a:t>
            </a:r>
          </a:p>
          <a:p>
            <a:endParaRPr lang="ru-RU" dirty="0"/>
          </a:p>
        </p:txBody>
      </p:sp>
    </p:spTree>
    <p:extLst>
      <p:ext uri="{BB962C8B-B14F-4D97-AF65-F5344CB8AC3E}">
        <p14:creationId xmlns:p14="http://schemas.microsoft.com/office/powerpoint/2010/main" val="34599695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38400" y="0"/>
            <a:ext cx="6248400" cy="1417638"/>
          </a:xfrm>
        </p:spPr>
        <p:txBody>
          <a:bodyPr>
            <a:normAutofit fontScale="90000"/>
          </a:bodyPr>
          <a:lstStyle/>
          <a:p>
            <a:r>
              <a:rPr lang="ru-RU" b="1" dirty="0" smtClean="0"/>
              <a:t>Типы программных систем</a:t>
            </a:r>
            <a:endParaRPr lang="ru-RU" b="1" dirty="0"/>
          </a:p>
        </p:txBody>
      </p:sp>
      <p:sp>
        <p:nvSpPr>
          <p:cNvPr id="3" name="Содержимое 2"/>
          <p:cNvSpPr>
            <a:spLocks noGrp="1"/>
          </p:cNvSpPr>
          <p:nvPr>
            <p:ph idx="1"/>
          </p:nvPr>
        </p:nvSpPr>
        <p:spPr>
          <a:xfrm>
            <a:off x="205680" y="1484784"/>
            <a:ext cx="8686800" cy="5257800"/>
          </a:xfrm>
        </p:spPr>
        <p:txBody>
          <a:bodyPr>
            <a:normAutofit fontScale="92500" lnSpcReduction="10000"/>
          </a:bodyPr>
          <a:lstStyle/>
          <a:p>
            <a:pPr marL="514350" indent="-514350">
              <a:buFont typeface="+mj-lt"/>
              <a:buAutoNum type="arabicPeriod"/>
            </a:pPr>
            <a:r>
              <a:rPr lang="ru-RU" dirty="0" smtClean="0"/>
              <a:t>системы работающие только с людьми </a:t>
            </a:r>
          </a:p>
          <a:p>
            <a:pPr lvl="1"/>
            <a:r>
              <a:rPr lang="ru-RU" dirty="0" smtClean="0"/>
              <a:t>например: информационные системы организаций – используются людьми для ввода, хранения поиска и отображения информации</a:t>
            </a:r>
            <a:r>
              <a:rPr lang="en-US" dirty="0" smtClean="0"/>
              <a:t>;</a:t>
            </a:r>
            <a:endParaRPr lang="ru-RU" dirty="0" smtClean="0"/>
          </a:p>
          <a:p>
            <a:pPr marL="514350" indent="-514350">
              <a:buFont typeface="+mj-lt"/>
              <a:buAutoNum type="arabicPeriod"/>
            </a:pPr>
            <a:r>
              <a:rPr lang="ru-RU" dirty="0" smtClean="0"/>
              <a:t>системы работающие с людьми и внешними техническими устройствами</a:t>
            </a:r>
            <a:r>
              <a:rPr lang="ru-RU" dirty="0"/>
              <a:t>:</a:t>
            </a:r>
            <a:endParaRPr lang="ru-RU" dirty="0" smtClean="0"/>
          </a:p>
          <a:p>
            <a:pPr lvl="1"/>
            <a:r>
              <a:rPr lang="ru-RU" dirty="0" smtClean="0"/>
              <a:t>например:  информационные системы соревнований</a:t>
            </a:r>
            <a:r>
              <a:rPr lang="en-US" dirty="0" smtClean="0"/>
              <a:t>.</a:t>
            </a:r>
            <a:endParaRPr lang="ru-RU" dirty="0" smtClean="0"/>
          </a:p>
          <a:p>
            <a:pPr marL="514350" indent="-514350">
              <a:buFont typeface="+mj-lt"/>
              <a:buAutoNum type="arabicPeriod"/>
            </a:pPr>
            <a:r>
              <a:rPr lang="ru-RU" dirty="0" smtClean="0"/>
              <a:t>системы работающие с внешними техническими устройствами</a:t>
            </a:r>
            <a:r>
              <a:rPr lang="en-US" dirty="0" smtClean="0"/>
              <a:t> </a:t>
            </a:r>
            <a:endParaRPr lang="ru-RU" dirty="0" smtClean="0"/>
          </a:p>
          <a:p>
            <a:pPr lvl="1"/>
            <a:r>
              <a:rPr lang="ru-RU" dirty="0" smtClean="0"/>
              <a:t>встроенные системы реального времени – встраиваются в технические устройства для выполнения управления ими.</a:t>
            </a:r>
          </a:p>
        </p:txBody>
      </p:sp>
    </p:spTree>
    <p:extLst>
      <p:ext uri="{BB962C8B-B14F-4D97-AF65-F5344CB8AC3E}">
        <p14:creationId xmlns:p14="http://schemas.microsoft.com/office/powerpoint/2010/main" val="23760777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57400" y="274638"/>
            <a:ext cx="6629400" cy="563562"/>
          </a:xfrm>
        </p:spPr>
        <p:txBody>
          <a:bodyPr>
            <a:normAutofit fontScale="90000"/>
          </a:bodyPr>
          <a:lstStyle/>
          <a:p>
            <a:r>
              <a:rPr lang="ru-RU" dirty="0" smtClean="0"/>
              <a:t>Процессы – основа разработки ПО </a:t>
            </a:r>
            <a:endParaRPr lang="ru-RU" dirty="0"/>
          </a:p>
        </p:txBody>
      </p:sp>
      <p:sp>
        <p:nvSpPr>
          <p:cNvPr id="3" name="Содержимое 2"/>
          <p:cNvSpPr>
            <a:spLocks noGrp="1"/>
          </p:cNvSpPr>
          <p:nvPr>
            <p:ph idx="1"/>
          </p:nvPr>
        </p:nvSpPr>
        <p:spPr>
          <a:xfrm>
            <a:off x="228600" y="1371600"/>
            <a:ext cx="8843392" cy="5441776"/>
          </a:xfrm>
        </p:spPr>
        <p:txBody>
          <a:bodyPr>
            <a:normAutofit fontScale="92500" lnSpcReduction="20000"/>
          </a:bodyPr>
          <a:lstStyle/>
          <a:p>
            <a:r>
              <a:rPr lang="ru-RU" dirty="0" smtClean="0"/>
              <a:t>В ТРПО</a:t>
            </a:r>
            <a:r>
              <a:rPr lang="en-US" dirty="0" smtClean="0"/>
              <a:t> </a:t>
            </a:r>
            <a:r>
              <a:rPr lang="ru-RU" dirty="0" smtClean="0"/>
              <a:t>основное внимание уделяется на процессы, которые называются систематизированном подходом к разработке ПО.</a:t>
            </a:r>
          </a:p>
          <a:p>
            <a:r>
              <a:rPr lang="ru-RU" dirty="0" smtClean="0"/>
              <a:t>Основной задачей </a:t>
            </a:r>
            <a:r>
              <a:rPr lang="ru-RU" b="1" i="1" dirty="0" smtClean="0"/>
              <a:t>процессов</a:t>
            </a:r>
            <a:r>
              <a:rPr lang="ru-RU" dirty="0" smtClean="0"/>
              <a:t> является оказание помощи специалистам достигать высокого качества и производительности путем указания того, какие задачи и как требуется решать.</a:t>
            </a:r>
          </a:p>
          <a:p>
            <a:r>
              <a:rPr lang="ru-RU" dirty="0" smtClean="0"/>
              <a:t>Внимание к процессу создания программного продукта и отличает ТРПО</a:t>
            </a:r>
            <a:r>
              <a:rPr lang="en-US" dirty="0" smtClean="0"/>
              <a:t> </a:t>
            </a:r>
            <a:r>
              <a:rPr lang="ru-RU" dirty="0" smtClean="0"/>
              <a:t>от большинства других компьютерных дисциплин.</a:t>
            </a:r>
          </a:p>
          <a:p>
            <a:r>
              <a:rPr lang="ru-RU" dirty="0" smtClean="0"/>
              <a:t>Процессы (совместно с инструментами и технологиями для их выполнения) составляют основу ТРПО</a:t>
            </a:r>
            <a:endParaRPr lang="ru-RU" dirty="0"/>
          </a:p>
        </p:txBody>
      </p:sp>
    </p:spTree>
    <p:extLst>
      <p:ext uri="{BB962C8B-B14F-4D97-AF65-F5344CB8AC3E}">
        <p14:creationId xmlns:p14="http://schemas.microsoft.com/office/powerpoint/2010/main" val="31465898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80533" y="0"/>
            <a:ext cx="8229600" cy="1143000"/>
          </a:xfrm>
        </p:spPr>
        <p:txBody>
          <a:bodyPr>
            <a:normAutofit fontScale="90000"/>
          </a:bodyPr>
          <a:lstStyle/>
          <a:p>
            <a:r>
              <a:rPr lang="ru-RU" dirty="0" smtClean="0"/>
              <a:t>Процесс и проект</a:t>
            </a:r>
            <a:br>
              <a:rPr lang="ru-RU" dirty="0" smtClean="0"/>
            </a:br>
            <a:r>
              <a:rPr lang="ru-RU" dirty="0" smtClean="0"/>
              <a:t>(</a:t>
            </a:r>
            <a:r>
              <a:rPr lang="en-US" dirty="0" smtClean="0"/>
              <a:t>process and project)</a:t>
            </a:r>
            <a:endParaRPr lang="ru-RU" dirty="0"/>
          </a:p>
        </p:txBody>
      </p:sp>
      <p:sp>
        <p:nvSpPr>
          <p:cNvPr id="3" name="Содержимое 2"/>
          <p:cNvSpPr>
            <a:spLocks noGrp="1"/>
          </p:cNvSpPr>
          <p:nvPr>
            <p:ph idx="1"/>
          </p:nvPr>
        </p:nvSpPr>
        <p:spPr>
          <a:xfrm>
            <a:off x="144016" y="1600200"/>
            <a:ext cx="8820472" cy="2044824"/>
          </a:xfrm>
        </p:spPr>
        <p:txBody>
          <a:bodyPr>
            <a:normAutofit fontScale="92500" lnSpcReduction="20000"/>
          </a:bodyPr>
          <a:lstStyle/>
          <a:p>
            <a:r>
              <a:rPr lang="ru-RU" dirty="0" smtClean="0"/>
              <a:t>Процесс это последовательность шагов, выполняемых для достижения требуемой цели.</a:t>
            </a:r>
          </a:p>
          <a:p>
            <a:r>
              <a:rPr lang="ru-RU" dirty="0" smtClean="0"/>
              <a:t>При разработке ПО промышленного уровня целью является создание ПО, удовлетворяющего потребностям пользователей.</a:t>
            </a:r>
            <a:endParaRPr lang="ru-RU" dirty="0"/>
          </a:p>
        </p:txBody>
      </p:sp>
      <p:pic>
        <p:nvPicPr>
          <p:cNvPr id="3074" name="Picture 2"/>
          <p:cNvPicPr>
            <a:picLocks noChangeAspect="1" noChangeArrowheads="1"/>
          </p:cNvPicPr>
          <p:nvPr/>
        </p:nvPicPr>
        <p:blipFill>
          <a:blip r:embed="rId3" cstate="print"/>
          <a:srcRect/>
          <a:stretch>
            <a:fillRect/>
          </a:stretch>
        </p:blipFill>
        <p:spPr bwMode="auto">
          <a:xfrm>
            <a:off x="1676400" y="3645024"/>
            <a:ext cx="5943600" cy="3400971"/>
          </a:xfrm>
          <a:prstGeom prst="rect">
            <a:avLst/>
          </a:prstGeom>
          <a:noFill/>
          <a:ln w="9525">
            <a:noFill/>
            <a:miter lim="800000"/>
            <a:headEnd/>
            <a:tailEnd/>
          </a:ln>
        </p:spPr>
      </p:pic>
    </p:spTree>
    <p:extLst>
      <p:ext uri="{BB962C8B-B14F-4D97-AF65-F5344CB8AC3E}">
        <p14:creationId xmlns:p14="http://schemas.microsoft.com/office/powerpoint/2010/main" val="15591487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Процесс</a:t>
            </a:r>
          </a:p>
        </p:txBody>
      </p:sp>
      <p:sp>
        <p:nvSpPr>
          <p:cNvPr id="3" name="Содержимое 2"/>
          <p:cNvSpPr>
            <a:spLocks noGrp="1"/>
          </p:cNvSpPr>
          <p:nvPr>
            <p:ph idx="1"/>
          </p:nvPr>
        </p:nvSpPr>
        <p:spPr>
          <a:xfrm>
            <a:off x="251520" y="1412776"/>
            <a:ext cx="8640960" cy="5445224"/>
          </a:xfrm>
        </p:spPr>
        <p:txBody>
          <a:bodyPr>
            <a:normAutofit fontScale="85000" lnSpcReduction="20000"/>
          </a:bodyPr>
          <a:lstStyle/>
          <a:p>
            <a:r>
              <a:rPr lang="ru-RU" dirty="0" smtClean="0"/>
              <a:t>Для программного проекта ключевую роль играет процесс разработки – в результате выполнение данного процесса достигается цель предоставления заказчику требуемого ПО.</a:t>
            </a:r>
          </a:p>
          <a:p>
            <a:r>
              <a:rPr lang="ru-RU" dirty="0" smtClean="0"/>
              <a:t>Однако не достаточно просто разработать требуемое ПО, нужно выполнить проект с </a:t>
            </a:r>
            <a:r>
              <a:rPr lang="ru-RU" b="1" i="1" dirty="0" smtClean="0"/>
              <a:t>наименьшими затратами</a:t>
            </a:r>
            <a:r>
              <a:rPr lang="ru-RU" dirty="0" smtClean="0"/>
              <a:t>, за </a:t>
            </a:r>
            <a:r>
              <a:rPr lang="ru-RU" b="1" i="1" dirty="0" smtClean="0"/>
              <a:t>наименьшее время</a:t>
            </a:r>
            <a:r>
              <a:rPr lang="ru-RU" dirty="0" smtClean="0"/>
              <a:t> и с </a:t>
            </a:r>
            <a:r>
              <a:rPr lang="ru-RU" b="1" i="1" dirty="0" smtClean="0"/>
              <a:t>требуемым качеством</a:t>
            </a:r>
            <a:r>
              <a:rPr lang="ru-RU" dirty="0" smtClean="0"/>
              <a:t>.</a:t>
            </a:r>
          </a:p>
          <a:p>
            <a:r>
              <a:rPr lang="ru-RU" dirty="0" smtClean="0"/>
              <a:t>В связи с этими дополнительными целями роль процессов возрастает. </a:t>
            </a:r>
          </a:p>
          <a:p>
            <a:r>
              <a:rPr lang="ru-RU" dirty="0" smtClean="0"/>
              <a:t>Существует много процессов разработки, позволяющих создать требуемое ПО, но </a:t>
            </a:r>
            <a:r>
              <a:rPr lang="ru-RU" b="1" i="1" dirty="0" smtClean="0"/>
              <a:t>для достижения высокого качества и производительности требуется некоторый «оптимальный» процесс</a:t>
            </a:r>
            <a:r>
              <a:rPr lang="ru-RU" dirty="0" smtClean="0"/>
              <a:t>.</a:t>
            </a:r>
          </a:p>
          <a:p>
            <a:endParaRPr lang="ru-RU" dirty="0" smtClean="0"/>
          </a:p>
          <a:p>
            <a:endParaRPr lang="ru-RU" dirty="0" smtClean="0"/>
          </a:p>
          <a:p>
            <a:endParaRPr lang="ru-RU" dirty="0" smtClean="0"/>
          </a:p>
          <a:p>
            <a:endParaRPr lang="ru-RU" dirty="0"/>
          </a:p>
        </p:txBody>
      </p:sp>
    </p:spTree>
    <p:extLst>
      <p:ext uri="{BB962C8B-B14F-4D97-AF65-F5344CB8AC3E}">
        <p14:creationId xmlns:p14="http://schemas.microsoft.com/office/powerpoint/2010/main" val="17788034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0" y="152400"/>
            <a:ext cx="8229600" cy="850106"/>
          </a:xfrm>
        </p:spPr>
        <p:txBody>
          <a:bodyPr/>
          <a:lstStyle/>
          <a:p>
            <a:r>
              <a:rPr lang="ru-RU" dirty="0" smtClean="0"/>
              <a:t>Спецификация процесса</a:t>
            </a:r>
            <a:endParaRPr lang="ru-RU" dirty="0"/>
          </a:p>
        </p:txBody>
      </p:sp>
      <p:sp>
        <p:nvSpPr>
          <p:cNvPr id="3" name="Содержимое 2"/>
          <p:cNvSpPr>
            <a:spLocks noGrp="1"/>
          </p:cNvSpPr>
          <p:nvPr>
            <p:ph idx="1"/>
          </p:nvPr>
        </p:nvSpPr>
        <p:spPr>
          <a:xfrm>
            <a:off x="179512" y="1484784"/>
            <a:ext cx="8712968" cy="5112568"/>
          </a:xfrm>
        </p:spPr>
        <p:txBody>
          <a:bodyPr>
            <a:normAutofit fontScale="85000" lnSpcReduction="20000"/>
          </a:bodyPr>
          <a:lstStyle/>
          <a:p>
            <a:r>
              <a:rPr lang="ru-RU" dirty="0" smtClean="0"/>
              <a:t>Нужно отличать спецификацию (детальное описание) процесса от самого процесса.</a:t>
            </a:r>
          </a:p>
          <a:p>
            <a:r>
              <a:rPr lang="ru-RU" b="1" i="1" dirty="0" smtClean="0"/>
              <a:t>Процесс</a:t>
            </a:r>
            <a:r>
              <a:rPr lang="ru-RU" dirty="0" smtClean="0"/>
              <a:t> является динамической сущностью, включающей выполненные действия.</a:t>
            </a:r>
            <a:r>
              <a:rPr lang="en-US" dirty="0" smtClean="0"/>
              <a:t> </a:t>
            </a:r>
          </a:p>
          <a:p>
            <a:r>
              <a:rPr lang="ru-RU" b="1" i="1" dirty="0" smtClean="0"/>
              <a:t>Спецификация процесса</a:t>
            </a:r>
            <a:r>
              <a:rPr lang="ru-RU" dirty="0" smtClean="0"/>
              <a:t> является </a:t>
            </a:r>
            <a:r>
              <a:rPr lang="en-US" dirty="0" smtClean="0"/>
              <a:t> </a:t>
            </a:r>
            <a:r>
              <a:rPr lang="ru-RU" dirty="0" smtClean="0"/>
              <a:t>описанием процесса, которому предположительно можно следовать в некотором проекте для достижения цели, для которой данный процесс был спроектирован</a:t>
            </a:r>
            <a:r>
              <a:rPr lang="en-US" dirty="0" smtClean="0"/>
              <a:t>.</a:t>
            </a:r>
          </a:p>
          <a:p>
            <a:r>
              <a:rPr lang="ru-RU" dirty="0" smtClean="0"/>
              <a:t>В проекте спецификация процесса может использоваться</a:t>
            </a:r>
            <a:r>
              <a:rPr lang="en-US" dirty="0" smtClean="0"/>
              <a:t>,</a:t>
            </a:r>
            <a:r>
              <a:rPr lang="ru-RU" dirty="0" smtClean="0"/>
              <a:t> в качестве процесса, который планирует использовать проект</a:t>
            </a:r>
            <a:r>
              <a:rPr lang="en-US" dirty="0" smtClean="0"/>
              <a:t>. </a:t>
            </a:r>
            <a:endParaRPr lang="ru-RU" dirty="0" smtClean="0"/>
          </a:p>
          <a:p>
            <a:r>
              <a:rPr lang="ru-RU" dirty="0" smtClean="0"/>
              <a:t>Реальный процесс это то, что в действительно выполняется в проекте.</a:t>
            </a:r>
            <a:r>
              <a:rPr lang="en-US" dirty="0" smtClean="0"/>
              <a:t> </a:t>
            </a:r>
            <a:endParaRPr lang="ru-RU" dirty="0" smtClean="0"/>
          </a:p>
          <a:p>
            <a:r>
              <a:rPr lang="ru-RU" dirty="0" smtClean="0"/>
              <a:t>Он может отличаться планируемого процесса.</a:t>
            </a:r>
            <a:endParaRPr lang="en-US" dirty="0" smtClean="0"/>
          </a:p>
          <a:p>
            <a:endParaRPr lang="en-US" dirty="0" smtClean="0"/>
          </a:p>
          <a:p>
            <a:endParaRPr lang="ru-RU" dirty="0"/>
          </a:p>
        </p:txBody>
      </p:sp>
    </p:spTree>
    <p:extLst>
      <p:ext uri="{BB962C8B-B14F-4D97-AF65-F5344CB8AC3E}">
        <p14:creationId xmlns:p14="http://schemas.microsoft.com/office/powerpoint/2010/main" val="208068259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23925" y="28575"/>
            <a:ext cx="8229600" cy="1143000"/>
          </a:xfrm>
        </p:spPr>
        <p:txBody>
          <a:bodyPr/>
          <a:lstStyle/>
          <a:p>
            <a:r>
              <a:rPr lang="ru-RU" dirty="0" smtClean="0"/>
              <a:t>Модель процесса</a:t>
            </a:r>
            <a:endParaRPr lang="ru-RU" dirty="0"/>
          </a:p>
        </p:txBody>
      </p:sp>
      <p:sp>
        <p:nvSpPr>
          <p:cNvPr id="3" name="Содержимое 2"/>
          <p:cNvSpPr>
            <a:spLocks noGrp="1"/>
          </p:cNvSpPr>
          <p:nvPr>
            <p:ph idx="1"/>
          </p:nvPr>
        </p:nvSpPr>
        <p:spPr>
          <a:xfrm>
            <a:off x="179512" y="1600200"/>
            <a:ext cx="8784976" cy="5141168"/>
          </a:xfrm>
        </p:spPr>
        <p:txBody>
          <a:bodyPr>
            <a:normAutofit fontScale="77500" lnSpcReduction="20000"/>
          </a:bodyPr>
          <a:lstStyle/>
          <a:p>
            <a:r>
              <a:rPr lang="ru-RU" b="1" i="1" dirty="0" smtClean="0"/>
              <a:t>Модель процесса</a:t>
            </a:r>
            <a:r>
              <a:rPr lang="ru-RU" dirty="0" smtClean="0"/>
              <a:t> описывает (специфицирует) обобщенный процесс</a:t>
            </a:r>
            <a:r>
              <a:rPr lang="en-US" i="1" dirty="0" smtClean="0"/>
              <a:t>, </a:t>
            </a:r>
            <a:r>
              <a:rPr lang="ru-RU" i="1" dirty="0" smtClean="0"/>
              <a:t>который является «оптимальным» для </a:t>
            </a:r>
            <a:r>
              <a:rPr lang="ru-RU" b="1" i="1" dirty="0" smtClean="0"/>
              <a:t>некоторого класса проектов</a:t>
            </a:r>
            <a:r>
              <a:rPr lang="en-US" dirty="0" smtClean="0"/>
              <a:t>. </a:t>
            </a:r>
            <a:endParaRPr lang="ru-RU" dirty="0" smtClean="0"/>
          </a:p>
          <a:p>
            <a:r>
              <a:rPr lang="ru-RU" dirty="0" smtClean="0"/>
              <a:t>Т.е. в ситуациях, для которых данная модель является применимой</a:t>
            </a:r>
            <a:r>
              <a:rPr lang="en-US" dirty="0" smtClean="0"/>
              <a:t>, </a:t>
            </a:r>
            <a:r>
              <a:rPr lang="ru-RU" dirty="0" smtClean="0"/>
              <a:t>использование данной модели процесса приведет к достижению цели разработки ПО с высокими показателями К</a:t>
            </a:r>
            <a:r>
              <a:rPr lang="en-US" dirty="0" smtClean="0"/>
              <a:t>&amp;</a:t>
            </a:r>
            <a:r>
              <a:rPr lang="ru-RU" dirty="0" smtClean="0"/>
              <a:t>П</a:t>
            </a:r>
            <a:r>
              <a:rPr lang="en-US" dirty="0" smtClean="0"/>
              <a:t>. </a:t>
            </a:r>
            <a:endParaRPr lang="ru-RU" dirty="0" smtClean="0"/>
          </a:p>
          <a:p>
            <a:r>
              <a:rPr lang="ru-RU" dirty="0" smtClean="0"/>
              <a:t>Модель процесса фактически является объединением лучших практических решений в некоторый «рецепт» успешного выполнения проекта.</a:t>
            </a:r>
          </a:p>
          <a:p>
            <a:r>
              <a:rPr lang="ru-RU" dirty="0" smtClean="0"/>
              <a:t>Процесс часто специфицируется (детально описывается) в виде последовательностей высокоуровневых этапов.</a:t>
            </a:r>
          </a:p>
          <a:p>
            <a:r>
              <a:rPr lang="ru-RU" dirty="0" smtClean="0"/>
              <a:t>В свою очередь каждый из этапов состоит из более мелких шагов и иногда называется подпроцессом.</a:t>
            </a:r>
            <a:endParaRPr lang="en-US" dirty="0" smtClean="0"/>
          </a:p>
          <a:p>
            <a:endParaRPr lang="ru-RU" dirty="0"/>
          </a:p>
        </p:txBody>
      </p:sp>
    </p:spTree>
    <p:extLst>
      <p:ext uri="{BB962C8B-B14F-4D97-AF65-F5344CB8AC3E}">
        <p14:creationId xmlns:p14="http://schemas.microsoft.com/office/powerpoint/2010/main" val="318362441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152400"/>
            <a:ext cx="8229600" cy="850106"/>
          </a:xfrm>
        </p:spPr>
        <p:txBody>
          <a:bodyPr>
            <a:normAutofit/>
          </a:bodyPr>
          <a:lstStyle/>
          <a:p>
            <a:r>
              <a:rPr lang="ru-RU" dirty="0" smtClean="0"/>
              <a:t>Процессы разработки ПО</a:t>
            </a:r>
            <a:endParaRPr lang="en-US" dirty="0" smtClean="0"/>
          </a:p>
        </p:txBody>
      </p:sp>
      <p:sp>
        <p:nvSpPr>
          <p:cNvPr id="3" name="Содержимое 2"/>
          <p:cNvSpPr>
            <a:spLocks noGrp="1"/>
          </p:cNvSpPr>
          <p:nvPr>
            <p:ph idx="1"/>
          </p:nvPr>
        </p:nvSpPr>
        <p:spPr>
          <a:xfrm>
            <a:off x="72008" y="1268760"/>
            <a:ext cx="8964488" cy="5589240"/>
          </a:xfrm>
        </p:spPr>
        <p:txBody>
          <a:bodyPr>
            <a:normAutofit/>
          </a:bodyPr>
          <a:lstStyle/>
          <a:p>
            <a:r>
              <a:rPr lang="ru-RU" dirty="0" smtClean="0"/>
              <a:t>Т.к. при разработке ПО требуется достижение разных целей, то требуются разные процессы.</a:t>
            </a:r>
          </a:p>
          <a:p>
            <a:r>
              <a:rPr lang="ru-RU" dirty="0" smtClean="0"/>
              <a:t>Многие из них не касаются ТРПО,</a:t>
            </a:r>
            <a:r>
              <a:rPr lang="en-US" dirty="0" smtClean="0"/>
              <a:t> </a:t>
            </a:r>
            <a:r>
              <a:rPr lang="ru-RU" dirty="0" smtClean="0"/>
              <a:t>но влияют на разработку  ПО.</a:t>
            </a:r>
          </a:p>
          <a:p>
            <a:r>
              <a:rPr lang="ru-RU" dirty="0" smtClean="0"/>
              <a:t>Все процессы можно разделить на две большие группы:</a:t>
            </a:r>
          </a:p>
          <a:p>
            <a:pPr lvl="1"/>
            <a:r>
              <a:rPr lang="ru-RU" dirty="0" smtClean="0"/>
              <a:t>Процессы не связанные непосредственно с разработкой ПО</a:t>
            </a:r>
          </a:p>
          <a:p>
            <a:pPr lvl="1"/>
            <a:r>
              <a:rPr lang="ru-RU" dirty="0" smtClean="0"/>
              <a:t>Процессы непосредственно связанные с разработкой ПО.</a:t>
            </a:r>
          </a:p>
          <a:p>
            <a:endParaRPr lang="ru-RU" dirty="0"/>
          </a:p>
        </p:txBody>
      </p:sp>
    </p:spTree>
    <p:extLst>
      <p:ext uri="{BB962C8B-B14F-4D97-AF65-F5344CB8AC3E}">
        <p14:creationId xmlns:p14="http://schemas.microsoft.com/office/powerpoint/2010/main" val="35952914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76400" y="152400"/>
            <a:ext cx="7848600" cy="914400"/>
          </a:xfrm>
        </p:spPr>
        <p:txBody>
          <a:bodyPr>
            <a:noAutofit/>
          </a:bodyPr>
          <a:lstStyle/>
          <a:p>
            <a:r>
              <a:rPr lang="ru-RU" sz="3600" dirty="0" smtClean="0"/>
              <a:t>Процессы не связанные непосредственно с разработкой ПО</a:t>
            </a:r>
            <a:endParaRPr lang="en-US" sz="3600" dirty="0" smtClean="0"/>
          </a:p>
        </p:txBody>
      </p:sp>
      <p:sp>
        <p:nvSpPr>
          <p:cNvPr id="3" name="Содержимое 2"/>
          <p:cNvSpPr>
            <a:spLocks noGrp="1"/>
          </p:cNvSpPr>
          <p:nvPr>
            <p:ph idx="1"/>
          </p:nvPr>
        </p:nvSpPr>
        <p:spPr>
          <a:xfrm>
            <a:off x="72008" y="1268760"/>
            <a:ext cx="8964488" cy="5589240"/>
          </a:xfrm>
        </p:spPr>
        <p:txBody>
          <a:bodyPr>
            <a:normAutofit fontScale="70000" lnSpcReduction="20000"/>
          </a:bodyPr>
          <a:lstStyle/>
          <a:p>
            <a:r>
              <a:rPr lang="ru-RU" b="1" i="1" dirty="0" smtClean="0"/>
              <a:t>бизнес-процессы</a:t>
            </a:r>
            <a:r>
              <a:rPr lang="ru-RU" dirty="0" smtClean="0"/>
              <a:t> – </a:t>
            </a:r>
          </a:p>
          <a:p>
            <a:pPr lvl="1"/>
            <a:r>
              <a:rPr lang="ru-RU" dirty="0" smtClean="0"/>
              <a:t>поиска заказчиков, </a:t>
            </a:r>
          </a:p>
          <a:p>
            <a:pPr lvl="1"/>
            <a:r>
              <a:rPr lang="ru-RU" dirty="0" smtClean="0"/>
              <a:t>ведение переговоров, </a:t>
            </a:r>
          </a:p>
          <a:p>
            <a:pPr lvl="1"/>
            <a:r>
              <a:rPr lang="ru-RU" dirty="0" smtClean="0"/>
              <a:t>убеждение в необходимости заключения  договора, </a:t>
            </a:r>
          </a:p>
          <a:p>
            <a:pPr lvl="1"/>
            <a:r>
              <a:rPr lang="ru-RU" dirty="0" smtClean="0"/>
              <a:t>оформление договора,  </a:t>
            </a:r>
          </a:p>
          <a:p>
            <a:pPr lvl="1"/>
            <a:r>
              <a:rPr lang="ru-RU" dirty="0" smtClean="0"/>
              <a:t>договор о цене, </a:t>
            </a:r>
          </a:p>
          <a:p>
            <a:pPr lvl="1"/>
            <a:r>
              <a:rPr lang="ru-RU" dirty="0" smtClean="0"/>
              <a:t>оформление оплаты</a:t>
            </a:r>
            <a:r>
              <a:rPr lang="en-US" dirty="0" smtClean="0"/>
              <a:t>;</a:t>
            </a:r>
            <a:endParaRPr lang="ru-RU" dirty="0" smtClean="0"/>
          </a:p>
          <a:p>
            <a:r>
              <a:rPr lang="ru-RU" b="1" i="1" dirty="0" smtClean="0"/>
              <a:t>социальные процессы</a:t>
            </a:r>
            <a:r>
              <a:rPr lang="ru-RU" dirty="0" smtClean="0"/>
              <a:t> – </a:t>
            </a:r>
          </a:p>
          <a:p>
            <a:pPr lvl="1"/>
            <a:r>
              <a:rPr lang="ru-RU" dirty="0" smtClean="0"/>
              <a:t>организация команд, </a:t>
            </a:r>
          </a:p>
          <a:p>
            <a:pPr lvl="1"/>
            <a:r>
              <a:rPr lang="ru-RU" dirty="0" smtClean="0"/>
              <a:t>создание творческой атмосферы, </a:t>
            </a:r>
          </a:p>
          <a:p>
            <a:pPr lvl="1"/>
            <a:r>
              <a:rPr lang="ru-RU" dirty="0" smtClean="0"/>
              <a:t>праздничные вечера, </a:t>
            </a:r>
          </a:p>
          <a:p>
            <a:pPr lvl="1"/>
            <a:r>
              <a:rPr lang="ru-RU" dirty="0" smtClean="0"/>
              <a:t>коллективные поездки</a:t>
            </a:r>
            <a:r>
              <a:rPr lang="en-US" dirty="0" smtClean="0"/>
              <a:t>;</a:t>
            </a:r>
            <a:endParaRPr lang="ru-RU" dirty="0" smtClean="0"/>
          </a:p>
          <a:p>
            <a:r>
              <a:rPr lang="ru-RU" b="1" i="1" dirty="0" smtClean="0"/>
              <a:t>процесс обучения</a:t>
            </a:r>
            <a:r>
              <a:rPr lang="ru-RU" dirty="0" smtClean="0"/>
              <a:t> – лекции, мастер-классы, участие в конференциях.</a:t>
            </a:r>
          </a:p>
          <a:p>
            <a:r>
              <a:rPr lang="ru-RU" b="1" i="1" dirty="0" smtClean="0"/>
              <a:t>реклама </a:t>
            </a:r>
          </a:p>
          <a:p>
            <a:r>
              <a:rPr lang="ru-RU" b="1" i="1" dirty="0" smtClean="0"/>
              <a:t>научная работа</a:t>
            </a:r>
          </a:p>
          <a:p>
            <a:r>
              <a:rPr lang="ru-RU" dirty="0" smtClean="0"/>
              <a:t>и пр.</a:t>
            </a:r>
          </a:p>
          <a:p>
            <a:pPr lvl="1"/>
            <a:endParaRPr lang="en-US" dirty="0" smtClean="0"/>
          </a:p>
          <a:p>
            <a:pPr lvl="2"/>
            <a:endParaRPr lang="ru-RU" dirty="0"/>
          </a:p>
        </p:txBody>
      </p:sp>
    </p:spTree>
    <p:extLst>
      <p:ext uri="{BB962C8B-B14F-4D97-AF65-F5344CB8AC3E}">
        <p14:creationId xmlns:p14="http://schemas.microsoft.com/office/powerpoint/2010/main" val="16920238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38400" y="99070"/>
            <a:ext cx="6553200" cy="1109133"/>
          </a:xfrm>
        </p:spPr>
        <p:txBody>
          <a:bodyPr>
            <a:normAutofit fontScale="90000"/>
          </a:bodyPr>
          <a:lstStyle/>
          <a:p>
            <a:r>
              <a:rPr lang="ru-RU" dirty="0" smtClean="0"/>
              <a:t>Работаем над задачами проекта</a:t>
            </a:r>
            <a:endParaRPr lang="ru-RU" dirty="0"/>
          </a:p>
        </p:txBody>
      </p:sp>
      <p:sp>
        <p:nvSpPr>
          <p:cNvPr id="3" name="Содержимое 2"/>
          <p:cNvSpPr>
            <a:spLocks noGrp="1"/>
          </p:cNvSpPr>
          <p:nvPr>
            <p:ph idx="1"/>
          </p:nvPr>
        </p:nvSpPr>
        <p:spPr>
          <a:xfrm>
            <a:off x="457200" y="1600201"/>
            <a:ext cx="8229600" cy="532656"/>
          </a:xfrm>
        </p:spPr>
        <p:txBody>
          <a:bodyPr>
            <a:normAutofit lnSpcReduction="10000"/>
          </a:bodyPr>
          <a:lstStyle/>
          <a:p>
            <a:pPr marL="0" indent="0">
              <a:buNone/>
            </a:pPr>
            <a:endParaRPr lang="ru-RU" dirty="0"/>
          </a:p>
        </p:txBody>
      </p:sp>
      <p:pic>
        <p:nvPicPr>
          <p:cNvPr id="2050" name="Picture 2" descr="C:\Users\myth.KMS\Pictures\Программер 5.jpg"/>
          <p:cNvPicPr>
            <a:picLocks noChangeAspect="1" noChangeArrowheads="1"/>
          </p:cNvPicPr>
          <p:nvPr/>
        </p:nvPicPr>
        <p:blipFill>
          <a:blip r:embed="rId3" cstate="print"/>
          <a:srcRect/>
          <a:stretch>
            <a:fillRect/>
          </a:stretch>
        </p:blipFill>
        <p:spPr bwMode="auto">
          <a:xfrm>
            <a:off x="2438400" y="1338869"/>
            <a:ext cx="5257800" cy="5435029"/>
          </a:xfrm>
          <a:prstGeom prst="rect">
            <a:avLst/>
          </a:prstGeom>
          <a:noFill/>
        </p:spPr>
      </p:pic>
      <p:sp>
        <p:nvSpPr>
          <p:cNvPr id="5" name="Прямоугольник 4"/>
          <p:cNvSpPr/>
          <p:nvPr/>
        </p:nvSpPr>
        <p:spPr>
          <a:xfrm>
            <a:off x="3236528" y="6060616"/>
            <a:ext cx="122413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00" dirty="0" smtClean="0">
                <a:solidFill>
                  <a:schemeClr val="tx1"/>
                </a:solidFill>
              </a:rPr>
              <a:t>Программист Вася</a:t>
            </a:r>
            <a:endParaRPr lang="ru-RU" sz="1000" dirty="0">
              <a:solidFill>
                <a:schemeClr val="tx1"/>
              </a:solidFill>
            </a:endParaRPr>
          </a:p>
        </p:txBody>
      </p:sp>
    </p:spTree>
    <p:extLst>
      <p:ext uri="{BB962C8B-B14F-4D97-AF65-F5344CB8AC3E}">
        <p14:creationId xmlns:p14="http://schemas.microsoft.com/office/powerpoint/2010/main" val="8669283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47800" y="838200"/>
            <a:ext cx="8305800" cy="381000"/>
          </a:xfrm>
        </p:spPr>
        <p:txBody>
          <a:bodyPr>
            <a:normAutofit fontScale="90000"/>
          </a:bodyPr>
          <a:lstStyle/>
          <a:p>
            <a:r>
              <a:rPr lang="ru-RU" dirty="0"/>
              <a:t>SMART (</a:t>
            </a:r>
            <a:r>
              <a:rPr lang="ru-RU" dirty="0" err="1"/>
              <a:t>Specific</a:t>
            </a:r>
            <a:r>
              <a:rPr lang="ru-RU" dirty="0"/>
              <a:t>, </a:t>
            </a:r>
            <a:r>
              <a:rPr lang="ru-RU" dirty="0" err="1"/>
              <a:t>Measurable</a:t>
            </a:r>
            <a:r>
              <a:rPr lang="ru-RU" dirty="0"/>
              <a:t>, </a:t>
            </a:r>
            <a:r>
              <a:rPr lang="ru-RU" dirty="0" err="1"/>
              <a:t>Achievable</a:t>
            </a:r>
            <a:r>
              <a:rPr lang="ru-RU" dirty="0"/>
              <a:t>, </a:t>
            </a:r>
            <a:r>
              <a:rPr lang="ru-RU" dirty="0" err="1"/>
              <a:t>Realistic</a:t>
            </a:r>
            <a:r>
              <a:rPr lang="ru-RU" dirty="0"/>
              <a:t>, </a:t>
            </a:r>
            <a:r>
              <a:rPr lang="ru-RU" dirty="0" err="1"/>
              <a:t>Time-limited</a:t>
            </a:r>
            <a:r>
              <a:rPr lang="ru-RU" dirty="0"/>
              <a:t>):</a:t>
            </a:r>
            <a:br>
              <a:rPr lang="ru-RU" dirty="0"/>
            </a:br>
            <a:endParaRPr lang="ru-RU" dirty="0"/>
          </a:p>
        </p:txBody>
      </p:sp>
      <p:sp>
        <p:nvSpPr>
          <p:cNvPr id="3" name="Объект 2"/>
          <p:cNvSpPr>
            <a:spLocks noGrp="1"/>
          </p:cNvSpPr>
          <p:nvPr>
            <p:ph idx="1"/>
          </p:nvPr>
        </p:nvSpPr>
        <p:spPr>
          <a:xfrm>
            <a:off x="152400" y="1447800"/>
            <a:ext cx="8305800" cy="914400"/>
          </a:xfrm>
        </p:spPr>
        <p:txBody>
          <a:bodyPr>
            <a:normAutofit fontScale="70000" lnSpcReduction="20000"/>
          </a:bodyPr>
          <a:lstStyle/>
          <a:p>
            <a:r>
              <a:rPr lang="ru-RU" dirty="0"/>
              <a:t>Для того чтобы проверить, правильно ли вы сформулировали задачи, можно применить метод SMART (</a:t>
            </a:r>
            <a:r>
              <a:rPr lang="ru-RU" dirty="0" err="1"/>
              <a:t>Specific</a:t>
            </a:r>
            <a:r>
              <a:rPr lang="ru-RU" dirty="0"/>
              <a:t>, </a:t>
            </a:r>
            <a:r>
              <a:rPr lang="ru-RU" dirty="0" err="1"/>
              <a:t>Measurable</a:t>
            </a:r>
            <a:r>
              <a:rPr lang="ru-RU" dirty="0"/>
              <a:t>, </a:t>
            </a:r>
            <a:r>
              <a:rPr lang="ru-RU" dirty="0" err="1"/>
              <a:t>Achievable</a:t>
            </a:r>
            <a:r>
              <a:rPr lang="ru-RU" dirty="0"/>
              <a:t>, </a:t>
            </a:r>
            <a:r>
              <a:rPr lang="ru-RU" dirty="0" err="1"/>
              <a:t>Realistic</a:t>
            </a:r>
            <a:r>
              <a:rPr lang="ru-RU" dirty="0"/>
              <a:t>, </a:t>
            </a:r>
            <a:r>
              <a:rPr lang="ru-RU" dirty="0" err="1"/>
              <a:t>Time-limited</a:t>
            </a:r>
            <a:r>
              <a:rPr lang="ru-RU" dirty="0"/>
              <a:t>):</a:t>
            </a:r>
          </a:p>
          <a:p>
            <a:endParaRPr lang="ru-RU" dirty="0"/>
          </a:p>
          <a:p>
            <a:endParaRPr lang="ru-RU" dirty="0"/>
          </a:p>
        </p:txBody>
      </p:sp>
      <p:pic>
        <p:nvPicPr>
          <p:cNvPr id="4" name="Рисунок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2362200"/>
            <a:ext cx="7878580" cy="4354221"/>
          </a:xfrm>
          <a:prstGeom prst="rect">
            <a:avLst/>
          </a:prstGeom>
        </p:spPr>
      </p:pic>
    </p:spTree>
    <p:extLst>
      <p:ext uri="{BB962C8B-B14F-4D97-AF65-F5344CB8AC3E}">
        <p14:creationId xmlns:p14="http://schemas.microsoft.com/office/powerpoint/2010/main" val="7801499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850106"/>
          </a:xfrm>
        </p:spPr>
        <p:txBody>
          <a:bodyPr>
            <a:noAutofit/>
          </a:bodyPr>
          <a:lstStyle/>
          <a:p>
            <a:r>
              <a:rPr lang="ru-RU" sz="3600" dirty="0" smtClean="0"/>
              <a:t>Программные процессы</a:t>
            </a:r>
            <a:br>
              <a:rPr lang="ru-RU" sz="3600" dirty="0" smtClean="0"/>
            </a:br>
            <a:r>
              <a:rPr lang="ru-RU" sz="3600" dirty="0" smtClean="0"/>
              <a:t>(</a:t>
            </a:r>
            <a:r>
              <a:rPr lang="en-US" sz="3600" dirty="0" smtClean="0"/>
              <a:t>software process</a:t>
            </a:r>
            <a:r>
              <a:rPr lang="ru-RU" sz="3600" dirty="0" smtClean="0"/>
              <a:t>)</a:t>
            </a:r>
            <a:endParaRPr lang="en-US" sz="3600" dirty="0" smtClean="0"/>
          </a:p>
        </p:txBody>
      </p:sp>
      <p:sp>
        <p:nvSpPr>
          <p:cNvPr id="3" name="Содержимое 2"/>
          <p:cNvSpPr>
            <a:spLocks noGrp="1"/>
          </p:cNvSpPr>
          <p:nvPr>
            <p:ph idx="1"/>
          </p:nvPr>
        </p:nvSpPr>
        <p:spPr>
          <a:xfrm>
            <a:off x="72008" y="1268760"/>
            <a:ext cx="8964488" cy="5589240"/>
          </a:xfrm>
        </p:spPr>
        <p:txBody>
          <a:bodyPr>
            <a:normAutofit/>
          </a:bodyPr>
          <a:lstStyle/>
          <a:p>
            <a:r>
              <a:rPr lang="ru-RU" i="1" dirty="0" smtClean="0"/>
              <a:t>Процессы, который непосредственно имеет дело с техническими и управленческими задачами разработки ПО в общем называются </a:t>
            </a:r>
            <a:r>
              <a:rPr lang="ru-RU" b="1" i="1" dirty="0" smtClean="0"/>
              <a:t>программным процессом</a:t>
            </a:r>
            <a:r>
              <a:rPr lang="ru-RU" i="1" dirty="0" smtClean="0"/>
              <a:t> (</a:t>
            </a:r>
            <a:r>
              <a:rPr lang="en-US" b="1" i="1" dirty="0" smtClean="0"/>
              <a:t>software process</a:t>
            </a:r>
            <a:r>
              <a:rPr lang="ru-RU" i="1" dirty="0" smtClean="0"/>
              <a:t>)</a:t>
            </a:r>
            <a:r>
              <a:rPr lang="en-US" dirty="0" smtClean="0"/>
              <a:t>. </a:t>
            </a:r>
            <a:endParaRPr lang="ru-RU" dirty="0" smtClean="0"/>
          </a:p>
          <a:p>
            <a:r>
              <a:rPr lang="ru-RU" dirty="0" smtClean="0"/>
              <a:t>Разработка ПО разделена по проектам – в каждом проекте создается ПО для  конкретного заказчика.</a:t>
            </a:r>
          </a:p>
          <a:p>
            <a:endParaRPr lang="ru-RU" dirty="0" smtClean="0"/>
          </a:p>
          <a:p>
            <a:pPr lvl="1"/>
            <a:endParaRPr lang="en-US" dirty="0" smtClean="0"/>
          </a:p>
          <a:p>
            <a:pPr lvl="2"/>
            <a:endParaRPr lang="ru-RU" dirty="0"/>
          </a:p>
        </p:txBody>
      </p:sp>
    </p:spTree>
    <p:extLst>
      <p:ext uri="{BB962C8B-B14F-4D97-AF65-F5344CB8AC3E}">
        <p14:creationId xmlns:p14="http://schemas.microsoft.com/office/powerpoint/2010/main" val="5677664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14400" y="228600"/>
            <a:ext cx="8229600" cy="922114"/>
          </a:xfrm>
        </p:spPr>
        <p:txBody>
          <a:bodyPr/>
          <a:lstStyle/>
          <a:p>
            <a:r>
              <a:rPr lang="ru-RU" dirty="0" smtClean="0"/>
              <a:t>Программный процесс</a:t>
            </a:r>
            <a:endParaRPr lang="ru-RU" dirty="0"/>
          </a:p>
        </p:txBody>
      </p:sp>
      <p:sp>
        <p:nvSpPr>
          <p:cNvPr id="3" name="Содержимое 2"/>
          <p:cNvSpPr>
            <a:spLocks noGrp="1"/>
          </p:cNvSpPr>
          <p:nvPr>
            <p:ph idx="1"/>
          </p:nvPr>
        </p:nvSpPr>
        <p:spPr>
          <a:xfrm>
            <a:off x="251520" y="1484784"/>
            <a:ext cx="8640960" cy="5112568"/>
          </a:xfrm>
        </p:spPr>
        <p:txBody>
          <a:bodyPr>
            <a:normAutofit fontScale="85000" lnSpcReduction="20000"/>
          </a:bodyPr>
          <a:lstStyle/>
          <a:p>
            <a:r>
              <a:rPr lang="ru-RU" dirty="0" smtClean="0"/>
              <a:t>Программный проект (</a:t>
            </a:r>
            <a:r>
              <a:rPr lang="en-US" dirty="0" smtClean="0"/>
              <a:t>software</a:t>
            </a:r>
            <a:r>
              <a:rPr lang="ru-RU" dirty="0" smtClean="0"/>
              <a:t> </a:t>
            </a:r>
            <a:r>
              <a:rPr lang="en-US" dirty="0" smtClean="0"/>
              <a:t>project</a:t>
            </a:r>
            <a:r>
              <a:rPr lang="ru-RU" dirty="0" smtClean="0"/>
              <a:t>) должен </a:t>
            </a:r>
          </a:p>
          <a:p>
            <a:pPr marL="717550" lvl="1" indent="-247650">
              <a:buFont typeface="+mj-lt"/>
              <a:buAutoNum type="arabicPeriod"/>
            </a:pPr>
            <a:r>
              <a:rPr lang="ru-RU" dirty="0" smtClean="0"/>
              <a:t>разрабатывать программное обеспечение</a:t>
            </a:r>
            <a:r>
              <a:rPr lang="en-US" dirty="0" smtClean="0"/>
              <a:t>;</a:t>
            </a:r>
            <a:r>
              <a:rPr lang="ru-RU" dirty="0" smtClean="0"/>
              <a:t> </a:t>
            </a:r>
          </a:p>
          <a:p>
            <a:pPr marL="717550" lvl="1" indent="-247650">
              <a:buFont typeface="+mj-lt"/>
              <a:buAutoNum type="arabicPeriod"/>
            </a:pPr>
            <a:r>
              <a:rPr lang="ru-RU" dirty="0" smtClean="0"/>
              <a:t>выполнять правильное управление данным проектом.</a:t>
            </a:r>
          </a:p>
          <a:p>
            <a:r>
              <a:rPr lang="ru-RU" dirty="0" smtClean="0"/>
              <a:t>В связи с этим в программный процесс состоит из двух основных </a:t>
            </a:r>
            <a:r>
              <a:rPr lang="ru-RU" dirty="0" err="1" smtClean="0"/>
              <a:t>подпроцессов</a:t>
            </a:r>
            <a:r>
              <a:rPr lang="ru-RU" dirty="0" smtClean="0"/>
              <a:t>:</a:t>
            </a:r>
          </a:p>
          <a:p>
            <a:pPr marL="717550" lvl="1" indent="-247650">
              <a:buFont typeface="+mj-lt"/>
              <a:buAutoNum type="arabicPeriod"/>
              <a:tabLst>
                <a:tab pos="622300" algn="l"/>
              </a:tabLst>
            </a:pPr>
            <a:r>
              <a:rPr lang="ru-RU" dirty="0" smtClean="0"/>
              <a:t>процесс разработки – определяет все требуемые виды инженерной деятельности по созданию ПО</a:t>
            </a:r>
            <a:r>
              <a:rPr lang="en-US" dirty="0" smtClean="0"/>
              <a:t>;</a:t>
            </a:r>
            <a:endParaRPr lang="ru-RU" dirty="0" smtClean="0"/>
          </a:p>
          <a:p>
            <a:pPr marL="717550" lvl="1" indent="-247650">
              <a:buFont typeface="+mj-lt"/>
              <a:buAutoNum type="arabicPeriod"/>
              <a:tabLst>
                <a:tab pos="622300" algn="l"/>
              </a:tabLst>
            </a:pPr>
            <a:r>
              <a:rPr lang="ru-RU" dirty="0" smtClean="0"/>
              <a:t>процесс управления проектом – определяет то, как планируются и управляются эти виды деятельности.</a:t>
            </a:r>
          </a:p>
          <a:p>
            <a:pPr marL="317500" indent="-247650">
              <a:tabLst>
                <a:tab pos="622300" algn="l"/>
              </a:tabLst>
            </a:pPr>
            <a:r>
              <a:rPr lang="ru-RU" dirty="0" smtClean="0"/>
              <a:t>Процессы эффективной разработки ПО и управления проектом являются основными факторами достижения цели предоставления желаемого ПО, удовлетворяющего требованиям заказчика, при обеспечении высокой производительности и качества.</a:t>
            </a:r>
          </a:p>
          <a:p>
            <a:endParaRPr lang="ru-RU" dirty="0"/>
          </a:p>
        </p:txBody>
      </p:sp>
    </p:spTree>
    <p:extLst>
      <p:ext uri="{BB962C8B-B14F-4D97-AF65-F5344CB8AC3E}">
        <p14:creationId xmlns:p14="http://schemas.microsoft.com/office/powerpoint/2010/main" val="3247575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83085" y="131465"/>
            <a:ext cx="8229600" cy="1143000"/>
          </a:xfrm>
        </p:spPr>
        <p:txBody>
          <a:bodyPr/>
          <a:lstStyle/>
          <a:p>
            <a:r>
              <a:rPr lang="ru-RU" dirty="0" smtClean="0"/>
              <a:t>Программный процесс</a:t>
            </a:r>
            <a:endParaRPr lang="ru-RU" dirty="0"/>
          </a:p>
        </p:txBody>
      </p:sp>
      <p:sp>
        <p:nvSpPr>
          <p:cNvPr id="3" name="Содержимое 2"/>
          <p:cNvSpPr>
            <a:spLocks noGrp="1"/>
          </p:cNvSpPr>
          <p:nvPr>
            <p:ph idx="1"/>
          </p:nvPr>
        </p:nvSpPr>
        <p:spPr>
          <a:xfrm>
            <a:off x="457200" y="1600201"/>
            <a:ext cx="8229600" cy="460647"/>
          </a:xfrm>
        </p:spPr>
        <p:txBody>
          <a:bodyPr>
            <a:normAutofit fontScale="85000" lnSpcReduction="20000"/>
          </a:bodyPr>
          <a:lstStyle/>
          <a:p>
            <a:r>
              <a:rPr lang="ru-RU" dirty="0" smtClean="0"/>
              <a:t>Подпроцессы программного процесса</a:t>
            </a:r>
            <a:endParaRPr lang="ru-RU" dirty="0"/>
          </a:p>
        </p:txBody>
      </p:sp>
      <p:sp>
        <p:nvSpPr>
          <p:cNvPr id="5" name="Прямоугольник 4"/>
          <p:cNvSpPr/>
          <p:nvPr/>
        </p:nvSpPr>
        <p:spPr>
          <a:xfrm>
            <a:off x="2303748" y="2098576"/>
            <a:ext cx="4104456" cy="93610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создания программного продукта </a:t>
            </a:r>
          </a:p>
          <a:p>
            <a:pPr algn="ctr"/>
            <a:r>
              <a:rPr lang="en-US" b="1" dirty="0" smtClean="0">
                <a:solidFill>
                  <a:schemeClr val="tx1"/>
                </a:solidFill>
              </a:rPr>
              <a:t>(</a:t>
            </a:r>
            <a:r>
              <a:rPr lang="ru-RU" b="1" dirty="0" smtClean="0">
                <a:solidFill>
                  <a:schemeClr val="tx1"/>
                </a:solidFill>
              </a:rPr>
              <a:t>программный процесс</a:t>
            </a:r>
            <a:r>
              <a:rPr lang="en-US" b="1" dirty="0" smtClean="0">
                <a:solidFill>
                  <a:schemeClr val="tx1"/>
                </a:solidFill>
              </a:rPr>
              <a:t>)</a:t>
            </a:r>
            <a:endParaRPr lang="ru-RU" b="1" dirty="0">
              <a:solidFill>
                <a:schemeClr val="tx1"/>
              </a:solidFill>
            </a:endParaRPr>
          </a:p>
        </p:txBody>
      </p:sp>
      <p:sp>
        <p:nvSpPr>
          <p:cNvPr id="8" name="Прямоугольник 7"/>
          <p:cNvSpPr/>
          <p:nvPr/>
        </p:nvSpPr>
        <p:spPr>
          <a:xfrm>
            <a:off x="539552" y="3897052"/>
            <a:ext cx="2520280" cy="64807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разработки</a:t>
            </a:r>
            <a:endParaRPr lang="ru-RU" b="1" dirty="0">
              <a:solidFill>
                <a:schemeClr val="tx1"/>
              </a:solidFill>
            </a:endParaRPr>
          </a:p>
        </p:txBody>
      </p:sp>
      <p:sp>
        <p:nvSpPr>
          <p:cNvPr id="9" name="Прямоугольник 8"/>
          <p:cNvSpPr/>
          <p:nvPr/>
        </p:nvSpPr>
        <p:spPr>
          <a:xfrm>
            <a:off x="3199656" y="3902360"/>
            <a:ext cx="2592288" cy="64807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управления проектом</a:t>
            </a:r>
            <a:endParaRPr lang="ru-RU" b="1" dirty="0">
              <a:solidFill>
                <a:schemeClr val="tx1"/>
              </a:solidFill>
            </a:endParaRPr>
          </a:p>
        </p:txBody>
      </p:sp>
      <p:sp>
        <p:nvSpPr>
          <p:cNvPr id="10" name="Прямоугольник 9"/>
          <p:cNvSpPr/>
          <p:nvPr/>
        </p:nvSpPr>
        <p:spPr>
          <a:xfrm>
            <a:off x="6236332" y="3897052"/>
            <a:ext cx="2880320" cy="64807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управления конфигурированием ПО</a:t>
            </a:r>
            <a:endParaRPr lang="ru-RU" b="1" dirty="0">
              <a:solidFill>
                <a:schemeClr val="tx1"/>
              </a:solidFill>
            </a:endParaRPr>
          </a:p>
        </p:txBody>
      </p:sp>
      <p:cxnSp>
        <p:nvCxnSpPr>
          <p:cNvPr id="16" name="Прямая со стрелкой 15"/>
          <p:cNvCxnSpPr>
            <a:stCxn id="5" idx="2"/>
            <a:endCxn id="8" idx="0"/>
          </p:cNvCxnSpPr>
          <p:nvPr/>
        </p:nvCxnSpPr>
        <p:spPr>
          <a:xfrm flipH="1">
            <a:off x="1799692" y="3034680"/>
            <a:ext cx="2556284" cy="862372"/>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a:stCxn id="5" idx="2"/>
            <a:endCxn id="9" idx="0"/>
          </p:cNvCxnSpPr>
          <p:nvPr/>
        </p:nvCxnSpPr>
        <p:spPr>
          <a:xfrm>
            <a:off x="4355976" y="3034680"/>
            <a:ext cx="139824" cy="867680"/>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5" idx="2"/>
            <a:endCxn id="10" idx="0"/>
          </p:cNvCxnSpPr>
          <p:nvPr/>
        </p:nvCxnSpPr>
        <p:spPr>
          <a:xfrm>
            <a:off x="4355976" y="3034680"/>
            <a:ext cx="3320516" cy="862372"/>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cstate="print"/>
          <a:srcRect l="31271" t="42926" r="29129" b="17475"/>
          <a:stretch>
            <a:fillRect/>
          </a:stretch>
        </p:blipFill>
        <p:spPr bwMode="auto">
          <a:xfrm>
            <a:off x="9540552" y="1916832"/>
            <a:ext cx="6336704" cy="3960440"/>
          </a:xfrm>
          <a:prstGeom prst="rect">
            <a:avLst/>
          </a:prstGeom>
          <a:noFill/>
          <a:ln w="9525">
            <a:noFill/>
            <a:miter lim="800000"/>
            <a:headEnd/>
            <a:tailEnd/>
          </a:ln>
        </p:spPr>
      </p:pic>
      <p:sp>
        <p:nvSpPr>
          <p:cNvPr id="14" name="Прямоугольник 13"/>
          <p:cNvSpPr/>
          <p:nvPr/>
        </p:nvSpPr>
        <p:spPr>
          <a:xfrm>
            <a:off x="211950" y="4740374"/>
            <a:ext cx="9116652" cy="1938992"/>
          </a:xfrm>
          <a:prstGeom prst="rect">
            <a:avLst/>
          </a:prstGeom>
        </p:spPr>
        <p:txBody>
          <a:bodyPr wrap="square">
            <a:spAutoFit/>
          </a:bodyPr>
          <a:lstStyle/>
          <a:p>
            <a:r>
              <a:rPr lang="ru-RU" sz="2400" b="1" dirty="0"/>
              <a:t>SEPG - </a:t>
            </a:r>
            <a:r>
              <a:rPr lang="en-US" sz="2400" b="1" dirty="0"/>
              <a:t>A Software Engineering Process Group (SEPG) </a:t>
            </a:r>
            <a:r>
              <a:rPr lang="ru-RU" sz="2400" dirty="0"/>
              <a:t>- является координационным центром организации с деятельности по усовершенствованию процессов программного обеспечения. Эти люди выполняют оценку организационных возможностей, </a:t>
            </a:r>
            <a:r>
              <a:rPr lang="ru-RU" sz="2400" dirty="0" smtClean="0"/>
              <a:t>разрабатывают </a:t>
            </a:r>
            <a:r>
              <a:rPr lang="ru-RU" sz="2400" dirty="0"/>
              <a:t>планы по осуществлению необходимых </a:t>
            </a:r>
            <a:r>
              <a:rPr lang="ru-RU" sz="2400" dirty="0" smtClean="0"/>
              <a:t>улучшений</a:t>
            </a:r>
            <a:endParaRPr lang="ru-RU" sz="2400" dirty="0"/>
          </a:p>
        </p:txBody>
      </p:sp>
    </p:spTree>
    <p:extLst>
      <p:ext uri="{BB962C8B-B14F-4D97-AF65-F5344CB8AC3E}">
        <p14:creationId xmlns:p14="http://schemas.microsoft.com/office/powerpoint/2010/main" val="22532577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6194" y="92597"/>
            <a:ext cx="8229600" cy="1143000"/>
          </a:xfrm>
        </p:spPr>
        <p:txBody>
          <a:bodyPr/>
          <a:lstStyle/>
          <a:p>
            <a:r>
              <a:rPr lang="ru-RU" dirty="0" smtClean="0"/>
              <a:t>Программный процесс</a:t>
            </a:r>
            <a:endParaRPr lang="ru-RU" dirty="0"/>
          </a:p>
        </p:txBody>
      </p:sp>
      <p:sp>
        <p:nvSpPr>
          <p:cNvPr id="3" name="Содержимое 2"/>
          <p:cNvSpPr>
            <a:spLocks noGrp="1"/>
          </p:cNvSpPr>
          <p:nvPr>
            <p:ph idx="1"/>
          </p:nvPr>
        </p:nvSpPr>
        <p:spPr>
          <a:xfrm>
            <a:off x="457200" y="1600201"/>
            <a:ext cx="8229600" cy="460647"/>
          </a:xfrm>
        </p:spPr>
        <p:txBody>
          <a:bodyPr>
            <a:normAutofit fontScale="85000" lnSpcReduction="20000"/>
          </a:bodyPr>
          <a:lstStyle/>
          <a:p>
            <a:r>
              <a:rPr lang="ru-RU" dirty="0" smtClean="0"/>
              <a:t>Подпроцессы программного процесса</a:t>
            </a:r>
            <a:endParaRPr lang="ru-RU" dirty="0"/>
          </a:p>
        </p:txBody>
      </p:sp>
      <p:sp>
        <p:nvSpPr>
          <p:cNvPr id="5" name="Прямоугольник 4"/>
          <p:cNvSpPr/>
          <p:nvPr/>
        </p:nvSpPr>
        <p:spPr>
          <a:xfrm>
            <a:off x="2915816" y="2276872"/>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Программный процесс</a:t>
            </a:r>
            <a:endParaRPr lang="ru-RU" b="1" dirty="0">
              <a:solidFill>
                <a:schemeClr val="tx1"/>
              </a:solidFill>
            </a:endParaRPr>
          </a:p>
        </p:txBody>
      </p:sp>
      <p:sp>
        <p:nvSpPr>
          <p:cNvPr id="6" name="Прямоугольник 5"/>
          <p:cNvSpPr/>
          <p:nvPr/>
        </p:nvSpPr>
        <p:spPr>
          <a:xfrm>
            <a:off x="436104" y="3371850"/>
            <a:ext cx="3528392"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создания программного продукта (проект)</a:t>
            </a:r>
            <a:endParaRPr lang="ru-RU" b="1" dirty="0">
              <a:solidFill>
                <a:schemeClr val="tx1"/>
              </a:solidFill>
            </a:endParaRPr>
          </a:p>
        </p:txBody>
      </p:sp>
      <p:sp>
        <p:nvSpPr>
          <p:cNvPr id="7" name="Прямоугольник 6"/>
          <p:cNvSpPr/>
          <p:nvPr/>
        </p:nvSpPr>
        <p:spPr>
          <a:xfrm>
            <a:off x="5225802" y="3429000"/>
            <a:ext cx="2808312"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управления процессами</a:t>
            </a:r>
            <a:endParaRPr lang="ru-RU" b="1" dirty="0">
              <a:solidFill>
                <a:schemeClr val="tx1"/>
              </a:solidFill>
            </a:endParaRPr>
          </a:p>
        </p:txBody>
      </p:sp>
      <p:sp>
        <p:nvSpPr>
          <p:cNvPr id="8" name="Прямоугольник 7"/>
          <p:cNvSpPr/>
          <p:nvPr/>
        </p:nvSpPr>
        <p:spPr>
          <a:xfrm>
            <a:off x="251520" y="5301208"/>
            <a:ext cx="2160240"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разработки</a:t>
            </a:r>
            <a:endParaRPr lang="ru-RU" b="1" dirty="0">
              <a:solidFill>
                <a:schemeClr val="tx1"/>
              </a:solidFill>
            </a:endParaRPr>
          </a:p>
        </p:txBody>
      </p:sp>
      <p:sp>
        <p:nvSpPr>
          <p:cNvPr id="9" name="Прямоугольник 8"/>
          <p:cNvSpPr/>
          <p:nvPr/>
        </p:nvSpPr>
        <p:spPr>
          <a:xfrm>
            <a:off x="2771800" y="5301208"/>
            <a:ext cx="2376264"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управления проектом</a:t>
            </a:r>
            <a:endParaRPr lang="ru-RU" b="1" dirty="0">
              <a:solidFill>
                <a:schemeClr val="tx1"/>
              </a:solidFill>
            </a:endParaRPr>
          </a:p>
        </p:txBody>
      </p:sp>
      <p:sp>
        <p:nvSpPr>
          <p:cNvPr id="10" name="Прямоугольник 9"/>
          <p:cNvSpPr/>
          <p:nvPr/>
        </p:nvSpPr>
        <p:spPr>
          <a:xfrm>
            <a:off x="5868144" y="5301208"/>
            <a:ext cx="2736304"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Процесс управления конфигурированием ПО</a:t>
            </a:r>
            <a:endParaRPr lang="ru-RU" b="1" dirty="0">
              <a:solidFill>
                <a:schemeClr val="tx1"/>
              </a:solidFill>
            </a:endParaRPr>
          </a:p>
        </p:txBody>
      </p:sp>
      <p:cxnSp>
        <p:nvCxnSpPr>
          <p:cNvPr id="12" name="Прямая со стрелкой 11"/>
          <p:cNvCxnSpPr>
            <a:stCxn id="5" idx="2"/>
            <a:endCxn id="6" idx="0"/>
          </p:cNvCxnSpPr>
          <p:nvPr/>
        </p:nvCxnSpPr>
        <p:spPr>
          <a:xfrm flipH="1">
            <a:off x="2200300" y="2852936"/>
            <a:ext cx="2011660" cy="518914"/>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p:nvPr/>
        </p:nvCxnSpPr>
        <p:spPr>
          <a:xfrm>
            <a:off x="4173860" y="2833886"/>
            <a:ext cx="2417998" cy="576064"/>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6" idx="2"/>
            <a:endCxn id="8" idx="0"/>
          </p:cNvCxnSpPr>
          <p:nvPr/>
        </p:nvCxnSpPr>
        <p:spPr>
          <a:xfrm flipH="1">
            <a:off x="1331640" y="3947914"/>
            <a:ext cx="868660" cy="1353294"/>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a:endCxn id="9" idx="0"/>
          </p:cNvCxnSpPr>
          <p:nvPr/>
        </p:nvCxnSpPr>
        <p:spPr>
          <a:xfrm>
            <a:off x="2135696" y="3969060"/>
            <a:ext cx="1824236" cy="1332148"/>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p:nvPr/>
        </p:nvCxnSpPr>
        <p:spPr>
          <a:xfrm>
            <a:off x="2125874" y="3966964"/>
            <a:ext cx="5110422" cy="1296144"/>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cstate="print"/>
          <a:srcRect l="31271" t="42926" r="29129" b="17475"/>
          <a:stretch>
            <a:fillRect/>
          </a:stretch>
        </p:blipFill>
        <p:spPr bwMode="auto">
          <a:xfrm>
            <a:off x="9144000" y="1988840"/>
            <a:ext cx="6336704" cy="3960440"/>
          </a:xfrm>
          <a:prstGeom prst="rect">
            <a:avLst/>
          </a:prstGeom>
          <a:noFill/>
          <a:ln w="9525">
            <a:noFill/>
            <a:miter lim="800000"/>
            <a:headEnd/>
            <a:tailEnd/>
          </a:ln>
        </p:spPr>
      </p:pic>
    </p:spTree>
    <p:extLst>
      <p:ext uri="{BB962C8B-B14F-4D97-AF65-F5344CB8AC3E}">
        <p14:creationId xmlns:p14="http://schemas.microsoft.com/office/powerpoint/2010/main" val="3825144037"/>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274638"/>
            <a:ext cx="7315200" cy="792162"/>
          </a:xfrm>
        </p:spPr>
        <p:txBody>
          <a:bodyPr>
            <a:normAutofit fontScale="90000"/>
          </a:bodyPr>
          <a:lstStyle/>
          <a:p>
            <a:r>
              <a:rPr lang="ru-RU" dirty="0" smtClean="0"/>
              <a:t>Подпроцесс управления конфигурированием ПО</a:t>
            </a:r>
            <a:endParaRPr lang="ru-RU" dirty="0"/>
          </a:p>
        </p:txBody>
      </p:sp>
      <p:sp>
        <p:nvSpPr>
          <p:cNvPr id="3" name="Содержимое 2"/>
          <p:cNvSpPr>
            <a:spLocks noGrp="1"/>
          </p:cNvSpPr>
          <p:nvPr>
            <p:ph idx="1"/>
          </p:nvPr>
        </p:nvSpPr>
        <p:spPr>
          <a:xfrm>
            <a:off x="179512" y="1484784"/>
            <a:ext cx="8712968" cy="5184576"/>
          </a:xfrm>
        </p:spPr>
        <p:txBody>
          <a:bodyPr>
            <a:normAutofit fontScale="85000" lnSpcReduction="10000"/>
          </a:bodyPr>
          <a:lstStyle/>
          <a:p>
            <a:r>
              <a:rPr lang="ru-RU" dirty="0" smtClean="0"/>
              <a:t>В проекте разрабатываются много разных компонент (например, конечный исходный код может состоять из большого числа исходных файлов).</a:t>
            </a:r>
          </a:p>
          <a:p>
            <a:r>
              <a:rPr lang="ru-RU" dirty="0" smtClean="0"/>
              <a:t>Эти компоненты развиваются по мере выполнения проекта, создается большое число их версий.</a:t>
            </a:r>
          </a:p>
          <a:p>
            <a:r>
              <a:rPr lang="ru-RU" dirty="0" smtClean="0"/>
              <a:t>Для управления развитием и изменениями часто используется подпроцесс управления конфигурированием ПО.</a:t>
            </a:r>
          </a:p>
          <a:p>
            <a:r>
              <a:rPr lang="ru-RU" dirty="0" smtClean="0"/>
              <a:t>Данный подпроцесс в основном связан с таким управлением изменениями, чтобы при этом не нарушалась целостность программных продуктов.</a:t>
            </a:r>
            <a:endParaRPr lang="en-US" dirty="0" smtClean="0"/>
          </a:p>
          <a:p>
            <a:endParaRPr lang="en-US" dirty="0" smtClean="0"/>
          </a:p>
          <a:p>
            <a:endParaRPr lang="ru-RU" dirty="0"/>
          </a:p>
        </p:txBody>
      </p:sp>
    </p:spTree>
    <p:extLst>
      <p:ext uri="{BB962C8B-B14F-4D97-AF65-F5344CB8AC3E}">
        <p14:creationId xmlns:p14="http://schemas.microsoft.com/office/powerpoint/2010/main" val="24835658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24000" y="274638"/>
            <a:ext cx="7162800" cy="792162"/>
          </a:xfrm>
        </p:spPr>
        <p:txBody>
          <a:bodyPr>
            <a:normAutofit fontScale="90000"/>
          </a:bodyPr>
          <a:lstStyle/>
          <a:p>
            <a:r>
              <a:rPr lang="ru-RU" dirty="0" smtClean="0"/>
              <a:t>Процесс управления процессами разработки ПО</a:t>
            </a:r>
            <a:endParaRPr lang="ru-RU" dirty="0"/>
          </a:p>
        </p:txBody>
      </p:sp>
      <p:sp>
        <p:nvSpPr>
          <p:cNvPr id="3" name="Содержимое 2"/>
          <p:cNvSpPr>
            <a:spLocks noGrp="1"/>
          </p:cNvSpPr>
          <p:nvPr>
            <p:ph idx="1"/>
          </p:nvPr>
        </p:nvSpPr>
        <p:spPr>
          <a:xfrm>
            <a:off x="179512" y="1600200"/>
            <a:ext cx="8784976" cy="5069160"/>
          </a:xfrm>
        </p:spPr>
        <p:txBody>
          <a:bodyPr>
            <a:normAutofit fontScale="92500" lnSpcReduction="10000"/>
          </a:bodyPr>
          <a:lstStyle/>
          <a:p>
            <a:r>
              <a:rPr lang="ru-RU" dirty="0" smtClean="0"/>
              <a:t>Сами программные процессы изменяются, развиваются, чтобы приспособиться к улучшению понимания разработки ПО и доступности новых технологий и инструментов</a:t>
            </a:r>
          </a:p>
          <a:p>
            <a:r>
              <a:rPr lang="ru-RU" dirty="0" smtClean="0"/>
              <a:t>Основная цель процесс управления процессами разработки ПО является улучшение программного процесса.</a:t>
            </a:r>
          </a:p>
          <a:p>
            <a:r>
              <a:rPr lang="ru-RU" dirty="0" smtClean="0"/>
              <a:t>Под улучшением программного процесса понимается их совершенствование для разработки качественных продуктов при низких затратах.</a:t>
            </a:r>
          </a:p>
          <a:p>
            <a:endParaRPr lang="ru-RU" dirty="0"/>
          </a:p>
        </p:txBody>
      </p:sp>
    </p:spTree>
    <p:extLst>
      <p:ext uri="{BB962C8B-B14F-4D97-AF65-F5344CB8AC3E}">
        <p14:creationId xmlns:p14="http://schemas.microsoft.com/office/powerpoint/2010/main" val="332221954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996952"/>
            <a:ext cx="8229600" cy="1143000"/>
          </a:xfrm>
        </p:spPr>
        <p:txBody>
          <a:bodyPr/>
          <a:lstStyle/>
          <a:p>
            <a:r>
              <a:rPr lang="ru-RU" b="1" dirty="0" smtClean="0"/>
              <a:t>Процесс разработки ПО</a:t>
            </a:r>
            <a:endParaRPr lang="ru-RU" dirty="0"/>
          </a:p>
        </p:txBody>
      </p:sp>
    </p:spTree>
    <p:extLst>
      <p:ext uri="{BB962C8B-B14F-4D97-AF65-F5344CB8AC3E}">
        <p14:creationId xmlns:p14="http://schemas.microsoft.com/office/powerpoint/2010/main" val="19215438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274638"/>
            <a:ext cx="7543800" cy="850106"/>
          </a:xfrm>
        </p:spPr>
        <p:txBody>
          <a:bodyPr>
            <a:normAutofit/>
          </a:bodyPr>
          <a:lstStyle/>
          <a:p>
            <a:r>
              <a:rPr lang="ru-RU" b="1" dirty="0" smtClean="0"/>
              <a:t>Процесс разработки ПО</a:t>
            </a:r>
            <a:endParaRPr lang="ru-RU" b="1" dirty="0"/>
          </a:p>
        </p:txBody>
      </p:sp>
      <p:sp>
        <p:nvSpPr>
          <p:cNvPr id="3" name="Содержимое 2"/>
          <p:cNvSpPr>
            <a:spLocks noGrp="1"/>
          </p:cNvSpPr>
          <p:nvPr>
            <p:ph idx="1"/>
          </p:nvPr>
        </p:nvSpPr>
        <p:spPr>
          <a:xfrm>
            <a:off x="0" y="1371600"/>
            <a:ext cx="9144000" cy="5486400"/>
          </a:xfrm>
        </p:spPr>
        <p:txBody>
          <a:bodyPr>
            <a:normAutofit fontScale="77500" lnSpcReduction="20000"/>
          </a:bodyPr>
          <a:lstStyle/>
          <a:p>
            <a:r>
              <a:rPr lang="ru-RU" dirty="0" smtClean="0"/>
              <a:t>Процесса разработки ПО является базовым процессом и его целью является создание высококачественного программного продукта.</a:t>
            </a:r>
          </a:p>
          <a:p>
            <a:r>
              <a:rPr lang="ru-RU" dirty="0" smtClean="0"/>
              <a:t>Он включает работы, непосредственно связанные с созданием ПО (такие, как проектирование, кодирование и тестирование).</a:t>
            </a:r>
          </a:p>
          <a:p>
            <a:r>
              <a:rPr lang="ru-RU" dirty="0" smtClean="0"/>
              <a:t>Процесс управления принимает решения на основе результатов работы процесса разработки.</a:t>
            </a:r>
          </a:p>
          <a:p>
            <a:r>
              <a:rPr lang="ru-RU" b="1" dirty="0" smtClean="0"/>
              <a:t>Процесса разработки ПО определяет то, какие задачи должны решаться в проекте и в каком порядке они должны выполняться.</a:t>
            </a:r>
          </a:p>
          <a:p>
            <a:r>
              <a:rPr lang="ru-RU" dirty="0" smtClean="0"/>
              <a:t>Он ограничивает свободу выполнения проекта, таким образом, что «кратчайшим» путем (или даже наиболее эффективным) перейти от требований потребителя к ПО, которое им удовлетворяет</a:t>
            </a:r>
          </a:p>
          <a:p>
            <a:r>
              <a:rPr lang="ru-RU" dirty="0" smtClean="0"/>
              <a:t>Данный процесс направляет проект и существенно влияет на полученные результаты.</a:t>
            </a:r>
          </a:p>
          <a:p>
            <a:endParaRPr lang="ru-RU" dirty="0" smtClean="0"/>
          </a:p>
          <a:p>
            <a:endParaRPr lang="ru-RU" dirty="0"/>
          </a:p>
        </p:txBody>
      </p:sp>
    </p:spTree>
    <p:extLst>
      <p:ext uri="{BB962C8B-B14F-4D97-AF65-F5344CB8AC3E}">
        <p14:creationId xmlns:p14="http://schemas.microsoft.com/office/powerpoint/2010/main" val="78088711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457200" y="1600201"/>
            <a:ext cx="8229600" cy="388640"/>
          </a:xfrm>
        </p:spPr>
        <p:txBody>
          <a:bodyPr>
            <a:normAutofit fontScale="70000" lnSpcReduction="20000"/>
          </a:bodyPr>
          <a:lstStyle/>
          <a:p>
            <a:r>
              <a:rPr lang="ru-RU" b="1" dirty="0" smtClean="0"/>
              <a:t>Процесс разработки программного обеспечения</a:t>
            </a:r>
            <a:endParaRPr lang="ru-RU" dirty="0"/>
          </a:p>
        </p:txBody>
      </p:sp>
      <p:pic>
        <p:nvPicPr>
          <p:cNvPr id="5122" name="Picture 2"/>
          <p:cNvPicPr>
            <a:picLocks noChangeAspect="1" noChangeArrowheads="1"/>
          </p:cNvPicPr>
          <p:nvPr/>
        </p:nvPicPr>
        <p:blipFill>
          <a:blip r:embed="rId2" cstate="print"/>
          <a:srcRect l="15522" t="34286" r="10679" b="48434"/>
          <a:stretch>
            <a:fillRect/>
          </a:stretch>
        </p:blipFill>
        <p:spPr bwMode="auto">
          <a:xfrm>
            <a:off x="1187624" y="3501008"/>
            <a:ext cx="7056784" cy="1032700"/>
          </a:xfrm>
          <a:prstGeom prst="rect">
            <a:avLst/>
          </a:prstGeom>
          <a:noFill/>
          <a:ln w="9525">
            <a:noFill/>
            <a:miter lim="800000"/>
            <a:headEnd/>
            <a:tailEnd/>
          </a:ln>
        </p:spPr>
      </p:pic>
    </p:spTree>
    <p:extLst>
      <p:ext uri="{BB962C8B-B14F-4D97-AF65-F5344CB8AC3E}">
        <p14:creationId xmlns:p14="http://schemas.microsoft.com/office/powerpoint/2010/main" val="22743629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274638"/>
            <a:ext cx="7543800" cy="1020762"/>
          </a:xfrm>
        </p:spPr>
        <p:txBody>
          <a:bodyPr/>
          <a:lstStyle/>
          <a:p>
            <a:r>
              <a:rPr lang="ru-RU" dirty="0" smtClean="0"/>
              <a:t>Жизненный цикл ПО</a:t>
            </a:r>
            <a:endParaRPr lang="ru-RU" dirty="0"/>
          </a:p>
        </p:txBody>
      </p:sp>
      <p:sp>
        <p:nvSpPr>
          <p:cNvPr id="3" name="Содержимое 2"/>
          <p:cNvSpPr>
            <a:spLocks noGrp="1"/>
          </p:cNvSpPr>
          <p:nvPr>
            <p:ph idx="1"/>
          </p:nvPr>
        </p:nvSpPr>
        <p:spPr>
          <a:xfrm>
            <a:off x="251520" y="1412776"/>
            <a:ext cx="8712968" cy="5184576"/>
          </a:xfrm>
        </p:spPr>
        <p:txBody>
          <a:bodyPr>
            <a:normAutofit fontScale="85000" lnSpcReduction="20000"/>
          </a:bodyPr>
          <a:lstStyle/>
          <a:p>
            <a:r>
              <a:rPr lang="ru-RU" b="1" dirty="0" smtClean="0"/>
              <a:t>Жизненный цикл </a:t>
            </a:r>
            <a:r>
              <a:rPr lang="ru-RU" dirty="0" smtClean="0"/>
              <a:t>ПО это  период времени, который начинается с момента принятия решения о необходимости создания программного продукта и заканчивается в момент его полного изъятия из эксплуатации. </a:t>
            </a:r>
            <a:endParaRPr lang="en-US" dirty="0" smtClean="0"/>
          </a:p>
          <a:p>
            <a:r>
              <a:rPr lang="ru-RU" dirty="0" smtClean="0"/>
              <a:t>Этот цикл включает процесс построения и развития ПО.</a:t>
            </a:r>
            <a:endParaRPr lang="en-US" dirty="0" smtClean="0"/>
          </a:p>
          <a:p>
            <a:pPr marL="971550" lvl="1" indent="-514350">
              <a:buFont typeface="+mj-lt"/>
              <a:buAutoNum type="arabicPeriod"/>
            </a:pPr>
            <a:r>
              <a:rPr lang="ru-RU" dirty="0" smtClean="0"/>
              <a:t>Выявление и спецификация требований.</a:t>
            </a:r>
          </a:p>
          <a:p>
            <a:pPr marL="971550" lvl="1" indent="-514350">
              <a:buFont typeface="+mj-lt"/>
              <a:buAutoNum type="arabicPeriod"/>
            </a:pPr>
            <a:r>
              <a:rPr lang="ru-RU" dirty="0" smtClean="0"/>
              <a:t>Анализ</a:t>
            </a:r>
          </a:p>
          <a:p>
            <a:pPr marL="971550" lvl="1" indent="-514350">
              <a:buFont typeface="+mj-lt"/>
              <a:buAutoNum type="arabicPeriod"/>
            </a:pPr>
            <a:r>
              <a:rPr lang="ru-RU" dirty="0" smtClean="0"/>
              <a:t>Проектирование</a:t>
            </a:r>
          </a:p>
          <a:p>
            <a:pPr marL="971550" lvl="1" indent="-514350">
              <a:buFont typeface="+mj-lt"/>
              <a:buAutoNum type="arabicPeriod"/>
            </a:pPr>
            <a:r>
              <a:rPr lang="ru-RU" dirty="0" smtClean="0"/>
              <a:t>Кодирование</a:t>
            </a:r>
          </a:p>
          <a:p>
            <a:pPr marL="971550" lvl="1" indent="-514350">
              <a:buFont typeface="+mj-lt"/>
              <a:buAutoNum type="arabicPeriod"/>
            </a:pPr>
            <a:r>
              <a:rPr lang="ru-RU" dirty="0" smtClean="0"/>
              <a:t>Тестирование</a:t>
            </a:r>
          </a:p>
          <a:p>
            <a:pPr marL="971550" lvl="1" indent="-514350">
              <a:buFont typeface="+mj-lt"/>
              <a:buAutoNum type="arabicPeriod"/>
            </a:pPr>
            <a:r>
              <a:rPr lang="ru-RU" dirty="0" smtClean="0"/>
              <a:t>Передача заказчику</a:t>
            </a:r>
          </a:p>
          <a:p>
            <a:pPr marL="971550" lvl="1" indent="-514350">
              <a:buFont typeface="+mj-lt"/>
              <a:buAutoNum type="arabicPeriod"/>
            </a:pPr>
            <a:r>
              <a:rPr lang="ru-RU" dirty="0" smtClean="0"/>
              <a:t>Сопровождение</a:t>
            </a:r>
          </a:p>
          <a:p>
            <a:pPr marL="971550" lvl="1" indent="-514350">
              <a:buFont typeface="+mj-lt"/>
              <a:buAutoNum type="arabicPeriod"/>
            </a:pPr>
            <a:r>
              <a:rPr lang="ru-RU" dirty="0" smtClean="0"/>
              <a:t>Развитие</a:t>
            </a:r>
          </a:p>
          <a:p>
            <a:endParaRPr lang="ru-RU" dirty="0"/>
          </a:p>
        </p:txBody>
      </p:sp>
    </p:spTree>
    <p:extLst>
      <p:ext uri="{BB962C8B-B14F-4D97-AF65-F5344CB8AC3E}">
        <p14:creationId xmlns:p14="http://schemas.microsoft.com/office/powerpoint/2010/main" val="231547138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274638"/>
            <a:ext cx="6858000" cy="639762"/>
          </a:xfrm>
        </p:spPr>
        <p:txBody>
          <a:bodyPr>
            <a:normAutofit fontScale="90000"/>
          </a:bodyPr>
          <a:lstStyle/>
          <a:p>
            <a:r>
              <a:rPr lang="ru-RU" b="1" dirty="0" smtClean="0"/>
              <a:t>Модели процессов разработки ПО</a:t>
            </a:r>
            <a:endParaRPr lang="ru-RU" dirty="0"/>
          </a:p>
        </p:txBody>
      </p:sp>
      <p:sp>
        <p:nvSpPr>
          <p:cNvPr id="3" name="Содержимое 2"/>
          <p:cNvSpPr>
            <a:spLocks noGrp="1"/>
          </p:cNvSpPr>
          <p:nvPr>
            <p:ph idx="1"/>
          </p:nvPr>
        </p:nvSpPr>
        <p:spPr>
          <a:xfrm>
            <a:off x="205680" y="1340768"/>
            <a:ext cx="8686800" cy="5401816"/>
          </a:xfrm>
        </p:spPr>
        <p:txBody>
          <a:bodyPr>
            <a:normAutofit fontScale="77500" lnSpcReduction="20000"/>
          </a:bodyPr>
          <a:lstStyle/>
          <a:p>
            <a:r>
              <a:rPr lang="ru-RU" dirty="0" smtClean="0"/>
              <a:t>Модель процесса (МП) описывает обобщенный процесс, и обычно включает:</a:t>
            </a:r>
          </a:p>
          <a:p>
            <a:pPr lvl="1"/>
            <a:r>
              <a:rPr lang="ru-RU" dirty="0" smtClean="0"/>
              <a:t>набор этапов, на которые должен быть разделен процесс</a:t>
            </a:r>
            <a:r>
              <a:rPr lang="en-US" dirty="0" smtClean="0"/>
              <a:t>;</a:t>
            </a:r>
            <a:endParaRPr lang="ru-RU" dirty="0" smtClean="0"/>
          </a:p>
          <a:p>
            <a:pPr lvl="1"/>
            <a:r>
              <a:rPr lang="ru-RU" dirty="0" smtClean="0"/>
              <a:t>порядок, в котором эти процессы должны выполняться</a:t>
            </a:r>
            <a:r>
              <a:rPr lang="en-US" dirty="0" smtClean="0"/>
              <a:t>; </a:t>
            </a:r>
            <a:endParaRPr lang="ru-RU" dirty="0" smtClean="0"/>
          </a:p>
          <a:p>
            <a:pPr lvl="1"/>
            <a:r>
              <a:rPr lang="ru-RU" dirty="0" smtClean="0"/>
              <a:t>разные ограничения и условия на выполнение  этих этапов</a:t>
            </a:r>
            <a:r>
              <a:rPr lang="en-US" dirty="0" smtClean="0"/>
              <a:t>. </a:t>
            </a:r>
            <a:endParaRPr lang="ru-RU" dirty="0" smtClean="0"/>
          </a:p>
          <a:p>
            <a:r>
              <a:rPr lang="ru-RU" dirty="0" smtClean="0"/>
              <a:t>Основное предположение для модели процесса заключается в том, что в тех ситуациях, когда данная модель является применимой</a:t>
            </a:r>
            <a:r>
              <a:rPr lang="en-US" dirty="0" smtClean="0"/>
              <a:t>, </a:t>
            </a:r>
            <a:r>
              <a:rPr lang="ru-RU" dirty="0" smtClean="0"/>
              <a:t>ее использование в качестве процесса проекта позволит:</a:t>
            </a:r>
          </a:p>
          <a:p>
            <a:pPr marL="628650" lvl="1" indent="-228600">
              <a:buFont typeface="+mj-lt"/>
              <a:buAutoNum type="arabicPeriod"/>
            </a:pPr>
            <a:r>
              <a:rPr lang="ru-RU" dirty="0" smtClean="0"/>
              <a:t> уменьшить расходы</a:t>
            </a:r>
            <a:r>
              <a:rPr lang="en-US" dirty="0" smtClean="0"/>
              <a:t>, </a:t>
            </a:r>
            <a:endParaRPr lang="ru-RU" dirty="0" smtClean="0"/>
          </a:p>
          <a:p>
            <a:pPr marL="628650" lvl="1" indent="-228600">
              <a:buFont typeface="+mj-lt"/>
              <a:buAutoNum type="arabicPeriod"/>
            </a:pPr>
            <a:r>
              <a:rPr lang="ru-RU" dirty="0" smtClean="0"/>
              <a:t> повысить качество</a:t>
            </a:r>
            <a:r>
              <a:rPr lang="en-US" dirty="0" smtClean="0"/>
              <a:t>, </a:t>
            </a:r>
            <a:endParaRPr lang="ru-RU" dirty="0" smtClean="0"/>
          </a:p>
          <a:p>
            <a:pPr marL="628650" lvl="1" indent="-228600">
              <a:buFont typeface="+mj-lt"/>
              <a:buAutoNum type="arabicPeriod"/>
            </a:pPr>
            <a:r>
              <a:rPr lang="ru-RU" dirty="0" smtClean="0"/>
              <a:t> уменьшить время разработки,</a:t>
            </a:r>
            <a:r>
              <a:rPr lang="en-US" dirty="0" smtClean="0"/>
              <a:t> </a:t>
            </a:r>
            <a:endParaRPr lang="ru-RU" dirty="0" smtClean="0"/>
          </a:p>
          <a:p>
            <a:pPr marL="628650" lvl="1" indent="-228600">
              <a:buFont typeface="+mj-lt"/>
              <a:buAutoNum type="arabicPeriod"/>
            </a:pPr>
            <a:r>
              <a:rPr lang="ru-RU" dirty="0" smtClean="0"/>
              <a:t> а также принести другие выгоды</a:t>
            </a:r>
            <a:r>
              <a:rPr lang="en-US" dirty="0" smtClean="0"/>
              <a:t>.</a:t>
            </a:r>
            <a:endParaRPr lang="ru-RU" dirty="0" smtClean="0"/>
          </a:p>
          <a:p>
            <a:pPr marL="228600" indent="-228600"/>
            <a:r>
              <a:rPr lang="ru-RU" dirty="0" smtClean="0"/>
              <a:t>Другими словами</a:t>
            </a:r>
            <a:r>
              <a:rPr lang="en-US" dirty="0" smtClean="0"/>
              <a:t>, </a:t>
            </a:r>
            <a:r>
              <a:rPr lang="ru-RU" dirty="0" smtClean="0"/>
              <a:t>модель процесса предоставляет общие методические указания для разработки подходящего процесса  выполнения проекта. </a:t>
            </a:r>
          </a:p>
          <a:p>
            <a:endParaRPr lang="ru-RU" dirty="0"/>
          </a:p>
        </p:txBody>
      </p:sp>
    </p:spTree>
    <p:extLst>
      <p:ext uri="{BB962C8B-B14F-4D97-AF65-F5344CB8AC3E}">
        <p14:creationId xmlns:p14="http://schemas.microsoft.com/office/powerpoint/2010/main" val="13073977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76400" y="274638"/>
            <a:ext cx="7010400" cy="944562"/>
          </a:xfrm>
        </p:spPr>
        <p:txBody>
          <a:bodyPr/>
          <a:lstStyle/>
          <a:p>
            <a:r>
              <a:rPr lang="ru-RU" dirty="0" smtClean="0"/>
              <a:t>Основные модели</a:t>
            </a:r>
            <a:endParaRPr lang="ru-RU" dirty="0"/>
          </a:p>
        </p:txBody>
      </p:sp>
      <p:sp>
        <p:nvSpPr>
          <p:cNvPr id="3" name="Содержимое 2"/>
          <p:cNvSpPr>
            <a:spLocks noGrp="1"/>
          </p:cNvSpPr>
          <p:nvPr>
            <p:ph idx="1"/>
          </p:nvPr>
        </p:nvSpPr>
        <p:spPr/>
        <p:txBody>
          <a:bodyPr>
            <a:normAutofit lnSpcReduction="10000"/>
          </a:bodyPr>
          <a:lstStyle/>
          <a:p>
            <a:pPr marL="0" indent="0">
              <a:buNone/>
            </a:pPr>
            <a:r>
              <a:rPr lang="ru-RU" dirty="0" smtClean="0"/>
              <a:t>Основными моделями процесса разработки ПО являются следующие</a:t>
            </a:r>
            <a:r>
              <a:rPr lang="en-US" dirty="0" smtClean="0"/>
              <a:t>:</a:t>
            </a:r>
            <a:endParaRPr lang="ru-RU" dirty="0" smtClean="0"/>
          </a:p>
          <a:p>
            <a:pPr marL="228600" indent="-228600">
              <a:buAutoNum type="arabicPeriod"/>
            </a:pPr>
            <a:r>
              <a:rPr lang="ru-RU" dirty="0" smtClean="0"/>
              <a:t>Модель водопада</a:t>
            </a:r>
          </a:p>
          <a:p>
            <a:pPr marL="228600" indent="-228600">
              <a:buAutoNum type="arabicPeriod"/>
            </a:pPr>
            <a:r>
              <a:rPr lang="ru-RU" dirty="0" smtClean="0"/>
              <a:t>Прототипирование </a:t>
            </a:r>
          </a:p>
          <a:p>
            <a:pPr marL="228600" indent="-228600">
              <a:buAutoNum type="arabicPeriod"/>
            </a:pPr>
            <a:r>
              <a:rPr lang="ru-RU" dirty="0" smtClean="0"/>
              <a:t>Итеративная разработка</a:t>
            </a:r>
          </a:p>
          <a:p>
            <a:pPr marL="228600" indent="-228600">
              <a:buAutoNum type="arabicPeriod"/>
            </a:pPr>
            <a:r>
              <a:rPr lang="en-US" dirty="0" smtClean="0"/>
              <a:t>Rational Unified Process</a:t>
            </a:r>
            <a:endParaRPr lang="ru-RU" dirty="0" smtClean="0"/>
          </a:p>
          <a:p>
            <a:pPr marL="228600" indent="-228600">
              <a:buAutoNum type="arabicPeriod"/>
            </a:pPr>
            <a:r>
              <a:rPr lang="ru-RU" dirty="0" smtClean="0">
                <a:solidFill>
                  <a:srgbClr val="FFC000"/>
                </a:solidFill>
              </a:rPr>
              <a:t>Модель временных ящиков</a:t>
            </a:r>
          </a:p>
          <a:p>
            <a:pPr marL="228600" indent="-228600">
              <a:buAutoNum type="arabicPeriod"/>
            </a:pPr>
            <a:r>
              <a:rPr lang="ru-RU" dirty="0" smtClean="0"/>
              <a:t>Гибкая разработка.</a:t>
            </a:r>
          </a:p>
          <a:p>
            <a:pPr marL="228600" indent="-228600">
              <a:buAutoNum type="arabicPeriod"/>
            </a:pPr>
            <a:endParaRPr lang="ru-RU" dirty="0"/>
          </a:p>
        </p:txBody>
      </p:sp>
    </p:spTree>
    <p:extLst>
      <p:ext uri="{BB962C8B-B14F-4D97-AF65-F5344CB8AC3E}">
        <p14:creationId xmlns:p14="http://schemas.microsoft.com/office/powerpoint/2010/main" val="17530323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Модель процесса</a:t>
            </a:r>
            <a:endParaRPr lang="ru-RU" dirty="0"/>
          </a:p>
        </p:txBody>
      </p:sp>
      <p:sp>
        <p:nvSpPr>
          <p:cNvPr id="3" name="Содержимое 2"/>
          <p:cNvSpPr>
            <a:spLocks noGrp="1"/>
          </p:cNvSpPr>
          <p:nvPr>
            <p:ph idx="1"/>
          </p:nvPr>
        </p:nvSpPr>
        <p:spPr>
          <a:xfrm>
            <a:off x="179512" y="1600200"/>
            <a:ext cx="8784976" cy="5141168"/>
          </a:xfrm>
        </p:spPr>
        <p:txBody>
          <a:bodyPr>
            <a:normAutofit fontScale="77500" lnSpcReduction="20000"/>
          </a:bodyPr>
          <a:lstStyle/>
          <a:p>
            <a:r>
              <a:rPr lang="ru-RU" b="1" i="1" dirty="0" smtClean="0"/>
              <a:t>Модель процесса</a:t>
            </a:r>
            <a:r>
              <a:rPr lang="ru-RU" dirty="0" smtClean="0"/>
              <a:t> описывает (специфицирует) общий процесс</a:t>
            </a:r>
            <a:r>
              <a:rPr lang="en-US" i="1" dirty="0" smtClean="0"/>
              <a:t>, </a:t>
            </a:r>
            <a:r>
              <a:rPr lang="ru-RU" i="1" dirty="0" smtClean="0"/>
              <a:t>который является «оптимальным» для </a:t>
            </a:r>
            <a:r>
              <a:rPr lang="ru-RU" b="1" i="1" dirty="0" smtClean="0"/>
              <a:t>некоторого класса проектов</a:t>
            </a:r>
            <a:r>
              <a:rPr lang="en-US" dirty="0" smtClean="0"/>
              <a:t>. </a:t>
            </a:r>
            <a:endParaRPr lang="ru-RU" dirty="0" smtClean="0"/>
          </a:p>
          <a:p>
            <a:r>
              <a:rPr lang="ru-RU" dirty="0" smtClean="0"/>
              <a:t>Т.е. в ситуациях, для которых данная модель является применимой</a:t>
            </a:r>
            <a:r>
              <a:rPr lang="en-US" dirty="0" smtClean="0"/>
              <a:t>, </a:t>
            </a:r>
            <a:r>
              <a:rPr lang="ru-RU" dirty="0" smtClean="0"/>
              <a:t>использование данной модели процесса приведет к достижению цели разработки ПО с высокими показателями К</a:t>
            </a:r>
            <a:r>
              <a:rPr lang="en-US" dirty="0" smtClean="0"/>
              <a:t>&amp;</a:t>
            </a:r>
            <a:r>
              <a:rPr lang="ru-RU" dirty="0" smtClean="0"/>
              <a:t>П</a:t>
            </a:r>
            <a:r>
              <a:rPr lang="en-US" dirty="0" smtClean="0"/>
              <a:t>. </a:t>
            </a:r>
            <a:endParaRPr lang="ru-RU" dirty="0" smtClean="0"/>
          </a:p>
          <a:p>
            <a:r>
              <a:rPr lang="ru-RU" dirty="0" smtClean="0"/>
              <a:t>Модель процесса фактически является объединением лучших практических решений в некоторый «рецепт» успешного выполнения проекта.</a:t>
            </a:r>
          </a:p>
          <a:p>
            <a:r>
              <a:rPr lang="ru-RU" dirty="0" smtClean="0"/>
              <a:t>Процесс часто специфицируется (детально описывается) в виде последовательностей высокоуровневых этапов.</a:t>
            </a:r>
          </a:p>
          <a:p>
            <a:r>
              <a:rPr lang="ru-RU" dirty="0" smtClean="0"/>
              <a:t>В свою очередь каждый из этапов состоит из более мелких шагов и иногда называется подпроцессом.</a:t>
            </a:r>
            <a:endParaRPr lang="en-US" dirty="0" smtClean="0"/>
          </a:p>
          <a:p>
            <a:endParaRPr lang="ru-RU" dirty="0"/>
          </a:p>
        </p:txBody>
      </p:sp>
    </p:spTree>
    <p:extLst>
      <p:ext uri="{BB962C8B-B14F-4D97-AF65-F5344CB8AC3E}">
        <p14:creationId xmlns:p14="http://schemas.microsoft.com/office/powerpoint/2010/main" val="28145308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1. Модель водопада</a:t>
            </a:r>
            <a:endParaRPr lang="ru-RU" dirty="0"/>
          </a:p>
        </p:txBody>
      </p:sp>
      <p:sp>
        <p:nvSpPr>
          <p:cNvPr id="3" name="Содержимое 2"/>
          <p:cNvSpPr>
            <a:spLocks noGrp="1"/>
          </p:cNvSpPr>
          <p:nvPr>
            <p:ph idx="1"/>
          </p:nvPr>
        </p:nvSpPr>
        <p:spPr>
          <a:xfrm>
            <a:off x="113020" y="1555576"/>
            <a:ext cx="8892480" cy="5257800"/>
          </a:xfrm>
        </p:spPr>
        <p:txBody>
          <a:bodyPr>
            <a:normAutofit fontScale="70000" lnSpcReduction="20000"/>
          </a:bodyPr>
          <a:lstStyle/>
          <a:p>
            <a:r>
              <a:rPr lang="ru-RU" dirty="0" smtClean="0"/>
              <a:t>Самой простой моделью процесса является модель водопада, в соответствии с которой все этапы организованы в линейном порядке. </a:t>
            </a:r>
          </a:p>
          <a:p>
            <a:r>
              <a:rPr lang="ru-RU" dirty="0" smtClean="0"/>
              <a:t>Имеется много вариантов данной модели, включающих разные виды работ и разный поток управления между ними.</a:t>
            </a:r>
          </a:p>
          <a:p>
            <a:r>
              <a:rPr lang="ru-RU" dirty="0" smtClean="0"/>
              <a:t>В данной модели проект начинается с </a:t>
            </a:r>
            <a:r>
              <a:rPr lang="ru-RU" b="1" i="1" dirty="0" smtClean="0"/>
              <a:t>анализа осуществимости</a:t>
            </a:r>
            <a:r>
              <a:rPr lang="ru-RU" dirty="0" smtClean="0"/>
              <a:t>.</a:t>
            </a:r>
          </a:p>
          <a:p>
            <a:r>
              <a:rPr lang="ru-RU" dirty="0" smtClean="0"/>
              <a:t>При успешной демонстрации осуществимости проекта, начинается </a:t>
            </a:r>
            <a:r>
              <a:rPr lang="ru-RU" b="1" i="1" dirty="0" smtClean="0"/>
              <a:t>анализ требований и планирование проекта</a:t>
            </a:r>
            <a:r>
              <a:rPr lang="ru-RU" dirty="0" smtClean="0"/>
              <a:t>.</a:t>
            </a:r>
          </a:p>
          <a:p>
            <a:r>
              <a:rPr lang="ru-RU" dirty="0" smtClean="0"/>
              <a:t>После завершения анализа требований начинается </a:t>
            </a:r>
            <a:r>
              <a:rPr lang="ru-RU" b="1" i="1" dirty="0" smtClean="0"/>
              <a:t>проектирование</a:t>
            </a:r>
            <a:r>
              <a:rPr lang="ru-RU" dirty="0" smtClean="0"/>
              <a:t>, а после него начинается </a:t>
            </a:r>
            <a:r>
              <a:rPr lang="ru-RU" b="1" i="1" dirty="0" smtClean="0"/>
              <a:t>составление (кодирование) программы</a:t>
            </a:r>
            <a:r>
              <a:rPr lang="ru-RU" dirty="0" smtClean="0"/>
              <a:t>.</a:t>
            </a:r>
          </a:p>
          <a:p>
            <a:r>
              <a:rPr lang="ru-RU" dirty="0" smtClean="0"/>
              <a:t>После успешного завершения программирования, созданный код объединяется и выполняется тестирование.</a:t>
            </a:r>
          </a:p>
          <a:p>
            <a:r>
              <a:rPr lang="ru-RU" dirty="0" smtClean="0"/>
              <a:t>После успешного завершения тестирования, система устанавливается у заказчика.</a:t>
            </a:r>
          </a:p>
          <a:p>
            <a:r>
              <a:rPr lang="ru-RU" dirty="0" smtClean="0"/>
              <a:t>После этого выполняется постоянное использование созданного ПО и его поддержка.</a:t>
            </a:r>
          </a:p>
          <a:p>
            <a:endParaRPr lang="ru-RU" dirty="0" smtClean="0"/>
          </a:p>
          <a:p>
            <a:endParaRPr lang="ru-RU" dirty="0" smtClean="0"/>
          </a:p>
          <a:p>
            <a:endParaRPr lang="ru-RU" dirty="0"/>
          </a:p>
        </p:txBody>
      </p:sp>
    </p:spTree>
    <p:extLst>
      <p:ext uri="{BB962C8B-B14F-4D97-AF65-F5344CB8AC3E}">
        <p14:creationId xmlns:p14="http://schemas.microsoft.com/office/powerpoint/2010/main" val="13217907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lstStyle/>
          <a:p>
            <a:r>
              <a:rPr lang="ru-RU" dirty="0" smtClean="0"/>
              <a:t>Модель водопада</a:t>
            </a:r>
            <a:endParaRPr lang="ru-RU" dirty="0"/>
          </a:p>
        </p:txBody>
      </p:sp>
      <p:pic>
        <p:nvPicPr>
          <p:cNvPr id="4" name="Picture 2"/>
          <p:cNvPicPr>
            <a:picLocks noChangeAspect="1" noChangeArrowheads="1"/>
          </p:cNvPicPr>
          <p:nvPr/>
        </p:nvPicPr>
        <p:blipFill>
          <a:blip r:embed="rId3" cstate="print"/>
          <a:srcRect/>
          <a:stretch>
            <a:fillRect/>
          </a:stretch>
        </p:blipFill>
        <p:spPr bwMode="auto">
          <a:xfrm>
            <a:off x="9540552" y="0"/>
            <a:ext cx="5010737" cy="6858000"/>
          </a:xfrm>
          <a:prstGeom prst="rect">
            <a:avLst/>
          </a:prstGeom>
          <a:noFill/>
          <a:ln w="9525">
            <a:noFill/>
            <a:miter lim="800000"/>
            <a:headEnd/>
            <a:tailEnd/>
          </a:ln>
        </p:spPr>
      </p:pic>
      <p:sp>
        <p:nvSpPr>
          <p:cNvPr id="5" name="Прямоугольник 4"/>
          <p:cNvSpPr/>
          <p:nvPr/>
        </p:nvSpPr>
        <p:spPr>
          <a:xfrm>
            <a:off x="179512" y="134076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1. Реализуемость системы</a:t>
            </a:r>
            <a:endParaRPr lang="ru-RU" b="1" dirty="0">
              <a:solidFill>
                <a:schemeClr val="tx1"/>
              </a:solidFill>
            </a:endParaRPr>
          </a:p>
        </p:txBody>
      </p:sp>
      <p:sp>
        <p:nvSpPr>
          <p:cNvPr id="6" name="Прямоугольник 5"/>
          <p:cNvSpPr/>
          <p:nvPr/>
        </p:nvSpPr>
        <p:spPr>
          <a:xfrm>
            <a:off x="899592" y="206084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2. Анализ требований и планирование проекта</a:t>
            </a:r>
            <a:endParaRPr lang="ru-RU" b="1" dirty="0">
              <a:solidFill>
                <a:schemeClr val="tx1"/>
              </a:solidFill>
            </a:endParaRPr>
          </a:p>
        </p:txBody>
      </p:sp>
      <p:sp>
        <p:nvSpPr>
          <p:cNvPr id="7" name="Прямоугольник 6"/>
          <p:cNvSpPr/>
          <p:nvPr/>
        </p:nvSpPr>
        <p:spPr>
          <a:xfrm>
            <a:off x="1547664" y="278092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3. Системное проектирование</a:t>
            </a:r>
            <a:endParaRPr lang="ru-RU" b="1" dirty="0">
              <a:solidFill>
                <a:schemeClr val="tx1"/>
              </a:solidFill>
            </a:endParaRPr>
          </a:p>
        </p:txBody>
      </p:sp>
      <p:sp>
        <p:nvSpPr>
          <p:cNvPr id="8" name="Прямоугольник 7"/>
          <p:cNvSpPr/>
          <p:nvPr/>
        </p:nvSpPr>
        <p:spPr>
          <a:xfrm>
            <a:off x="2411760" y="350100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4. Детальное проектирование</a:t>
            </a:r>
            <a:endParaRPr lang="ru-RU" b="1" dirty="0">
              <a:solidFill>
                <a:schemeClr val="tx1"/>
              </a:solidFill>
            </a:endParaRPr>
          </a:p>
        </p:txBody>
      </p:sp>
      <p:sp>
        <p:nvSpPr>
          <p:cNvPr id="9" name="Дуга 8"/>
          <p:cNvSpPr/>
          <p:nvPr/>
        </p:nvSpPr>
        <p:spPr>
          <a:xfrm>
            <a:off x="2324254" y="1617836"/>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0" name="Прямоугольник 9"/>
          <p:cNvSpPr/>
          <p:nvPr/>
        </p:nvSpPr>
        <p:spPr>
          <a:xfrm>
            <a:off x="2987824" y="1340768"/>
            <a:ext cx="2592288"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Отчет о реализуемости</a:t>
            </a:r>
            <a:endParaRPr lang="ru-RU" dirty="0">
              <a:solidFill>
                <a:schemeClr val="tx1"/>
              </a:solidFill>
            </a:endParaRPr>
          </a:p>
        </p:txBody>
      </p:sp>
      <p:sp>
        <p:nvSpPr>
          <p:cNvPr id="11" name="Прямоугольник 10"/>
          <p:cNvSpPr/>
          <p:nvPr/>
        </p:nvSpPr>
        <p:spPr>
          <a:xfrm>
            <a:off x="3491880" y="2060848"/>
            <a:ext cx="3240360"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Спецификация требований и план проекта</a:t>
            </a:r>
            <a:endParaRPr lang="ru-RU" dirty="0">
              <a:solidFill>
                <a:schemeClr val="tx1"/>
              </a:solidFill>
            </a:endParaRPr>
          </a:p>
        </p:txBody>
      </p:sp>
      <p:sp>
        <p:nvSpPr>
          <p:cNvPr id="12" name="Прямоугольник 11"/>
          <p:cNvSpPr/>
          <p:nvPr/>
        </p:nvSpPr>
        <p:spPr>
          <a:xfrm>
            <a:off x="3347864" y="422108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5. Кодирование</a:t>
            </a:r>
            <a:endParaRPr lang="ru-RU" b="1" dirty="0">
              <a:solidFill>
                <a:schemeClr val="tx1"/>
              </a:solidFill>
            </a:endParaRPr>
          </a:p>
        </p:txBody>
      </p:sp>
      <p:sp>
        <p:nvSpPr>
          <p:cNvPr id="13" name="Прямоугольник 12"/>
          <p:cNvSpPr/>
          <p:nvPr/>
        </p:nvSpPr>
        <p:spPr>
          <a:xfrm>
            <a:off x="4067944" y="4910172"/>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6. Тестирование</a:t>
            </a:r>
            <a:endParaRPr lang="ru-RU" b="1" dirty="0">
              <a:solidFill>
                <a:schemeClr val="tx1"/>
              </a:solidFill>
            </a:endParaRPr>
          </a:p>
        </p:txBody>
      </p:sp>
      <p:sp>
        <p:nvSpPr>
          <p:cNvPr id="15" name="Дуга 14"/>
          <p:cNvSpPr/>
          <p:nvPr/>
        </p:nvSpPr>
        <p:spPr>
          <a:xfrm>
            <a:off x="3018820" y="2327900"/>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6" name="Дуга 15"/>
          <p:cNvSpPr/>
          <p:nvPr/>
        </p:nvSpPr>
        <p:spPr>
          <a:xfrm>
            <a:off x="3682390" y="3032482"/>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7" name="Дуга 16"/>
          <p:cNvSpPr/>
          <p:nvPr/>
        </p:nvSpPr>
        <p:spPr>
          <a:xfrm>
            <a:off x="4541004" y="3752562"/>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8" name="Дуга 17"/>
          <p:cNvSpPr/>
          <p:nvPr/>
        </p:nvSpPr>
        <p:spPr>
          <a:xfrm>
            <a:off x="5482590" y="4457144"/>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19" name="Дуга 18"/>
          <p:cNvSpPr/>
          <p:nvPr/>
        </p:nvSpPr>
        <p:spPr>
          <a:xfrm>
            <a:off x="6228184" y="5157192"/>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20" name="Дуга 19"/>
          <p:cNvSpPr/>
          <p:nvPr/>
        </p:nvSpPr>
        <p:spPr>
          <a:xfrm>
            <a:off x="7133292" y="5826968"/>
            <a:ext cx="914400" cy="914400"/>
          </a:xfrm>
          <a:prstGeom prst="arc">
            <a:avLst/>
          </a:pr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
        <p:nvSpPr>
          <p:cNvPr id="21" name="Прямоугольник 20"/>
          <p:cNvSpPr/>
          <p:nvPr/>
        </p:nvSpPr>
        <p:spPr>
          <a:xfrm>
            <a:off x="5004048" y="5589240"/>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7. Установка</a:t>
            </a:r>
            <a:endParaRPr lang="ru-RU" b="1" dirty="0">
              <a:solidFill>
                <a:schemeClr val="tx1"/>
              </a:solidFill>
            </a:endParaRPr>
          </a:p>
        </p:txBody>
      </p:sp>
      <p:sp>
        <p:nvSpPr>
          <p:cNvPr id="22" name="Прямоугольник 21"/>
          <p:cNvSpPr/>
          <p:nvPr/>
        </p:nvSpPr>
        <p:spPr>
          <a:xfrm>
            <a:off x="6084168" y="6266438"/>
            <a:ext cx="2592288" cy="5760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smtClean="0">
                <a:solidFill>
                  <a:schemeClr val="tx1"/>
                </a:solidFill>
              </a:rPr>
              <a:t>8. Сопровождение и  развитие</a:t>
            </a:r>
            <a:endParaRPr lang="ru-RU" b="1" dirty="0">
              <a:solidFill>
                <a:schemeClr val="tx1"/>
              </a:solidFill>
            </a:endParaRPr>
          </a:p>
        </p:txBody>
      </p:sp>
      <p:sp>
        <p:nvSpPr>
          <p:cNvPr id="23" name="Прямоугольник 22"/>
          <p:cNvSpPr/>
          <p:nvPr/>
        </p:nvSpPr>
        <p:spPr>
          <a:xfrm>
            <a:off x="4283968" y="2708920"/>
            <a:ext cx="3024336"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Описание проекта системы</a:t>
            </a:r>
            <a:endParaRPr lang="ru-RU" dirty="0">
              <a:solidFill>
                <a:schemeClr val="tx1"/>
              </a:solidFill>
            </a:endParaRPr>
          </a:p>
        </p:txBody>
      </p:sp>
      <p:sp>
        <p:nvSpPr>
          <p:cNvPr id="24" name="Прямоугольник 23"/>
          <p:cNvSpPr/>
          <p:nvPr/>
        </p:nvSpPr>
        <p:spPr>
          <a:xfrm>
            <a:off x="4932040" y="3429000"/>
            <a:ext cx="3312368"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Детальный проект системы</a:t>
            </a:r>
            <a:endParaRPr lang="ru-RU" dirty="0">
              <a:solidFill>
                <a:schemeClr val="tx1"/>
              </a:solidFill>
            </a:endParaRPr>
          </a:p>
        </p:txBody>
      </p:sp>
      <p:sp>
        <p:nvSpPr>
          <p:cNvPr id="25" name="Прямоугольник 24"/>
          <p:cNvSpPr/>
          <p:nvPr/>
        </p:nvSpPr>
        <p:spPr>
          <a:xfrm>
            <a:off x="5796136" y="4149080"/>
            <a:ext cx="2520280"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Программный код</a:t>
            </a:r>
            <a:endParaRPr lang="ru-RU" dirty="0">
              <a:solidFill>
                <a:schemeClr val="tx1"/>
              </a:solidFill>
            </a:endParaRPr>
          </a:p>
        </p:txBody>
      </p:sp>
      <p:sp>
        <p:nvSpPr>
          <p:cNvPr id="26" name="Прямоугольник 25"/>
          <p:cNvSpPr/>
          <p:nvPr/>
        </p:nvSpPr>
        <p:spPr>
          <a:xfrm>
            <a:off x="6407696" y="4797152"/>
            <a:ext cx="2736304"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План  и отчет о тестировании, руководства</a:t>
            </a:r>
            <a:endParaRPr lang="ru-RU" dirty="0">
              <a:solidFill>
                <a:schemeClr val="tx1"/>
              </a:solidFill>
            </a:endParaRPr>
          </a:p>
        </p:txBody>
      </p:sp>
      <p:sp>
        <p:nvSpPr>
          <p:cNvPr id="27" name="Прямоугольник 26"/>
          <p:cNvSpPr/>
          <p:nvPr/>
        </p:nvSpPr>
        <p:spPr>
          <a:xfrm>
            <a:off x="7740352" y="5589240"/>
            <a:ext cx="1512168" cy="5760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chemeClr val="tx1"/>
                </a:solidFill>
              </a:rPr>
              <a:t>Отчет об </a:t>
            </a:r>
          </a:p>
          <a:p>
            <a:pPr algn="ctr"/>
            <a:r>
              <a:rPr lang="ru-RU" dirty="0" smtClean="0">
                <a:solidFill>
                  <a:schemeClr val="tx1"/>
                </a:solidFill>
              </a:rPr>
              <a:t>установке</a:t>
            </a:r>
            <a:endParaRPr lang="ru-RU" dirty="0">
              <a:solidFill>
                <a:schemeClr val="tx1"/>
              </a:solidFill>
            </a:endParaRPr>
          </a:p>
        </p:txBody>
      </p:sp>
    </p:spTree>
    <p:extLst>
      <p:ext uri="{BB962C8B-B14F-4D97-AF65-F5344CB8AC3E}">
        <p14:creationId xmlns:p14="http://schemas.microsoft.com/office/powerpoint/2010/main" val="32393834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0"/>
            <a:ext cx="8229600" cy="1143000"/>
          </a:xfrm>
        </p:spPr>
        <p:txBody>
          <a:bodyPr/>
          <a:lstStyle/>
          <a:p>
            <a:r>
              <a:rPr lang="ru-RU" dirty="0"/>
              <a:t>Модель водопада</a:t>
            </a:r>
            <a:endParaRPr lang="ru-RU" dirty="0"/>
          </a:p>
        </p:txBody>
      </p:sp>
      <p:sp>
        <p:nvSpPr>
          <p:cNvPr id="3" name="Содержимое 2"/>
          <p:cNvSpPr>
            <a:spLocks noGrp="1"/>
          </p:cNvSpPr>
          <p:nvPr>
            <p:ph idx="1"/>
          </p:nvPr>
        </p:nvSpPr>
        <p:spPr>
          <a:xfrm>
            <a:off x="72008" y="1555576"/>
            <a:ext cx="8964488" cy="5257800"/>
          </a:xfrm>
        </p:spPr>
        <p:txBody>
          <a:bodyPr>
            <a:normAutofit fontScale="85000" lnSpcReduction="20000"/>
          </a:bodyPr>
          <a:lstStyle/>
          <a:p>
            <a:r>
              <a:rPr lang="ru-RU" dirty="0" smtClean="0"/>
              <a:t>На данной схеме этап анализа требований назван «анализом и планированием».</a:t>
            </a:r>
          </a:p>
          <a:p>
            <a:r>
              <a:rPr lang="ru-RU" dirty="0" smtClean="0"/>
              <a:t>Планирование является критически важной работой для разработки ПО.</a:t>
            </a:r>
          </a:p>
          <a:p>
            <a:r>
              <a:rPr lang="ru-RU" dirty="0" smtClean="0"/>
              <a:t>Хороший план основывается на требованиях системы и должен выполняться до того, как начнутся другие этапы проекта.</a:t>
            </a:r>
          </a:p>
          <a:p>
            <a:r>
              <a:rPr lang="ru-RU" dirty="0" smtClean="0"/>
              <a:t>Однако на практике, детальные требования не обязательны для планирования, поэтому планирование обычно выполняется одновременно с анализом требований и план подготавливается до того, как начнутся другие этапы проекта.</a:t>
            </a:r>
          </a:p>
          <a:p>
            <a:r>
              <a:rPr lang="ru-RU" dirty="0" smtClean="0"/>
              <a:t>Разработанный план является дополнительными исходными данными для всех последующих этапов.</a:t>
            </a:r>
            <a:endParaRPr lang="ru-RU" dirty="0"/>
          </a:p>
        </p:txBody>
      </p:sp>
    </p:spTree>
    <p:extLst>
      <p:ext uri="{BB962C8B-B14F-4D97-AF65-F5344CB8AC3E}">
        <p14:creationId xmlns:p14="http://schemas.microsoft.com/office/powerpoint/2010/main" val="12382416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Модель водопада</a:t>
            </a:r>
            <a:endParaRPr lang="ru-RU" dirty="0"/>
          </a:p>
        </p:txBody>
      </p:sp>
      <p:sp>
        <p:nvSpPr>
          <p:cNvPr id="3" name="Содержимое 2"/>
          <p:cNvSpPr>
            <a:spLocks noGrp="1"/>
          </p:cNvSpPr>
          <p:nvPr>
            <p:ph idx="1"/>
          </p:nvPr>
        </p:nvSpPr>
        <p:spPr>
          <a:xfrm>
            <a:off x="107504" y="1556792"/>
            <a:ext cx="8892480" cy="5257800"/>
          </a:xfrm>
        </p:spPr>
        <p:txBody>
          <a:bodyPr>
            <a:normAutofit fontScale="77500" lnSpcReduction="20000"/>
          </a:bodyPr>
          <a:lstStyle/>
          <a:p>
            <a:r>
              <a:rPr lang="ru-RU" dirty="0" smtClean="0"/>
              <a:t>Линейный порядок работ имеет некоторые важные последствия.</a:t>
            </a:r>
          </a:p>
          <a:p>
            <a:r>
              <a:rPr lang="ru-RU" dirty="0" smtClean="0"/>
              <a:t>Для явного распознавания завершения очередного этапа и начала следующего, требуются использовать некоторый способ подтверждения в конце каждого этапа.</a:t>
            </a:r>
          </a:p>
          <a:p>
            <a:r>
              <a:rPr lang="ru-RU" dirty="0" smtClean="0"/>
              <a:t>Это обычно выполняется с помощью некоторой проверки (</a:t>
            </a:r>
            <a:r>
              <a:rPr lang="en-US" dirty="0" smtClean="0"/>
              <a:t>verification</a:t>
            </a:r>
            <a:r>
              <a:rPr lang="ru-RU" dirty="0" smtClean="0"/>
              <a:t>) и утверждения (</a:t>
            </a:r>
            <a:r>
              <a:rPr lang="en-US" dirty="0" smtClean="0"/>
              <a:t>validation</a:t>
            </a:r>
            <a:r>
              <a:rPr lang="ru-RU" dirty="0" smtClean="0"/>
              <a:t>), которые будут гарантировать, что:</a:t>
            </a:r>
          </a:p>
          <a:p>
            <a:pPr lvl="1"/>
            <a:r>
              <a:rPr lang="ru-RU" dirty="0" smtClean="0"/>
              <a:t>результат выполнения этапа согласуется с его входными данными (что являлось результатом работы (выходом) предыдущего этапа)</a:t>
            </a:r>
            <a:r>
              <a:rPr lang="en-US" dirty="0" smtClean="0"/>
              <a:t>;</a:t>
            </a:r>
            <a:endParaRPr lang="ru-RU" dirty="0" smtClean="0"/>
          </a:p>
          <a:p>
            <a:pPr lvl="1"/>
            <a:r>
              <a:rPr lang="ru-RU" dirty="0" smtClean="0"/>
              <a:t>результат выполнения данного этапа согласуется с общими требованиями заказчика к системе.</a:t>
            </a:r>
          </a:p>
          <a:p>
            <a:r>
              <a:rPr lang="ru-RU" dirty="0" smtClean="0"/>
              <a:t>Следствием потребности в подтверждении является то, что каждый этап должен иметь конкретный результат, который м.б. оценен и утвержден.</a:t>
            </a:r>
          </a:p>
          <a:p>
            <a:endParaRPr lang="ru-RU" dirty="0" smtClean="0"/>
          </a:p>
          <a:p>
            <a:endParaRPr lang="ru-RU" dirty="0" smtClean="0"/>
          </a:p>
          <a:p>
            <a:endParaRPr lang="ru-RU" dirty="0" smtClean="0"/>
          </a:p>
          <a:p>
            <a:endParaRPr lang="ru-RU" dirty="0"/>
          </a:p>
        </p:txBody>
      </p:sp>
    </p:spTree>
    <p:extLst>
      <p:ext uri="{BB962C8B-B14F-4D97-AF65-F5344CB8AC3E}">
        <p14:creationId xmlns:p14="http://schemas.microsoft.com/office/powerpoint/2010/main" val="84723279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Модель водопада</a:t>
            </a:r>
            <a:endParaRPr lang="ru-RU" dirty="0"/>
          </a:p>
        </p:txBody>
      </p:sp>
      <p:sp>
        <p:nvSpPr>
          <p:cNvPr id="3" name="Содержимое 2"/>
          <p:cNvSpPr>
            <a:spLocks noGrp="1"/>
          </p:cNvSpPr>
          <p:nvPr>
            <p:ph idx="1"/>
          </p:nvPr>
        </p:nvSpPr>
        <p:spPr>
          <a:xfrm>
            <a:off x="113020" y="1484784"/>
            <a:ext cx="8892480" cy="5257800"/>
          </a:xfrm>
        </p:spPr>
        <p:txBody>
          <a:bodyPr>
            <a:normAutofit fontScale="77500" lnSpcReduction="20000"/>
          </a:bodyPr>
          <a:lstStyle/>
          <a:p>
            <a:r>
              <a:rPr lang="ru-RU" dirty="0" smtClean="0"/>
              <a:t>Результат каждого последующего этапа часто называется продуктом труда и обычно имеет форму некоторого документа (например, описания требований или описание проекта, программный код).</a:t>
            </a:r>
          </a:p>
          <a:p>
            <a:r>
              <a:rPr lang="ru-RU" dirty="0" smtClean="0"/>
              <a:t>Хотя набор документов, создаваемых в проекте зависит от его реализации, следующие документы обычно составляют обоснованный набор, который должен быть создан в каждом проекте:</a:t>
            </a:r>
          </a:p>
          <a:p>
            <a:pPr lvl="1"/>
            <a:r>
              <a:rPr lang="ru-RU" dirty="0" smtClean="0"/>
              <a:t>спецификация требований</a:t>
            </a:r>
            <a:r>
              <a:rPr lang="en-US" dirty="0" smtClean="0"/>
              <a:t>;</a:t>
            </a:r>
          </a:p>
          <a:p>
            <a:pPr lvl="1"/>
            <a:r>
              <a:rPr lang="ru-RU" dirty="0" smtClean="0"/>
              <a:t>план проекта</a:t>
            </a:r>
            <a:r>
              <a:rPr lang="en-US" dirty="0" smtClean="0"/>
              <a:t>;</a:t>
            </a:r>
          </a:p>
          <a:p>
            <a:pPr lvl="1"/>
            <a:r>
              <a:rPr lang="ru-RU" dirty="0" smtClean="0"/>
              <a:t>документы по  проектированию (архитектура системы, описание подсистем, детальный проект)</a:t>
            </a:r>
            <a:r>
              <a:rPr lang="en-US" dirty="0" smtClean="0"/>
              <a:t>;</a:t>
            </a:r>
            <a:endParaRPr lang="ru-RU" dirty="0" smtClean="0"/>
          </a:p>
          <a:p>
            <a:pPr lvl="1"/>
            <a:r>
              <a:rPr lang="ru-RU" dirty="0" smtClean="0"/>
              <a:t>план тестирования и отчет о результатах </a:t>
            </a:r>
            <a:r>
              <a:rPr lang="en-US" dirty="0" smtClean="0"/>
              <a:t>;</a:t>
            </a:r>
            <a:endParaRPr lang="ru-RU" dirty="0" smtClean="0"/>
          </a:p>
          <a:p>
            <a:pPr lvl="1"/>
            <a:r>
              <a:rPr lang="ru-RU" dirty="0" smtClean="0"/>
              <a:t>описание конечной программной реализации</a:t>
            </a:r>
            <a:r>
              <a:rPr lang="en-US" dirty="0" smtClean="0"/>
              <a:t>;</a:t>
            </a:r>
          </a:p>
          <a:p>
            <a:pPr lvl="1"/>
            <a:r>
              <a:rPr lang="ru-RU" dirty="0" smtClean="0"/>
              <a:t>руководства по работе с ПО (администратора, пользователя).</a:t>
            </a:r>
          </a:p>
          <a:p>
            <a:endParaRPr lang="ru-RU" dirty="0"/>
          </a:p>
        </p:txBody>
      </p:sp>
    </p:spTree>
    <p:extLst>
      <p:ext uri="{BB962C8B-B14F-4D97-AF65-F5344CB8AC3E}">
        <p14:creationId xmlns:p14="http://schemas.microsoft.com/office/powerpoint/2010/main" val="18401201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33600" y="274638"/>
            <a:ext cx="6553200" cy="715962"/>
          </a:xfrm>
        </p:spPr>
        <p:txBody>
          <a:bodyPr>
            <a:normAutofit fontScale="90000"/>
          </a:bodyPr>
          <a:lstStyle/>
          <a:p>
            <a:r>
              <a:rPr lang="ru-RU" dirty="0" smtClean="0"/>
              <a:t>Преимущества модели водопада</a:t>
            </a:r>
            <a:endParaRPr lang="ru-RU" dirty="0"/>
          </a:p>
        </p:txBody>
      </p:sp>
      <p:sp>
        <p:nvSpPr>
          <p:cNvPr id="3" name="Содержимое 2"/>
          <p:cNvSpPr>
            <a:spLocks noGrp="1"/>
          </p:cNvSpPr>
          <p:nvPr>
            <p:ph idx="1"/>
          </p:nvPr>
        </p:nvSpPr>
        <p:spPr>
          <a:xfrm>
            <a:off x="144016" y="1484784"/>
            <a:ext cx="8892480" cy="5257800"/>
          </a:xfrm>
        </p:spPr>
        <p:txBody>
          <a:bodyPr>
            <a:normAutofit lnSpcReduction="10000"/>
          </a:bodyPr>
          <a:lstStyle/>
          <a:p>
            <a:r>
              <a:rPr lang="ru-RU" dirty="0" smtClean="0"/>
              <a:t>основным преимуществом является простота реализации</a:t>
            </a:r>
            <a:r>
              <a:rPr lang="en-US" dirty="0" smtClean="0"/>
              <a:t>;</a:t>
            </a:r>
            <a:endParaRPr lang="ru-RU" dirty="0" smtClean="0"/>
          </a:p>
          <a:p>
            <a:r>
              <a:rPr lang="ru-RU" dirty="0" smtClean="0"/>
              <a:t>получение полной и согласованной документации на каждом этапе;</a:t>
            </a:r>
          </a:p>
          <a:p>
            <a:r>
              <a:rPr lang="ru-RU" dirty="0" smtClean="0"/>
              <a:t>легкость определения сроков и затрат на проект</a:t>
            </a:r>
            <a:r>
              <a:rPr lang="en-US" dirty="0" smtClean="0"/>
              <a:t>;</a:t>
            </a:r>
          </a:p>
          <a:p>
            <a:r>
              <a:rPr lang="ru-RU" dirty="0" smtClean="0"/>
              <a:t>простота администрирования ходом выполнения проекта (каждый этап завершается и создается его результат, некоторое количество денег передается потребителем разрабатывающей организации).</a:t>
            </a:r>
          </a:p>
          <a:p>
            <a:endParaRPr lang="ru-RU" dirty="0"/>
          </a:p>
        </p:txBody>
      </p:sp>
    </p:spTree>
    <p:extLst>
      <p:ext uri="{BB962C8B-B14F-4D97-AF65-F5344CB8AC3E}">
        <p14:creationId xmlns:p14="http://schemas.microsoft.com/office/powerpoint/2010/main" val="25373006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Недостатки</a:t>
            </a:r>
            <a:endParaRPr lang="ru-RU" dirty="0"/>
          </a:p>
        </p:txBody>
      </p:sp>
      <p:sp>
        <p:nvSpPr>
          <p:cNvPr id="3" name="Содержимое 2"/>
          <p:cNvSpPr>
            <a:spLocks noGrp="1"/>
          </p:cNvSpPr>
          <p:nvPr>
            <p:ph idx="1"/>
          </p:nvPr>
        </p:nvSpPr>
        <p:spPr>
          <a:xfrm>
            <a:off x="179512" y="1600200"/>
            <a:ext cx="8784976" cy="4997152"/>
          </a:xfrm>
        </p:spPr>
        <p:txBody>
          <a:bodyPr>
            <a:normAutofit fontScale="85000" lnSpcReduction="10000"/>
          </a:bodyPr>
          <a:lstStyle/>
          <a:p>
            <a:pPr marL="514350" indent="-514350">
              <a:buFont typeface="+mj-lt"/>
              <a:buAutoNum type="arabicPeriod"/>
            </a:pPr>
            <a:r>
              <a:rPr lang="ru-RU" dirty="0" smtClean="0"/>
              <a:t>Предполагается, что </a:t>
            </a:r>
            <a:r>
              <a:rPr lang="ru-RU" b="1" i="1" dirty="0" smtClean="0"/>
              <a:t>требования к разрабатываемой системе м.б. неизменными (заморожены) </a:t>
            </a:r>
            <a:r>
              <a:rPr lang="ru-RU" dirty="0" smtClean="0"/>
              <a:t>до начала проектирования.</a:t>
            </a:r>
          </a:p>
          <a:p>
            <a:pPr marL="514350" indent="-514350">
              <a:buFont typeface="+mj-lt"/>
              <a:buAutoNum type="arabicPeriod"/>
            </a:pPr>
            <a:r>
              <a:rPr lang="ru-RU" b="1" i="1" dirty="0" smtClean="0"/>
              <a:t>Замораживание требований обычно требует выбора технического обеспечения</a:t>
            </a:r>
            <a:r>
              <a:rPr lang="en-US" b="1" i="1" dirty="0" smtClean="0"/>
              <a:t> </a:t>
            </a:r>
            <a:r>
              <a:rPr lang="en-US" dirty="0" smtClean="0"/>
              <a:t>(</a:t>
            </a:r>
            <a:r>
              <a:rPr lang="ru-RU" dirty="0" smtClean="0"/>
              <a:t>т.к. это составляет часть спецификации требований</a:t>
            </a:r>
            <a:r>
              <a:rPr lang="en-US" dirty="0" smtClean="0"/>
              <a:t>). </a:t>
            </a:r>
            <a:endParaRPr lang="ru-RU" dirty="0" smtClean="0"/>
          </a:p>
          <a:p>
            <a:pPr marL="514350" indent="-514350">
              <a:buFont typeface="+mj-lt"/>
              <a:buAutoNum type="arabicPeriod"/>
            </a:pPr>
            <a:r>
              <a:rPr lang="ru-RU" dirty="0" smtClean="0"/>
              <a:t>Вызывает подход «большого взрыва» - полное ПО предоставляется за один раз, в конце разработки.</a:t>
            </a:r>
          </a:p>
          <a:p>
            <a:pPr marL="514350" indent="-514350">
              <a:buFont typeface="+mj-lt"/>
              <a:buAutoNum type="arabicPeriod"/>
            </a:pPr>
            <a:r>
              <a:rPr lang="ru-RU" dirty="0" smtClean="0"/>
              <a:t>Поощряется «раздувание требований». </a:t>
            </a:r>
          </a:p>
          <a:p>
            <a:pPr marL="514350" indent="-514350">
              <a:buFont typeface="+mj-lt"/>
              <a:buAutoNum type="arabicPeriod"/>
            </a:pPr>
            <a:r>
              <a:rPr lang="ru-RU" dirty="0" smtClean="0"/>
              <a:t>Данная модель является управляемой документами, что требует создание формального документа в конце каждого этапа.</a:t>
            </a:r>
          </a:p>
          <a:p>
            <a:pPr marL="514350" indent="-514350">
              <a:buFont typeface="+mj-lt"/>
              <a:buAutoNum type="arabicPeriod"/>
            </a:pPr>
            <a:endParaRPr lang="ru-RU" dirty="0" smtClean="0"/>
          </a:p>
          <a:p>
            <a:pPr marL="514350" indent="-514350">
              <a:buFont typeface="+mj-lt"/>
              <a:buAutoNum type="arabicPeriod"/>
            </a:pPr>
            <a:endParaRPr lang="ru-RU" dirty="0"/>
          </a:p>
        </p:txBody>
      </p:sp>
    </p:spTree>
    <p:extLst>
      <p:ext uri="{BB962C8B-B14F-4D97-AF65-F5344CB8AC3E}">
        <p14:creationId xmlns:p14="http://schemas.microsoft.com/office/powerpoint/2010/main" val="323339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47664" y="274638"/>
            <a:ext cx="7139136" cy="1325562"/>
          </a:xfrm>
        </p:spPr>
        <p:txBody>
          <a:bodyPr>
            <a:normAutofit fontScale="90000"/>
          </a:bodyPr>
          <a:lstStyle/>
          <a:p>
            <a:r>
              <a:rPr lang="ru-RU" b="1" dirty="0"/>
              <a:t>V-образная модель</a:t>
            </a:r>
            <a:br>
              <a:rPr lang="ru-RU" b="1" dirty="0"/>
            </a:br>
            <a:endParaRPr lang="ru-RU" dirty="0"/>
          </a:p>
        </p:txBody>
      </p:sp>
      <p:sp>
        <p:nvSpPr>
          <p:cNvPr id="3" name="Содержимое 2"/>
          <p:cNvSpPr>
            <a:spLocks noGrp="1"/>
          </p:cNvSpPr>
          <p:nvPr>
            <p:ph idx="1"/>
          </p:nvPr>
        </p:nvSpPr>
        <p:spPr/>
        <p:txBody>
          <a:bodyPr/>
          <a:lstStyle/>
          <a:p>
            <a:endParaRPr lang="ru-RU"/>
          </a:p>
        </p:txBody>
      </p:sp>
      <p:pic>
        <p:nvPicPr>
          <p:cNvPr id="19458" name="Picture 2"/>
          <p:cNvPicPr>
            <a:picLocks noChangeAspect="1" noChangeArrowheads="1"/>
          </p:cNvPicPr>
          <p:nvPr/>
        </p:nvPicPr>
        <p:blipFill>
          <a:blip r:embed="rId3" cstate="print"/>
          <a:srcRect l="6072" t="22766" r="31829" b="13875"/>
          <a:stretch>
            <a:fillRect/>
          </a:stretch>
        </p:blipFill>
        <p:spPr bwMode="auto">
          <a:xfrm>
            <a:off x="649569" y="1254344"/>
            <a:ext cx="7844862" cy="5603656"/>
          </a:xfrm>
          <a:prstGeom prst="rect">
            <a:avLst/>
          </a:prstGeom>
          <a:noFill/>
          <a:ln w="9525">
            <a:noFill/>
            <a:miter lim="800000"/>
            <a:headEnd/>
            <a:tailEnd/>
          </a:ln>
        </p:spPr>
      </p:pic>
    </p:spTree>
    <p:extLst>
      <p:ext uri="{BB962C8B-B14F-4D97-AF65-F5344CB8AC3E}">
        <p14:creationId xmlns:p14="http://schemas.microsoft.com/office/powerpoint/2010/main" val="4010211715"/>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Нижний колонтитул 4"/>
          <p:cNvSpPr>
            <a:spLocks noGrp="1"/>
          </p:cNvSpPr>
          <p:nvPr>
            <p:ph type="ftr" sz="quarter" idx="11"/>
          </p:nvPr>
        </p:nvSpPr>
        <p:spPr/>
        <p:txBody>
          <a:bodyPr/>
          <a:lstStyle/>
          <a:p>
            <a:r>
              <a:rPr lang="en-US"/>
              <a:t>Sofware Process</a:t>
            </a:r>
          </a:p>
        </p:txBody>
      </p:sp>
      <p:sp>
        <p:nvSpPr>
          <p:cNvPr id="19" name="Номер слайда 5"/>
          <p:cNvSpPr>
            <a:spLocks noGrp="1"/>
          </p:cNvSpPr>
          <p:nvPr>
            <p:ph type="sldNum" sz="quarter" idx="12"/>
          </p:nvPr>
        </p:nvSpPr>
        <p:spPr/>
        <p:txBody>
          <a:bodyPr/>
          <a:lstStyle/>
          <a:p>
            <a:fld id="{230AC0DE-0455-44C3-894B-F2B403CCA12A}" type="slidenum">
              <a:rPr lang="en-US"/>
              <a:pPr/>
              <a:t>36</a:t>
            </a:fld>
            <a:endParaRPr lang="en-US"/>
          </a:p>
        </p:txBody>
      </p:sp>
      <p:sp>
        <p:nvSpPr>
          <p:cNvPr id="155650" name="Rectangle 2"/>
          <p:cNvSpPr>
            <a:spLocks noGrp="1" noChangeArrowheads="1"/>
          </p:cNvSpPr>
          <p:nvPr>
            <p:ph type="title"/>
          </p:nvPr>
        </p:nvSpPr>
        <p:spPr>
          <a:xfrm>
            <a:off x="1828800" y="188641"/>
            <a:ext cx="7063680" cy="878159"/>
          </a:xfrm>
        </p:spPr>
        <p:txBody>
          <a:bodyPr>
            <a:normAutofit fontScale="90000"/>
          </a:bodyPr>
          <a:lstStyle/>
          <a:p>
            <a:r>
              <a:rPr lang="ru-RU" dirty="0" smtClean="0"/>
              <a:t>Выводы по модели водопадов</a:t>
            </a:r>
            <a:endParaRPr lang="en-US" dirty="0"/>
          </a:p>
        </p:txBody>
      </p:sp>
      <p:graphicFrame>
        <p:nvGraphicFramePr>
          <p:cNvPr id="155651" name="Group 3"/>
          <p:cNvGraphicFramePr>
            <a:graphicFrameLocks noGrp="1"/>
          </p:cNvGraphicFramePr>
          <p:nvPr>
            <p:ph idx="1"/>
            <p:extLst>
              <p:ext uri="{D42A27DB-BD31-4B8C-83A1-F6EECF244321}">
                <p14:modId xmlns:p14="http://schemas.microsoft.com/office/powerpoint/2010/main" val="1724391773"/>
              </p:ext>
            </p:extLst>
          </p:nvPr>
        </p:nvGraphicFramePr>
        <p:xfrm>
          <a:off x="251522" y="1412776"/>
          <a:ext cx="8640958" cy="5095393"/>
        </p:xfrm>
        <a:graphic>
          <a:graphicData uri="http://schemas.openxmlformats.org/drawingml/2006/table">
            <a:tbl>
              <a:tblPr/>
              <a:tblGrid>
                <a:gridCol w="2304254">
                  <a:extLst>
                    <a:ext uri="{9D8B030D-6E8A-4147-A177-3AD203B41FA5}">
                      <a16:colId xmlns:a16="http://schemas.microsoft.com/office/drawing/2014/main" val="20000"/>
                    </a:ext>
                  </a:extLst>
                </a:gridCol>
                <a:gridCol w="3608063">
                  <a:extLst>
                    <a:ext uri="{9D8B030D-6E8A-4147-A177-3AD203B41FA5}">
                      <a16:colId xmlns:a16="http://schemas.microsoft.com/office/drawing/2014/main" val="20001"/>
                    </a:ext>
                  </a:extLst>
                </a:gridCol>
                <a:gridCol w="2728641">
                  <a:extLst>
                    <a:ext uri="{9D8B030D-6E8A-4147-A177-3AD203B41FA5}">
                      <a16:colId xmlns:a16="http://schemas.microsoft.com/office/drawing/2014/main" val="20002"/>
                    </a:ext>
                  </a:extLst>
                </a:gridCol>
              </a:tblGrid>
              <a:tr h="73675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Достоинства</a:t>
                      </a:r>
                      <a:endParaRPr kumimoji="0" lang="en-US" sz="2000" b="1" i="0" u="none" strike="noStrike" cap="none" normalizeH="0" baseline="0" dirty="0" smtClean="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Недостатки</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Подходящие типы проектов</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157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Проста.</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Легкая для выполнения.</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Интуитивная и логически понятная.</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Легкая для выполнения договора.</a:t>
                      </a:r>
                      <a:endParaRPr kumimoji="0" lang="en-US" sz="2000" b="0" i="0" u="none" strike="noStrike" cap="none" normalizeH="0" baseline="0" dirty="0" smtClean="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Все или ничего – слишком </a:t>
                      </a:r>
                      <a:r>
                        <a:rPr kumimoji="0" lang="ru-RU" sz="2000" b="0" i="0" u="none" strike="noStrike" cap="none" normalizeH="0" baseline="0" dirty="0" err="1" smtClean="0">
                          <a:ln>
                            <a:noFill/>
                          </a:ln>
                          <a:solidFill>
                            <a:schemeClr val="tx1"/>
                          </a:solidFill>
                          <a:effectLst/>
                          <a:latin typeface="Tahoma" charset="0"/>
                        </a:rPr>
                        <a:t>рисковано</a:t>
                      </a:r>
                      <a:r>
                        <a:rPr kumimoji="0" lang="ru-RU" sz="2000" b="0" i="0" u="none" strike="noStrike" cap="none" normalizeH="0" baseline="0" dirty="0" smtClean="0">
                          <a:ln>
                            <a:noFill/>
                          </a:ln>
                          <a:solidFill>
                            <a:schemeClr val="tx1"/>
                          </a:solidFill>
                          <a:effectLst/>
                          <a:latin typeface="Tahoma" charset="0"/>
                        </a:rPr>
                        <a:t>. </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Рано замораживаются требования</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Может быть выбрано устаревшее оборудование/технология.</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Не позволяются изменения.</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Нет обратной связи с пользователями</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Поощряет раздувание требований.</a:t>
                      </a:r>
                      <a:endParaRPr kumimoji="0" lang="en-US" sz="2000" b="0"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Хорошо понятные проблемы.</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Краткосрочные проекты.</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Автоматизация существующих ручных систем.</a:t>
                      </a:r>
                      <a:endParaRPr kumimoji="0" lang="en-US" sz="2000" b="0"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8469960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52600" y="274638"/>
            <a:ext cx="6934200" cy="792162"/>
          </a:xfrm>
        </p:spPr>
        <p:txBody>
          <a:bodyPr>
            <a:normAutofit fontScale="90000"/>
          </a:bodyPr>
          <a:lstStyle/>
          <a:p>
            <a:r>
              <a:rPr lang="ru-RU" dirty="0" smtClean="0"/>
              <a:t> 2. Модель прототипирования</a:t>
            </a:r>
            <a:endParaRPr lang="ru-RU" dirty="0"/>
          </a:p>
        </p:txBody>
      </p:sp>
      <p:sp>
        <p:nvSpPr>
          <p:cNvPr id="3" name="Содержимое 2"/>
          <p:cNvSpPr>
            <a:spLocks noGrp="1"/>
          </p:cNvSpPr>
          <p:nvPr>
            <p:ph idx="1"/>
          </p:nvPr>
        </p:nvSpPr>
        <p:spPr>
          <a:xfrm>
            <a:off x="144016" y="1268760"/>
            <a:ext cx="8892480" cy="5517231"/>
          </a:xfrm>
        </p:spPr>
        <p:txBody>
          <a:bodyPr>
            <a:normAutofit fontScale="85000" lnSpcReduction="20000"/>
          </a:bodyPr>
          <a:lstStyle/>
          <a:p>
            <a:r>
              <a:rPr lang="ru-RU" dirty="0" smtClean="0"/>
              <a:t>Цель процесса разработки на основе прототипов заключается исправление первого ограничения модели водопадов.</a:t>
            </a:r>
          </a:p>
          <a:p>
            <a:r>
              <a:rPr lang="ru-RU" dirty="0" smtClean="0"/>
              <a:t>Основная идея – вместо замораживания требований, создавать, перед началом проектирования и кодирования, одноразовый прототип, который может помочь понять требования заказчика.</a:t>
            </a:r>
          </a:p>
          <a:p>
            <a:r>
              <a:rPr lang="ru-RU" dirty="0" smtClean="0"/>
              <a:t>Прототип сильно упрощенный вариант разрабатываемого ПО.</a:t>
            </a:r>
          </a:p>
          <a:p>
            <a:r>
              <a:rPr lang="ru-RU" dirty="0" smtClean="0"/>
              <a:t>Он разрабатывается на основе текущих известных требований.</a:t>
            </a:r>
          </a:p>
          <a:p>
            <a:r>
              <a:rPr lang="ru-RU" dirty="0" smtClean="0"/>
              <a:t>Очевидно, что разработка прототипа тоже проходит этапы проектирования, кодирования и тестирования, но каждый их этих этапов, но каждый из этих этапов выполняется не формально и не тщательно. </a:t>
            </a:r>
            <a:endParaRPr lang="ru-RU" dirty="0"/>
          </a:p>
        </p:txBody>
      </p:sp>
    </p:spTree>
    <p:extLst>
      <p:ext uri="{BB962C8B-B14F-4D97-AF65-F5344CB8AC3E}">
        <p14:creationId xmlns:p14="http://schemas.microsoft.com/office/powerpoint/2010/main" val="18350696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72008" y="1556792"/>
            <a:ext cx="8964488" cy="5257800"/>
          </a:xfrm>
        </p:spPr>
        <p:txBody>
          <a:bodyPr>
            <a:normAutofit fontScale="77500" lnSpcReduction="20000"/>
          </a:bodyPr>
          <a:lstStyle/>
          <a:p>
            <a:r>
              <a:rPr lang="ru-RU" dirty="0" smtClean="0"/>
              <a:t>Прототипирование является привлекательной идеей для сложных и больших систем, для которых нет ручного процесса или существующей системы, которые могут помочь выявить требования.</a:t>
            </a:r>
          </a:p>
          <a:p>
            <a:r>
              <a:rPr lang="ru-RU" dirty="0" smtClean="0"/>
              <a:t>В таких ситуациях, предоставление заказчику возможности «поиграть» с прототипом позволяет выявить неоценимые и неосязаемые результаты, которые могут помочь определить требования к системе.</a:t>
            </a:r>
          </a:p>
          <a:p>
            <a:r>
              <a:rPr lang="ru-RU" dirty="0" smtClean="0"/>
              <a:t>Ситуации, в которых требуется пртотипирование:</a:t>
            </a:r>
          </a:p>
          <a:p>
            <a:pPr lvl="1"/>
            <a:r>
              <a:rPr lang="ru-RU" dirty="0" smtClean="0"/>
              <a:t>для </a:t>
            </a:r>
            <a:r>
              <a:rPr lang="ru-RU" b="1" i="1" dirty="0" smtClean="0"/>
              <a:t>демонстрации осуществимости некоторого нового подхода</a:t>
            </a:r>
            <a:r>
              <a:rPr lang="en-US" dirty="0" smtClean="0"/>
              <a:t>;</a:t>
            </a:r>
            <a:endParaRPr lang="ru-RU" dirty="0" smtClean="0"/>
          </a:p>
          <a:p>
            <a:pPr lvl="1"/>
            <a:r>
              <a:rPr lang="ru-RU" dirty="0" smtClean="0"/>
              <a:t>при разработке новых систем, когда не понятно, какие ограничения могут возникнуть, или какие алгоритмы могут быть разработаны для реализации  требований.</a:t>
            </a:r>
          </a:p>
          <a:p>
            <a:r>
              <a:rPr lang="ru-RU" dirty="0" smtClean="0"/>
              <a:t>В обоих ситуациях риск, связанный с данными проектами м.б. уменьшен, за счет выполнения прототипирования.</a:t>
            </a:r>
          </a:p>
          <a:p>
            <a:endParaRPr lang="ru-RU" dirty="0" smtClean="0"/>
          </a:p>
          <a:p>
            <a:endParaRPr lang="ru-RU" dirty="0" smtClean="0"/>
          </a:p>
          <a:p>
            <a:endParaRPr lang="ru-RU" dirty="0"/>
          </a:p>
        </p:txBody>
      </p:sp>
    </p:spTree>
    <p:extLst>
      <p:ext uri="{BB962C8B-B14F-4D97-AF65-F5344CB8AC3E}">
        <p14:creationId xmlns:p14="http://schemas.microsoft.com/office/powerpoint/2010/main" val="361558243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00200" y="274638"/>
            <a:ext cx="7086600" cy="563562"/>
          </a:xfrm>
        </p:spPr>
        <p:txBody>
          <a:bodyPr>
            <a:normAutofit fontScale="90000"/>
          </a:bodyPr>
          <a:lstStyle/>
          <a:p>
            <a:r>
              <a:rPr lang="ru-RU" dirty="0" smtClean="0"/>
              <a:t>Схема модели прототипирования</a:t>
            </a:r>
            <a:endParaRPr lang="ru-RU" dirty="0"/>
          </a:p>
        </p:txBody>
      </p:sp>
      <p:sp>
        <p:nvSpPr>
          <p:cNvPr id="3" name="Содержимое 2"/>
          <p:cNvSpPr>
            <a:spLocks noGrp="1"/>
          </p:cNvSpPr>
          <p:nvPr>
            <p:ph idx="1"/>
          </p:nvPr>
        </p:nvSpPr>
        <p:spPr>
          <a:xfrm>
            <a:off x="467544" y="1556793"/>
            <a:ext cx="8229600" cy="720080"/>
          </a:xfrm>
        </p:spPr>
        <p:txBody>
          <a:bodyPr>
            <a:normAutofit/>
          </a:bodyPr>
          <a:lstStyle/>
          <a:p>
            <a:endParaRPr lang="ru-RU" dirty="0"/>
          </a:p>
        </p:txBody>
      </p:sp>
      <p:pic>
        <p:nvPicPr>
          <p:cNvPr id="4" name="Picture 2"/>
          <p:cNvPicPr>
            <a:picLocks noChangeAspect="1" noChangeArrowheads="1"/>
          </p:cNvPicPr>
          <p:nvPr/>
        </p:nvPicPr>
        <p:blipFill>
          <a:blip r:embed="rId3" cstate="print"/>
          <a:srcRect b="9589"/>
          <a:stretch>
            <a:fillRect/>
          </a:stretch>
        </p:blipFill>
        <p:spPr bwMode="auto">
          <a:xfrm>
            <a:off x="382835" y="2564904"/>
            <a:ext cx="8221613" cy="3656149"/>
          </a:xfrm>
          <a:prstGeom prst="rect">
            <a:avLst/>
          </a:prstGeom>
          <a:noFill/>
          <a:ln w="9525">
            <a:noFill/>
            <a:miter lim="800000"/>
            <a:headEnd/>
            <a:tailEnd/>
          </a:ln>
        </p:spPr>
      </p:pic>
    </p:spTree>
    <p:extLst>
      <p:ext uri="{BB962C8B-B14F-4D97-AF65-F5344CB8AC3E}">
        <p14:creationId xmlns:p14="http://schemas.microsoft.com/office/powerpoint/2010/main" val="193181113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274638"/>
            <a:ext cx="7315200" cy="792162"/>
          </a:xfrm>
        </p:spPr>
        <p:txBody>
          <a:bodyPr>
            <a:normAutofit fontScale="90000"/>
          </a:bodyPr>
          <a:lstStyle/>
          <a:p>
            <a:r>
              <a:rPr lang="ru-RU" dirty="0" smtClean="0"/>
              <a:t>Процесс использования прототипа</a:t>
            </a:r>
            <a:endParaRPr lang="ru-RU" dirty="0"/>
          </a:p>
        </p:txBody>
      </p:sp>
      <p:sp>
        <p:nvSpPr>
          <p:cNvPr id="3" name="Содержимое 2"/>
          <p:cNvSpPr>
            <a:spLocks noGrp="1"/>
          </p:cNvSpPr>
          <p:nvPr>
            <p:ph idx="1"/>
          </p:nvPr>
        </p:nvSpPr>
        <p:spPr>
          <a:xfrm>
            <a:off x="113020" y="1484784"/>
            <a:ext cx="8892480" cy="5257800"/>
          </a:xfrm>
        </p:spPr>
        <p:txBody>
          <a:bodyPr>
            <a:normAutofit fontScale="70000" lnSpcReduction="20000"/>
          </a:bodyPr>
          <a:lstStyle/>
          <a:p>
            <a:r>
              <a:rPr lang="ru-RU" dirty="0" smtClean="0"/>
              <a:t>Процесс разработки с использованием </a:t>
            </a:r>
            <a:r>
              <a:rPr lang="en-US" dirty="0" smtClean="0"/>
              <a:t> </a:t>
            </a:r>
            <a:r>
              <a:rPr lang="ru-RU" dirty="0" smtClean="0"/>
              <a:t>прототипа обычно выполняется следующим образом:</a:t>
            </a:r>
          </a:p>
          <a:p>
            <a:pPr marL="514350" indent="-514350">
              <a:buFont typeface="+mj-lt"/>
              <a:buAutoNum type="arabicPeriod"/>
            </a:pPr>
            <a:r>
              <a:rPr lang="ru-RU" dirty="0" smtClean="0"/>
              <a:t>Разработка прототипа обычно начинается, когда разработана предварительная версия документа с спецификациями требований.</a:t>
            </a:r>
          </a:p>
          <a:p>
            <a:pPr marL="514350" indent="-514350">
              <a:buFont typeface="+mj-lt"/>
              <a:buAutoNum type="arabicPeriod"/>
            </a:pPr>
            <a:r>
              <a:rPr lang="ru-RU" dirty="0" smtClean="0"/>
              <a:t>После разработки прототипа, конечные пользователи и заказчику могут использовать и исследовать  прототип. </a:t>
            </a:r>
          </a:p>
          <a:p>
            <a:pPr marL="914400" lvl="1" indent="-514350"/>
            <a:r>
              <a:rPr lang="ru-RU" dirty="0" smtClean="0"/>
              <a:t>Описываются и передаются разработчикам отзывы:  что было сделано правильно</a:t>
            </a:r>
            <a:r>
              <a:rPr lang="en-US" dirty="0" smtClean="0"/>
              <a:t>;</a:t>
            </a:r>
            <a:r>
              <a:rPr lang="ru-RU" dirty="0" smtClean="0"/>
              <a:t> </a:t>
            </a:r>
            <a:r>
              <a:rPr lang="en-US" dirty="0" smtClean="0"/>
              <a:t> </a:t>
            </a:r>
            <a:r>
              <a:rPr lang="ru-RU" dirty="0" smtClean="0"/>
              <a:t>чего не хватает</a:t>
            </a:r>
            <a:r>
              <a:rPr lang="en-US" dirty="0" smtClean="0"/>
              <a:t>;</a:t>
            </a:r>
            <a:r>
              <a:rPr lang="ru-RU" dirty="0" smtClean="0"/>
              <a:t> </a:t>
            </a:r>
            <a:r>
              <a:rPr lang="en-US" dirty="0" smtClean="0"/>
              <a:t> </a:t>
            </a:r>
            <a:r>
              <a:rPr lang="ru-RU" dirty="0" smtClean="0"/>
              <a:t>что требуется добавить  и т.п.</a:t>
            </a:r>
          </a:p>
          <a:p>
            <a:pPr marL="514350" indent="-514350">
              <a:buFont typeface="+mj-lt"/>
              <a:buAutoNum type="arabicPeriod"/>
            </a:pPr>
            <a:r>
              <a:rPr lang="ru-RU" dirty="0" smtClean="0"/>
              <a:t>На основе отзывов выполняется доработка прототипа, а затем пользователям и заказчикам опять предоставляется возможность использовать данную ПС.</a:t>
            </a:r>
          </a:p>
          <a:p>
            <a:pPr marL="514350" indent="-514350">
              <a:buFont typeface="+mj-lt"/>
              <a:buAutoNum type="arabicPeriod"/>
            </a:pPr>
            <a:r>
              <a:rPr lang="ru-RU" dirty="0" smtClean="0"/>
              <a:t>Такой цикл повторяется до тех пор, пока выгода от дальнейшего изменения прототипа превышает стоимость  его доработки.</a:t>
            </a:r>
          </a:p>
          <a:p>
            <a:pPr marL="514350" indent="-514350">
              <a:buFont typeface="+mj-lt"/>
              <a:buAutoNum type="arabicPeriod"/>
            </a:pPr>
            <a:r>
              <a:rPr lang="ru-RU" dirty="0" smtClean="0"/>
              <a:t>На основе такой обратной связи (отзывов), начальные требования модифицируются, чтобы получить окончательную спецификацию требований, которая затем используется разработки ПС производственного уровня.</a:t>
            </a:r>
          </a:p>
          <a:p>
            <a:pPr marL="514350" indent="-514350">
              <a:buFont typeface="+mj-lt"/>
              <a:buAutoNum type="arabicPeriod"/>
            </a:pPr>
            <a:endParaRPr lang="ru-RU" dirty="0" smtClean="0"/>
          </a:p>
          <a:p>
            <a:pPr marL="514350" indent="-514350">
              <a:buFont typeface="+mj-lt"/>
              <a:buAutoNum type="arabicPeriod"/>
            </a:pPr>
            <a:endParaRPr lang="ru-RU" dirty="0" smtClean="0"/>
          </a:p>
          <a:p>
            <a:pPr marL="514350" indent="-514350">
              <a:buFont typeface="+mj-lt"/>
              <a:buAutoNum type="arabicPeriod"/>
            </a:pPr>
            <a:endParaRPr lang="ru-RU" dirty="0"/>
          </a:p>
        </p:txBody>
      </p:sp>
    </p:spTree>
    <p:extLst>
      <p:ext uri="{BB962C8B-B14F-4D97-AF65-F5344CB8AC3E}">
        <p14:creationId xmlns:p14="http://schemas.microsoft.com/office/powerpoint/2010/main" val="30730837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274638"/>
            <a:ext cx="6858000" cy="792162"/>
          </a:xfrm>
        </p:spPr>
        <p:txBody>
          <a:bodyPr>
            <a:normAutofit fontScale="90000"/>
          </a:bodyPr>
          <a:lstStyle/>
          <a:p>
            <a:r>
              <a:rPr lang="ru-RU" dirty="0" smtClean="0"/>
              <a:t>Стоимость разработки прототипа</a:t>
            </a:r>
            <a:endParaRPr lang="ru-RU" dirty="0"/>
          </a:p>
        </p:txBody>
      </p:sp>
      <p:sp>
        <p:nvSpPr>
          <p:cNvPr id="3" name="Содержимое 2"/>
          <p:cNvSpPr>
            <a:spLocks noGrp="1"/>
          </p:cNvSpPr>
          <p:nvPr>
            <p:ph idx="1"/>
          </p:nvPr>
        </p:nvSpPr>
        <p:spPr>
          <a:xfrm>
            <a:off x="107504" y="1412776"/>
            <a:ext cx="8964488" cy="5373216"/>
          </a:xfrm>
        </p:spPr>
        <p:txBody>
          <a:bodyPr>
            <a:normAutofit fontScale="77500" lnSpcReduction="20000"/>
          </a:bodyPr>
          <a:lstStyle/>
          <a:p>
            <a:r>
              <a:rPr lang="ru-RU" dirty="0" smtClean="0"/>
              <a:t>Стоимость разработки прототипа должна быть очень низкой.</a:t>
            </a:r>
          </a:p>
          <a:p>
            <a:r>
              <a:rPr lang="ru-RU" dirty="0" smtClean="0"/>
              <a:t>Для этого в прототип включаются только те возможности, которые будут полезными для получения отзыва от пользователей.</a:t>
            </a:r>
          </a:p>
          <a:p>
            <a:r>
              <a:rPr lang="ru-RU" dirty="0" smtClean="0"/>
              <a:t>Способы уменьшения затрат на создание прототипа:</a:t>
            </a:r>
          </a:p>
          <a:p>
            <a:pPr lvl="1"/>
            <a:r>
              <a:rPr lang="ru-RU" dirty="0" smtClean="0"/>
              <a:t>исключение модулей для реализации тех требований к ПО, которые уже хорошо понятны</a:t>
            </a:r>
            <a:r>
              <a:rPr lang="en-US" dirty="0" smtClean="0"/>
              <a:t>;</a:t>
            </a:r>
            <a:endParaRPr lang="ru-RU" dirty="0" smtClean="0"/>
          </a:p>
          <a:p>
            <a:pPr lvl="1"/>
            <a:r>
              <a:rPr lang="ru-RU" dirty="0" smtClean="0"/>
              <a:t>использование «быстрого и грязного» подхода, нацеленного на быструю разработку, а не на качество</a:t>
            </a:r>
            <a:r>
              <a:rPr lang="en-US" dirty="0" smtClean="0"/>
              <a:t>;</a:t>
            </a:r>
            <a:endParaRPr lang="ru-RU" dirty="0" smtClean="0"/>
          </a:p>
          <a:p>
            <a:pPr lvl="1"/>
            <a:r>
              <a:rPr lang="ru-RU" dirty="0" smtClean="0"/>
              <a:t>не используется: обработка исключений, аварийное восстановление, соответствие стандартам и форматам и т.п.</a:t>
            </a:r>
            <a:r>
              <a:rPr lang="en-US" dirty="0" smtClean="0"/>
              <a:t>;</a:t>
            </a:r>
            <a:endParaRPr lang="ru-RU" dirty="0" smtClean="0"/>
          </a:p>
          <a:p>
            <a:pPr lvl="1"/>
            <a:r>
              <a:rPr lang="ru-RU" dirty="0" smtClean="0"/>
              <a:t>создание только минимальной документации</a:t>
            </a:r>
            <a:r>
              <a:rPr lang="en-US" dirty="0" smtClean="0"/>
              <a:t>;</a:t>
            </a:r>
            <a:endParaRPr lang="ru-RU" dirty="0" smtClean="0"/>
          </a:p>
          <a:p>
            <a:pPr lvl="1"/>
            <a:r>
              <a:rPr lang="ru-RU" dirty="0" smtClean="0"/>
              <a:t>выполнение только минимально необходимого тестирования.</a:t>
            </a:r>
          </a:p>
          <a:p>
            <a:r>
              <a:rPr lang="ru-RU" dirty="0" smtClean="0"/>
              <a:t>С помощью таких способов уменьшения затрат на разработку прототипа, возможно довести стоимость создания прототипа до нескольких процентов общей стоимости разработки.</a:t>
            </a:r>
          </a:p>
          <a:p>
            <a:pPr>
              <a:buNone/>
            </a:pPr>
            <a:endParaRPr lang="ru-RU" dirty="0" smtClean="0"/>
          </a:p>
          <a:p>
            <a:endParaRPr lang="ru-RU" dirty="0" smtClean="0"/>
          </a:p>
          <a:p>
            <a:endParaRPr lang="ru-RU" dirty="0" smtClean="0"/>
          </a:p>
          <a:p>
            <a:endParaRPr lang="ru-RU" dirty="0" smtClean="0"/>
          </a:p>
          <a:p>
            <a:endParaRPr lang="ru-RU" dirty="0"/>
          </a:p>
        </p:txBody>
      </p:sp>
    </p:spTree>
    <p:extLst>
      <p:ext uri="{BB962C8B-B14F-4D97-AF65-F5344CB8AC3E}">
        <p14:creationId xmlns:p14="http://schemas.microsoft.com/office/powerpoint/2010/main" val="408648329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52600" y="274638"/>
            <a:ext cx="6934200" cy="715962"/>
          </a:xfrm>
        </p:spPr>
        <p:txBody>
          <a:bodyPr>
            <a:normAutofit fontScale="90000"/>
          </a:bodyPr>
          <a:lstStyle/>
          <a:p>
            <a:r>
              <a:rPr lang="ru-RU" dirty="0" smtClean="0"/>
              <a:t>Достоинства прототипирования</a:t>
            </a:r>
            <a:endParaRPr lang="ru-RU" dirty="0"/>
          </a:p>
        </p:txBody>
      </p:sp>
      <p:sp>
        <p:nvSpPr>
          <p:cNvPr id="3" name="Содержимое 2"/>
          <p:cNvSpPr>
            <a:spLocks noGrp="1"/>
          </p:cNvSpPr>
          <p:nvPr>
            <p:ph idx="1"/>
          </p:nvPr>
        </p:nvSpPr>
        <p:spPr>
          <a:xfrm>
            <a:off x="144016" y="1412776"/>
            <a:ext cx="8892480" cy="5257800"/>
          </a:xfrm>
        </p:spPr>
        <p:txBody>
          <a:bodyPr>
            <a:normAutofit fontScale="92500"/>
          </a:bodyPr>
          <a:lstStyle/>
          <a:p>
            <a:pPr marL="514350" indent="-514350">
              <a:buFont typeface="+mj-lt"/>
              <a:buAutoNum type="arabicPeriod"/>
            </a:pPr>
            <a:r>
              <a:rPr lang="ru-RU" dirty="0" smtClean="0"/>
              <a:t>Опыт полученный при разработке прототипа уменьшает стоимость разработки конечного ПО.</a:t>
            </a:r>
          </a:p>
          <a:p>
            <a:pPr marL="514350" indent="-514350">
              <a:buFont typeface="+mj-lt"/>
              <a:buAutoNum type="arabicPeriod"/>
            </a:pPr>
            <a:r>
              <a:rPr lang="ru-RU" dirty="0" smtClean="0"/>
              <a:t>Получаются более стабильные требования, благодаря обратной связи с пользователями в требованиях будет меньше изменений.</a:t>
            </a:r>
          </a:p>
          <a:p>
            <a:pPr marL="514350" indent="-514350">
              <a:buFont typeface="+mj-lt"/>
              <a:buAutoNum type="arabicPeriod"/>
            </a:pPr>
            <a:r>
              <a:rPr lang="ru-RU" dirty="0" smtClean="0"/>
              <a:t>Вероятно, что качество конечного ПО будет намного лучше, в связи с тем, что опыт полученный разработчики в ходе создания прототипа позволит улучшить проектирование, составление кода и выполнения тестирования.</a:t>
            </a:r>
          </a:p>
          <a:p>
            <a:pPr marL="514350" indent="-514350">
              <a:buFont typeface="+mj-lt"/>
              <a:buAutoNum type="arabicPeriod"/>
            </a:pPr>
            <a:endParaRPr lang="ru-RU" dirty="0" smtClean="0"/>
          </a:p>
          <a:p>
            <a:endParaRPr lang="ru-RU" dirty="0"/>
          </a:p>
        </p:txBody>
      </p:sp>
    </p:spTree>
    <p:extLst>
      <p:ext uri="{BB962C8B-B14F-4D97-AF65-F5344CB8AC3E}">
        <p14:creationId xmlns:p14="http://schemas.microsoft.com/office/powerpoint/2010/main" val="208642983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Общий вывод</a:t>
            </a:r>
            <a:endParaRPr lang="ru-RU" dirty="0"/>
          </a:p>
        </p:txBody>
      </p:sp>
      <p:sp>
        <p:nvSpPr>
          <p:cNvPr id="3" name="Содержимое 2"/>
          <p:cNvSpPr>
            <a:spLocks noGrp="1"/>
          </p:cNvSpPr>
          <p:nvPr>
            <p:ph idx="1"/>
          </p:nvPr>
        </p:nvSpPr>
        <p:spPr>
          <a:xfrm>
            <a:off x="144016" y="1484784"/>
            <a:ext cx="8820472" cy="5257800"/>
          </a:xfrm>
        </p:spPr>
        <p:txBody>
          <a:bodyPr>
            <a:normAutofit fontScale="92500"/>
          </a:bodyPr>
          <a:lstStyle/>
          <a:p>
            <a:r>
              <a:rPr lang="ru-RU" dirty="0" smtClean="0"/>
              <a:t>Обычно прототипирование хорошо подходит для проектов, в которых трудно выявить требования и доверие к заявленным требованиям низкая.</a:t>
            </a:r>
          </a:p>
          <a:p>
            <a:r>
              <a:rPr lang="ru-RU" dirty="0" smtClean="0"/>
              <a:t>В тех проектах, у которых требования не совсем понятны в начале работы, использование модели процесса «прототипирование» может быть наиболее методом разработки ПО.</a:t>
            </a:r>
          </a:p>
          <a:p>
            <a:r>
              <a:rPr lang="ru-RU" dirty="0" smtClean="0"/>
              <a:t>Данный метод также является хорошим способом уменьшения некоторых рисков, связанных с проектом.</a:t>
            </a:r>
          </a:p>
          <a:p>
            <a:endParaRPr lang="ru-RU" dirty="0"/>
          </a:p>
        </p:txBody>
      </p:sp>
    </p:spTree>
    <p:extLst>
      <p:ext uri="{BB962C8B-B14F-4D97-AF65-F5344CB8AC3E}">
        <p14:creationId xmlns:p14="http://schemas.microsoft.com/office/powerpoint/2010/main" val="21335474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2209800" y="214313"/>
            <a:ext cx="6734175" cy="852487"/>
          </a:xfrm>
        </p:spPr>
        <p:txBody>
          <a:bodyPr>
            <a:normAutofit fontScale="90000"/>
          </a:bodyPr>
          <a:lstStyle/>
          <a:p>
            <a:r>
              <a:rPr lang="ru-RU" dirty="0" smtClean="0"/>
              <a:t>Выводы по прототипированию</a:t>
            </a:r>
            <a:endParaRPr lang="en-US" dirty="0"/>
          </a:p>
        </p:txBody>
      </p:sp>
      <p:graphicFrame>
        <p:nvGraphicFramePr>
          <p:cNvPr id="156675" name="Group 3"/>
          <p:cNvGraphicFramePr>
            <a:graphicFrameLocks noGrp="1"/>
          </p:cNvGraphicFramePr>
          <p:nvPr>
            <p:ph idx="1"/>
            <p:extLst>
              <p:ext uri="{D42A27DB-BD31-4B8C-83A1-F6EECF244321}">
                <p14:modId xmlns:p14="http://schemas.microsoft.com/office/powerpoint/2010/main" val="3572347145"/>
              </p:ext>
            </p:extLst>
          </p:nvPr>
        </p:nvGraphicFramePr>
        <p:xfrm>
          <a:off x="179512" y="1556792"/>
          <a:ext cx="8820472" cy="4896544"/>
        </p:xfrm>
        <a:graphic>
          <a:graphicData uri="http://schemas.openxmlformats.org/drawingml/2006/table">
            <a:tbl>
              <a:tblPr/>
              <a:tblGrid>
                <a:gridCol w="2778410">
                  <a:extLst>
                    <a:ext uri="{9D8B030D-6E8A-4147-A177-3AD203B41FA5}">
                      <a16:colId xmlns:a16="http://schemas.microsoft.com/office/drawing/2014/main" val="20000"/>
                    </a:ext>
                  </a:extLst>
                </a:gridCol>
                <a:gridCol w="2860128">
                  <a:extLst>
                    <a:ext uri="{9D8B030D-6E8A-4147-A177-3AD203B41FA5}">
                      <a16:colId xmlns:a16="http://schemas.microsoft.com/office/drawing/2014/main" val="20001"/>
                    </a:ext>
                  </a:extLst>
                </a:gridCol>
                <a:gridCol w="3181934">
                  <a:extLst>
                    <a:ext uri="{9D8B030D-6E8A-4147-A177-3AD203B41FA5}">
                      <a16:colId xmlns:a16="http://schemas.microsoft.com/office/drawing/2014/main" val="20002"/>
                    </a:ext>
                  </a:extLst>
                </a:gridCol>
              </a:tblGrid>
              <a:tr h="74660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Достоинства</a:t>
                      </a:r>
                      <a:endParaRPr kumimoji="0" lang="en-US" sz="2000" b="1" i="0" u="none" strike="noStrike" cap="none" normalizeH="0" baseline="0" dirty="0" smtClean="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Недостатки</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Подходящие типы проектов</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99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Помогает выявить требования.</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Уменьшает риски.</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Получается более стабильная конечная система.</a:t>
                      </a:r>
                      <a:endParaRPr kumimoji="0" lang="en-US" sz="2000" b="0" i="0" u="none" strike="noStrike" cap="none" normalizeH="0" baseline="0" dirty="0" smtClean="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Тяжелое начало. </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Возможны высокая стоимость и сжатые сроки.</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Поощряет раздувание требований.</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Затрудняет поздние изменения требований.</a:t>
                      </a:r>
                      <a:endParaRPr kumimoji="0" lang="en-US" sz="2000" b="0"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Системы с неопытными пользователями</a:t>
                      </a:r>
                      <a:r>
                        <a:rPr kumimoji="0" lang="en-US" sz="2000" b="0" i="0" u="none" strike="noStrike" cap="none" normalizeH="0" baseline="0" dirty="0" smtClean="0">
                          <a:ln>
                            <a:noFill/>
                          </a:ln>
                          <a:solidFill>
                            <a:schemeClr val="tx1"/>
                          </a:solidFill>
                          <a:effectLst/>
                          <a:latin typeface="Tahoma" charset="0"/>
                        </a:rPr>
                        <a:t>; </a:t>
                      </a:r>
                      <a:endParaRPr kumimoji="0" lang="ru-RU"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Области с неопределенными требованиями</a:t>
                      </a:r>
                      <a:r>
                        <a:rPr kumimoji="0" lang="en-US" sz="2000" b="0" i="0" u="none" strike="noStrike" cap="none" normalizeH="0" baseline="0" dirty="0" smtClean="0">
                          <a:ln>
                            <a:noFill/>
                          </a:ln>
                          <a:solidFill>
                            <a:schemeClr val="tx1"/>
                          </a:solidFill>
                          <a:effectLst/>
                          <a:latin typeface="Tahoma" charset="0"/>
                        </a:rPr>
                        <a: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ru-RU" sz="2000" b="0" i="0" u="none" strike="noStrike" cap="none" normalizeH="0" baseline="0" dirty="0" smtClean="0">
                          <a:ln>
                            <a:noFill/>
                          </a:ln>
                          <a:solidFill>
                            <a:schemeClr val="tx1"/>
                          </a:solidFill>
                          <a:effectLst/>
                          <a:latin typeface="Tahoma" charset="0"/>
                        </a:rPr>
                        <a:t>Системы с большим кол-вом отчетов могут выиграть от прототипа пользовательского интерфейса.</a:t>
                      </a:r>
                      <a:endParaRPr kumimoji="0" lang="en-US" sz="2000" b="0"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1530070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57400" y="274638"/>
            <a:ext cx="6629400" cy="868362"/>
          </a:xfrm>
        </p:spPr>
        <p:txBody>
          <a:bodyPr/>
          <a:lstStyle/>
          <a:p>
            <a:r>
              <a:rPr lang="ru-RU" dirty="0" smtClean="0"/>
              <a:t>3. Итеративная разработка</a:t>
            </a:r>
            <a:endParaRPr lang="ru-RU" dirty="0"/>
          </a:p>
        </p:txBody>
      </p:sp>
      <p:sp>
        <p:nvSpPr>
          <p:cNvPr id="3" name="Содержимое 2"/>
          <p:cNvSpPr>
            <a:spLocks noGrp="1"/>
          </p:cNvSpPr>
          <p:nvPr>
            <p:ph idx="1"/>
          </p:nvPr>
        </p:nvSpPr>
        <p:spPr>
          <a:xfrm>
            <a:off x="107504" y="1556792"/>
            <a:ext cx="8892480" cy="5257800"/>
          </a:xfrm>
        </p:spPr>
        <p:txBody>
          <a:bodyPr>
            <a:normAutofit fontScale="85000" lnSpcReduction="10000"/>
          </a:bodyPr>
          <a:lstStyle/>
          <a:p>
            <a:r>
              <a:rPr lang="ru-RU" dirty="0" smtClean="0"/>
              <a:t>Основная идея – пошаговая разработка ПО (постепенная, итеративная, инкрементальная).</a:t>
            </a:r>
          </a:p>
          <a:p>
            <a:r>
              <a:rPr lang="ru-RU" dirty="0" smtClean="0"/>
              <a:t>На каждом шаге к создаваемой ПС должны добавляться некоторые функциональные возможности, до тех пор, пока система не будет реализована полностью.</a:t>
            </a:r>
          </a:p>
          <a:p>
            <a:r>
              <a:rPr lang="ru-RU" dirty="0" smtClean="0"/>
              <a:t>На первом шаге данной модели создается простое начальное приложение, реализующее подмножество задач полного решения проблемы. </a:t>
            </a:r>
          </a:p>
          <a:p>
            <a:r>
              <a:rPr lang="ru-RU" dirty="0" smtClean="0"/>
              <a:t>Данное подмножество должно включать некоторые из основных задач рассматриваемой проблемы, которые легко понять и реализовать, и которые формируют полезную и простую в применении систему. </a:t>
            </a:r>
          </a:p>
          <a:p>
            <a:endParaRPr lang="ru-RU" dirty="0" smtClean="0"/>
          </a:p>
          <a:p>
            <a:endParaRPr lang="ru-RU" dirty="0" smtClean="0"/>
          </a:p>
          <a:p>
            <a:endParaRPr lang="ru-RU" dirty="0" smtClean="0"/>
          </a:p>
          <a:p>
            <a:endParaRPr lang="ru-RU" dirty="0" smtClean="0"/>
          </a:p>
        </p:txBody>
      </p:sp>
    </p:spTree>
    <p:extLst>
      <p:ext uri="{BB962C8B-B14F-4D97-AF65-F5344CB8AC3E}">
        <p14:creationId xmlns:p14="http://schemas.microsoft.com/office/powerpoint/2010/main" val="1660106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179512" y="1600200"/>
            <a:ext cx="8712968" cy="4997152"/>
          </a:xfrm>
        </p:spPr>
        <p:txBody>
          <a:bodyPr>
            <a:normAutofit fontScale="92500"/>
          </a:bodyPr>
          <a:lstStyle/>
          <a:p>
            <a:pPr marL="357188" indent="-357188"/>
            <a:r>
              <a:rPr lang="ru-RU" dirty="0" smtClean="0"/>
              <a:t>Создается </a:t>
            </a:r>
            <a:r>
              <a:rPr lang="ru-RU" b="1" i="1" dirty="0" smtClean="0"/>
              <a:t>управляющий список</a:t>
            </a:r>
            <a:r>
              <a:rPr lang="ru-RU" dirty="0" smtClean="0"/>
              <a:t>, который содержит упорядоченный набор задач, которые должны быть реализованы для получения конечного решения. </a:t>
            </a:r>
          </a:p>
          <a:p>
            <a:pPr marL="357188" indent="-357188"/>
            <a:r>
              <a:rPr lang="ru-RU" dirty="0" smtClean="0"/>
              <a:t>Данный список проекта дает представление о том, как много этапов должно быть выполнено для получения окончательного варианта ПС. </a:t>
            </a:r>
          </a:p>
          <a:p>
            <a:pPr marL="357188" indent="-357188"/>
            <a:r>
              <a:rPr lang="ru-RU" dirty="0" smtClean="0"/>
              <a:t>Управляющий список проекта руководит последовательностью шагов и содержит список всех задач, которые должны быть выполнены.</a:t>
            </a:r>
          </a:p>
          <a:p>
            <a:pPr marL="357188" indent="-357188"/>
            <a:endParaRPr lang="ru-RU" dirty="0" smtClean="0"/>
          </a:p>
          <a:p>
            <a:endParaRPr lang="ru-RU" dirty="0"/>
          </a:p>
        </p:txBody>
      </p:sp>
    </p:spTree>
    <p:extLst>
      <p:ext uri="{BB962C8B-B14F-4D97-AF65-F5344CB8AC3E}">
        <p14:creationId xmlns:p14="http://schemas.microsoft.com/office/powerpoint/2010/main" val="394677254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72008" y="1484784"/>
            <a:ext cx="8964488" cy="5257800"/>
          </a:xfrm>
        </p:spPr>
        <p:txBody>
          <a:bodyPr>
            <a:normAutofit/>
          </a:bodyPr>
          <a:lstStyle/>
          <a:p>
            <a:r>
              <a:rPr lang="ru-RU" dirty="0" smtClean="0"/>
              <a:t>На основе анализа, к задачам данного списка может относиться перепроектирование неправильно разработанных модулей или перепроектирование всей системы в целом.</a:t>
            </a:r>
          </a:p>
          <a:p>
            <a:r>
              <a:rPr lang="ru-RU" dirty="0" smtClean="0"/>
              <a:t>Однако перепроектирование системы обычно встречается только на начальных этапах.</a:t>
            </a:r>
          </a:p>
          <a:p>
            <a:r>
              <a:rPr lang="ru-RU" dirty="0" smtClean="0"/>
              <a:t>На более поздних этапах, проект должен стабилизироваться и вероятность его изменения должна уменьшаться.</a:t>
            </a:r>
          </a:p>
          <a:p>
            <a:endParaRPr lang="ru-RU" dirty="0" smtClean="0"/>
          </a:p>
          <a:p>
            <a:endParaRPr lang="ru-RU" dirty="0" smtClean="0"/>
          </a:p>
          <a:p>
            <a:endParaRPr lang="ru-RU" dirty="0" smtClean="0"/>
          </a:p>
          <a:p>
            <a:endParaRPr lang="ru-RU" dirty="0"/>
          </a:p>
        </p:txBody>
      </p:sp>
    </p:spTree>
    <p:extLst>
      <p:ext uri="{BB962C8B-B14F-4D97-AF65-F5344CB8AC3E}">
        <p14:creationId xmlns:p14="http://schemas.microsoft.com/office/powerpoint/2010/main" val="2516325031"/>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57400" y="274638"/>
            <a:ext cx="6629400" cy="889512"/>
          </a:xfrm>
        </p:spPr>
        <p:txBody>
          <a:bodyPr>
            <a:normAutofit fontScale="90000"/>
          </a:bodyPr>
          <a:lstStyle/>
          <a:p>
            <a:r>
              <a:rPr lang="ru-RU" dirty="0" smtClean="0"/>
              <a:t>Итеративная модель улучшения ПО</a:t>
            </a:r>
            <a:endParaRPr lang="ru-RU" dirty="0"/>
          </a:p>
        </p:txBody>
      </p:sp>
      <p:sp>
        <p:nvSpPr>
          <p:cNvPr id="3" name="Содержимое 2"/>
          <p:cNvSpPr>
            <a:spLocks noGrp="1"/>
          </p:cNvSpPr>
          <p:nvPr>
            <p:ph idx="1"/>
          </p:nvPr>
        </p:nvSpPr>
        <p:spPr>
          <a:xfrm>
            <a:off x="179512" y="1484784"/>
            <a:ext cx="8784976" cy="2736304"/>
          </a:xfrm>
        </p:spPr>
        <p:txBody>
          <a:bodyPr>
            <a:normAutofit fontScale="92500" lnSpcReduction="20000"/>
          </a:bodyPr>
          <a:lstStyle/>
          <a:p>
            <a:r>
              <a:rPr lang="ru-RU" dirty="0" smtClean="0"/>
              <a:t>Каждый шаг итеративной модели состоит из удаления следующей задачи из списка:</a:t>
            </a:r>
          </a:p>
          <a:p>
            <a:pPr marL="971550" lvl="1" indent="-514350">
              <a:buFont typeface="+mj-lt"/>
              <a:buAutoNum type="arabicPeriod"/>
            </a:pPr>
            <a:r>
              <a:rPr lang="ru-RU" dirty="0" smtClean="0"/>
              <a:t>проектирование реализации выбранной задачи</a:t>
            </a:r>
          </a:p>
          <a:p>
            <a:pPr marL="971550" lvl="1" indent="-514350">
              <a:buFont typeface="+mj-lt"/>
              <a:buAutoNum type="arabicPeriod"/>
            </a:pPr>
            <a:r>
              <a:rPr lang="ru-RU" dirty="0" smtClean="0"/>
              <a:t>кодирование и тестирование созданной реализации</a:t>
            </a:r>
            <a:endParaRPr lang="en-US" dirty="0" smtClean="0"/>
          </a:p>
          <a:p>
            <a:pPr marL="971550" lvl="1" indent="-514350">
              <a:buFont typeface="+mj-lt"/>
              <a:buAutoNum type="arabicPeriod"/>
            </a:pPr>
            <a:r>
              <a:rPr lang="ru-RU" dirty="0" smtClean="0"/>
              <a:t>выполнение анализа частично разработанной системы, поученной после данного шага и обновление списка на основе</a:t>
            </a:r>
            <a:r>
              <a:rPr lang="en-US" dirty="0" smtClean="0"/>
              <a:t> </a:t>
            </a:r>
            <a:r>
              <a:rPr lang="ru-RU" dirty="0" smtClean="0"/>
              <a:t>результатов анализа.</a:t>
            </a:r>
          </a:p>
          <a:p>
            <a:pPr lvl="1"/>
            <a:endParaRPr lang="ru-RU" dirty="0" smtClean="0"/>
          </a:p>
          <a:p>
            <a:pPr lvl="1"/>
            <a:endParaRPr lang="ru-RU" dirty="0"/>
          </a:p>
        </p:txBody>
      </p:sp>
      <p:pic>
        <p:nvPicPr>
          <p:cNvPr id="7170" name="Picture 2"/>
          <p:cNvPicPr>
            <a:picLocks noChangeAspect="1" noChangeArrowheads="1"/>
          </p:cNvPicPr>
          <p:nvPr/>
        </p:nvPicPr>
        <p:blipFill>
          <a:blip r:embed="rId3" cstate="print"/>
          <a:srcRect/>
          <a:stretch>
            <a:fillRect/>
          </a:stretch>
        </p:blipFill>
        <p:spPr bwMode="auto">
          <a:xfrm>
            <a:off x="1619672" y="4541722"/>
            <a:ext cx="6180407" cy="2316278"/>
          </a:xfrm>
          <a:prstGeom prst="rect">
            <a:avLst/>
          </a:prstGeom>
          <a:noFill/>
          <a:ln w="9525">
            <a:noFill/>
            <a:miter lim="800000"/>
            <a:headEnd/>
            <a:tailEnd/>
          </a:ln>
        </p:spPr>
      </p:pic>
    </p:spTree>
    <p:extLst>
      <p:ext uri="{BB962C8B-B14F-4D97-AF65-F5344CB8AC3E}">
        <p14:creationId xmlns:p14="http://schemas.microsoft.com/office/powerpoint/2010/main" val="110853756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14313"/>
            <a:ext cx="8764463" cy="982439"/>
          </a:xfrm>
        </p:spPr>
        <p:txBody>
          <a:bodyPr/>
          <a:lstStyle/>
          <a:p>
            <a:endParaRPr lang="ru-RU" dirty="0"/>
          </a:p>
        </p:txBody>
      </p:sp>
      <p:sp>
        <p:nvSpPr>
          <p:cNvPr id="5" name="Прямоугольник 4"/>
          <p:cNvSpPr/>
          <p:nvPr/>
        </p:nvSpPr>
        <p:spPr>
          <a:xfrm>
            <a:off x="87506" y="1366283"/>
            <a:ext cx="8892480" cy="5491718"/>
          </a:xfrm>
          <a:prstGeom prst="rect">
            <a:avLst/>
          </a:prstGeom>
        </p:spPr>
        <p:txBody>
          <a:bodyPr wrap="square">
            <a:normAutofit/>
          </a:bodyPr>
          <a:lstStyle/>
          <a:p>
            <a:pPr marL="357188" indent="-357188">
              <a:buFont typeface="Arial" pitchFamily="34" charset="0"/>
              <a:buChar char="•"/>
            </a:pPr>
            <a:r>
              <a:rPr lang="ru-RU" sz="2800" b="1" i="1" dirty="0" smtClean="0"/>
              <a:t>Итеративная разработка в настоящее время является наиболее общим подходом для создания прикладных систем.</a:t>
            </a:r>
          </a:p>
          <a:p>
            <a:pPr marL="357188" indent="-357188">
              <a:buFont typeface="Arial" pitchFamily="34" charset="0"/>
              <a:buChar char="•"/>
            </a:pPr>
            <a:r>
              <a:rPr lang="ru-RU" sz="2800" dirty="0" smtClean="0"/>
              <a:t>Данный подход м.б. планово-управляемым, гибким или, более часто, смесью этих подходов.</a:t>
            </a:r>
          </a:p>
          <a:p>
            <a:pPr marL="814388" lvl="1" indent="-357188">
              <a:buFont typeface="Courier New" pitchFamily="49" charset="0"/>
              <a:buChar char="o"/>
            </a:pPr>
            <a:r>
              <a:rPr lang="ru-RU" sz="2400" dirty="0" smtClean="0"/>
              <a:t>при планово-управляемым подходе требования к системе выявляются заранее.</a:t>
            </a:r>
          </a:p>
          <a:p>
            <a:pPr marL="814388" lvl="1" indent="-357188">
              <a:buFont typeface="Courier New" pitchFamily="49" charset="0"/>
              <a:buChar char="o"/>
            </a:pPr>
            <a:r>
              <a:rPr lang="ru-RU" sz="2400" dirty="0" smtClean="0"/>
              <a:t>при гибком подходе начальные итерации планируются, но разработка последующих итераций зависит от полученных результатов и приоритетов пользователей.</a:t>
            </a:r>
          </a:p>
          <a:p>
            <a:pPr marL="357188" indent="-357188">
              <a:buFont typeface="Arial" pitchFamily="34" charset="0"/>
              <a:buChar char="•"/>
            </a:pPr>
            <a:endParaRPr lang="ru-RU" sz="2400" dirty="0" smtClean="0"/>
          </a:p>
          <a:p>
            <a:pPr marL="357188" indent="-357188"/>
            <a:endParaRPr lang="ru-RU" sz="2400" dirty="0" smtClean="0"/>
          </a:p>
        </p:txBody>
      </p:sp>
    </p:spTree>
    <p:extLst>
      <p:ext uri="{BB962C8B-B14F-4D97-AF65-F5344CB8AC3E}">
        <p14:creationId xmlns:p14="http://schemas.microsoft.com/office/powerpoint/2010/main" val="1447362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Достоинства</a:t>
            </a:r>
            <a:endParaRPr lang="ru-RU" dirty="0"/>
          </a:p>
        </p:txBody>
      </p:sp>
      <p:sp>
        <p:nvSpPr>
          <p:cNvPr id="3" name="Содержимое 2"/>
          <p:cNvSpPr>
            <a:spLocks noGrp="1"/>
          </p:cNvSpPr>
          <p:nvPr>
            <p:ph idx="1"/>
          </p:nvPr>
        </p:nvSpPr>
        <p:spPr>
          <a:xfrm>
            <a:off x="144016" y="1556792"/>
            <a:ext cx="8892480" cy="5257800"/>
          </a:xfrm>
        </p:spPr>
        <p:txBody>
          <a:bodyPr>
            <a:normAutofit fontScale="85000" lnSpcReduction="20000"/>
          </a:bodyPr>
          <a:lstStyle/>
          <a:p>
            <a:r>
              <a:rPr lang="ru-RU" dirty="0" smtClean="0"/>
              <a:t>Уменьшаются затраты на приспособление к изменившимся требованиям к ПО.</a:t>
            </a:r>
          </a:p>
          <a:p>
            <a:pPr lvl="1"/>
            <a:r>
              <a:rPr lang="ru-RU" dirty="0" smtClean="0"/>
              <a:t>Уменьшается объем анализа и кол-во документации, которые должны быть переделаны.</a:t>
            </a:r>
          </a:p>
          <a:p>
            <a:r>
              <a:rPr lang="ru-RU" dirty="0" smtClean="0"/>
              <a:t>Легче получить отзыв потребителя на выполненные результаты разработки.</a:t>
            </a:r>
          </a:p>
          <a:p>
            <a:pPr lvl="1"/>
            <a:r>
              <a:rPr lang="ru-RU" dirty="0" smtClean="0"/>
              <a:t>Потребитель может комментировать показываемое ему ПО и видеть, насколько много было разработано.</a:t>
            </a:r>
          </a:p>
          <a:p>
            <a:pPr lvl="1"/>
            <a:r>
              <a:rPr lang="ru-RU" dirty="0" smtClean="0"/>
              <a:t>Потребителю трудно оценивать ход разработки на основе документов проектирования ПО.</a:t>
            </a:r>
          </a:p>
          <a:p>
            <a:r>
              <a:rPr lang="ru-RU" dirty="0" smtClean="0"/>
              <a:t>Возможно ускорить предоставление и развертывание полезного ПО  у потребителя, даже если не вся требуемая функциональность в нем имеется.</a:t>
            </a:r>
          </a:p>
          <a:p>
            <a:r>
              <a:rPr lang="ru-RU" dirty="0" smtClean="0"/>
              <a:t>Отсутствует риска получить «все или ничего»</a:t>
            </a:r>
            <a:r>
              <a:rPr lang="en-US" dirty="0" smtClean="0"/>
              <a:t>.</a:t>
            </a:r>
            <a:endParaRPr lang="ru-RU" dirty="0" smtClean="0"/>
          </a:p>
        </p:txBody>
      </p:sp>
    </p:spTree>
    <p:extLst>
      <p:ext uri="{BB962C8B-B14F-4D97-AF65-F5344CB8AC3E}">
        <p14:creationId xmlns:p14="http://schemas.microsoft.com/office/powerpoint/2010/main" val="148295228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24000" y="0"/>
            <a:ext cx="7620000" cy="1049942"/>
          </a:xfrm>
        </p:spPr>
        <p:txBody>
          <a:bodyPr>
            <a:normAutofit fontScale="90000"/>
          </a:bodyPr>
          <a:lstStyle/>
          <a:p>
            <a:r>
              <a:rPr lang="ru-RU" dirty="0" smtClean="0"/>
              <a:t>    Сравнение рисков итеративной и водопадной моделей</a:t>
            </a:r>
            <a:endParaRPr lang="ru-RU" dirty="0"/>
          </a:p>
        </p:txBody>
      </p:sp>
      <p:sp>
        <p:nvSpPr>
          <p:cNvPr id="3" name="Содержимое 2"/>
          <p:cNvSpPr>
            <a:spLocks noGrp="1"/>
          </p:cNvSpPr>
          <p:nvPr>
            <p:ph idx="1"/>
          </p:nvPr>
        </p:nvSpPr>
        <p:spPr>
          <a:xfrm>
            <a:off x="323528" y="1600200"/>
            <a:ext cx="8568952" cy="1036711"/>
          </a:xfrm>
        </p:spPr>
        <p:txBody>
          <a:bodyPr>
            <a:normAutofit fontScale="77500" lnSpcReduction="20000"/>
          </a:bodyPr>
          <a:lstStyle/>
          <a:p>
            <a:r>
              <a:rPr lang="ru-RU" dirty="0" smtClean="0"/>
              <a:t>Серьезные риски при итеративной разработке определяются</a:t>
            </a:r>
            <a:r>
              <a:rPr lang="en-US" dirty="0" smtClean="0"/>
              <a:t> </a:t>
            </a:r>
            <a:r>
              <a:rPr lang="ru-RU" dirty="0" smtClean="0"/>
              <a:t>и уменьшаются раньше, чем при водопадной</a:t>
            </a:r>
            <a:endParaRPr lang="ru-RU" dirty="0"/>
          </a:p>
        </p:txBody>
      </p:sp>
      <p:pic>
        <p:nvPicPr>
          <p:cNvPr id="8194" name="Picture 2"/>
          <p:cNvPicPr>
            <a:picLocks noChangeAspect="1" noChangeArrowheads="1"/>
          </p:cNvPicPr>
          <p:nvPr/>
        </p:nvPicPr>
        <p:blipFill>
          <a:blip r:embed="rId3" cstate="print"/>
          <a:srcRect l="20022" t="33566" r="18329" b="14595"/>
          <a:stretch>
            <a:fillRect/>
          </a:stretch>
        </p:blipFill>
        <p:spPr bwMode="auto">
          <a:xfrm>
            <a:off x="68597" y="2636911"/>
            <a:ext cx="9075403" cy="4221089"/>
          </a:xfrm>
          <a:prstGeom prst="rect">
            <a:avLst/>
          </a:prstGeom>
          <a:noFill/>
          <a:ln w="9525">
            <a:noFill/>
            <a:miter lim="800000"/>
            <a:headEnd/>
            <a:tailEnd/>
          </a:ln>
        </p:spPr>
      </p:pic>
    </p:spTree>
    <p:extLst>
      <p:ext uri="{BB962C8B-B14F-4D97-AF65-F5344CB8AC3E}">
        <p14:creationId xmlns:p14="http://schemas.microsoft.com/office/powerpoint/2010/main" val="115556562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Недостатки</a:t>
            </a:r>
            <a:endParaRPr lang="ru-RU" dirty="0"/>
          </a:p>
        </p:txBody>
      </p:sp>
      <p:sp>
        <p:nvSpPr>
          <p:cNvPr id="3" name="Содержимое 2"/>
          <p:cNvSpPr>
            <a:spLocks noGrp="1"/>
          </p:cNvSpPr>
          <p:nvPr>
            <p:ph idx="1"/>
          </p:nvPr>
        </p:nvSpPr>
        <p:spPr>
          <a:xfrm>
            <a:off x="110150" y="1484784"/>
            <a:ext cx="8892480" cy="5257800"/>
          </a:xfrm>
        </p:spPr>
        <p:txBody>
          <a:bodyPr>
            <a:normAutofit/>
          </a:bodyPr>
          <a:lstStyle/>
          <a:p>
            <a:r>
              <a:rPr lang="ru-RU" dirty="0" smtClean="0"/>
              <a:t>Очень долгое время отсутствует целостное понимание возможностей и ограничений проекта. </a:t>
            </a:r>
          </a:p>
          <a:p>
            <a:r>
              <a:rPr lang="ru-RU" dirty="0" smtClean="0"/>
              <a:t>При итерациях приходится отбрасывать часть сделанной ранее работы. </a:t>
            </a:r>
          </a:p>
          <a:p>
            <a:r>
              <a:rPr lang="ru-RU" dirty="0" smtClean="0"/>
              <a:t>Снижается добросовестность специалистов при выполнении работ, что психологически объяснимо, ведь над ними постоянно довлеет ощущение, что «всё равно всё можно будет переделать и улучшить позже».</a:t>
            </a:r>
          </a:p>
          <a:p>
            <a:endParaRPr lang="ru-RU" dirty="0"/>
          </a:p>
        </p:txBody>
      </p:sp>
    </p:spTree>
    <p:extLst>
      <p:ext uri="{BB962C8B-B14F-4D97-AF65-F5344CB8AC3E}">
        <p14:creationId xmlns:p14="http://schemas.microsoft.com/office/powerpoint/2010/main" val="385126384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179512" y="1600200"/>
            <a:ext cx="8712968" cy="5069160"/>
          </a:xfrm>
        </p:spPr>
        <p:txBody>
          <a:bodyPr>
            <a:normAutofit lnSpcReduction="10000"/>
          </a:bodyPr>
          <a:lstStyle/>
          <a:p>
            <a:r>
              <a:rPr lang="ru-RU" dirty="0" smtClean="0"/>
              <a:t>Инкрементальную или гибкую модель разработки не всегда легко вводить или использовать в больших компаниях со стандартизированными инженерными процессами и в организациях, в которых разработка ПО обычно передается внешним исполнителям (</a:t>
            </a:r>
            <a:r>
              <a:rPr lang="ru-RU" dirty="0" err="1" smtClean="0"/>
              <a:t>аутсорсинг</a:t>
            </a:r>
            <a:r>
              <a:rPr lang="ru-RU" dirty="0" smtClean="0"/>
              <a:t>).</a:t>
            </a:r>
          </a:p>
          <a:p>
            <a:r>
              <a:rPr lang="ru-RU" dirty="0" smtClean="0"/>
              <a:t>Если разработка передается внешним исполнителям, то и клиент и исполнитель обычно хотят иметь полное описание того, что уже было сделано.</a:t>
            </a:r>
            <a:endParaRPr lang="ru-RU" dirty="0"/>
          </a:p>
        </p:txBody>
      </p:sp>
    </p:spTree>
    <p:extLst>
      <p:ext uri="{BB962C8B-B14F-4D97-AF65-F5344CB8AC3E}">
        <p14:creationId xmlns:p14="http://schemas.microsoft.com/office/powerpoint/2010/main" val="522041489"/>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1600" y="152400"/>
            <a:ext cx="8229600" cy="1143000"/>
          </a:xfrm>
        </p:spPr>
        <p:txBody>
          <a:bodyPr>
            <a:normAutofit fontScale="90000"/>
          </a:bodyPr>
          <a:lstStyle/>
          <a:p>
            <a:r>
              <a:rPr lang="ru-RU" dirty="0" smtClean="0"/>
              <a:t>Основные трудности инкрементальной разработки</a:t>
            </a:r>
            <a:endParaRPr lang="ru-RU" dirty="0"/>
          </a:p>
        </p:txBody>
      </p:sp>
      <p:sp>
        <p:nvSpPr>
          <p:cNvPr id="3" name="Содержимое 2"/>
          <p:cNvSpPr>
            <a:spLocks noGrp="1"/>
          </p:cNvSpPr>
          <p:nvPr>
            <p:ph idx="1"/>
          </p:nvPr>
        </p:nvSpPr>
        <p:spPr>
          <a:xfrm>
            <a:off x="205680" y="1484784"/>
            <a:ext cx="8686800" cy="5257800"/>
          </a:xfrm>
        </p:spPr>
        <p:txBody>
          <a:bodyPr>
            <a:normAutofit fontScale="92500" lnSpcReduction="20000"/>
          </a:bodyPr>
          <a:lstStyle/>
          <a:p>
            <a:pPr marL="514350" indent="-514350">
              <a:buFont typeface="+mj-lt"/>
              <a:buAutoNum type="arabicPeriod"/>
            </a:pPr>
            <a:r>
              <a:rPr lang="ru-RU" dirty="0" smtClean="0"/>
              <a:t>Проблемы менеджмента</a:t>
            </a:r>
          </a:p>
          <a:p>
            <a:pPr lvl="1"/>
            <a:r>
              <a:rPr lang="ru-RU" dirty="0" smtClean="0"/>
              <a:t>Структура управления разработкой ПО в больших организациях создана для работы с такими моделями процесса разработки ПО, которые создают регулярно результаты, по которым можно оценить прогресс разработки.</a:t>
            </a:r>
          </a:p>
          <a:p>
            <a:pPr marL="914400" lvl="1" indent="-514350"/>
            <a:r>
              <a:rPr lang="ru-RU" dirty="0" smtClean="0"/>
              <a:t>Инкрементальные системы разработки меняются так быстро, что не выгодно по затратам создавать большое количество системной документации.</a:t>
            </a:r>
          </a:p>
          <a:p>
            <a:pPr marL="914400" lvl="1" indent="-514350"/>
            <a:r>
              <a:rPr lang="ru-RU" dirty="0" smtClean="0"/>
              <a:t>Менеджеры могут посчитать затруднительным использовать существующих сотрудников для выполнения инкрементальных процессов разработки, т.к. они не обладают таким опытом (умением).</a:t>
            </a:r>
            <a:endParaRPr lang="ru-RU" dirty="0"/>
          </a:p>
        </p:txBody>
      </p:sp>
    </p:spTree>
    <p:extLst>
      <p:ext uri="{BB962C8B-B14F-4D97-AF65-F5344CB8AC3E}">
        <p14:creationId xmlns:p14="http://schemas.microsoft.com/office/powerpoint/2010/main" val="314106860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Incremental development</a:t>
            </a:r>
            <a:endParaRPr lang="ru-RU" dirty="0"/>
          </a:p>
        </p:txBody>
      </p:sp>
      <p:sp>
        <p:nvSpPr>
          <p:cNvPr id="3" name="Содержимое 2"/>
          <p:cNvSpPr>
            <a:spLocks noGrp="1"/>
          </p:cNvSpPr>
          <p:nvPr>
            <p:ph idx="1"/>
          </p:nvPr>
        </p:nvSpPr>
        <p:spPr>
          <a:xfrm>
            <a:off x="457200" y="1600201"/>
            <a:ext cx="8229600" cy="532656"/>
          </a:xfrm>
        </p:spPr>
        <p:txBody>
          <a:bodyPr>
            <a:normAutofit lnSpcReduction="10000"/>
          </a:bodyPr>
          <a:lstStyle/>
          <a:p>
            <a:r>
              <a:rPr lang="en-US" dirty="0" smtClean="0"/>
              <a:t>Figure 2.2 Incremental</a:t>
            </a:r>
            <a:r>
              <a:rPr lang="ru-RU" dirty="0" smtClean="0"/>
              <a:t> </a:t>
            </a:r>
            <a:r>
              <a:rPr lang="en-US" dirty="0" smtClean="0"/>
              <a:t>development</a:t>
            </a:r>
            <a:endParaRPr lang="ru-RU" dirty="0"/>
          </a:p>
        </p:txBody>
      </p:sp>
      <p:pic>
        <p:nvPicPr>
          <p:cNvPr id="26626" name="Picture 2"/>
          <p:cNvPicPr>
            <a:picLocks noChangeAspect="1" noChangeArrowheads="1"/>
          </p:cNvPicPr>
          <p:nvPr/>
        </p:nvPicPr>
        <p:blipFill>
          <a:blip r:embed="rId3" cstate="print"/>
          <a:srcRect l="9222" t="17006" r="9779" b="13155"/>
          <a:stretch>
            <a:fillRect/>
          </a:stretch>
        </p:blipFill>
        <p:spPr bwMode="auto">
          <a:xfrm>
            <a:off x="539552" y="2420888"/>
            <a:ext cx="7776864" cy="4190866"/>
          </a:xfrm>
          <a:prstGeom prst="rect">
            <a:avLst/>
          </a:prstGeom>
          <a:noFill/>
          <a:ln w="9525">
            <a:noFill/>
            <a:miter lim="800000"/>
            <a:headEnd/>
            <a:tailEnd/>
          </a:ln>
        </p:spPr>
      </p:pic>
    </p:spTree>
    <p:extLst>
      <p:ext uri="{BB962C8B-B14F-4D97-AF65-F5344CB8AC3E}">
        <p14:creationId xmlns:p14="http://schemas.microsoft.com/office/powerpoint/2010/main" val="2455060132"/>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19200" y="274638"/>
            <a:ext cx="7467600" cy="792162"/>
          </a:xfrm>
        </p:spPr>
        <p:txBody>
          <a:bodyPr>
            <a:normAutofit fontScale="90000"/>
          </a:bodyPr>
          <a:lstStyle/>
          <a:p>
            <a:r>
              <a:rPr lang="ru-RU" dirty="0" smtClean="0"/>
              <a:t>Причины популярности итеративной модели</a:t>
            </a:r>
            <a:endParaRPr lang="ru-RU" dirty="0"/>
          </a:p>
        </p:txBody>
      </p:sp>
      <p:sp>
        <p:nvSpPr>
          <p:cNvPr id="3" name="Содержимое 2"/>
          <p:cNvSpPr>
            <a:spLocks noGrp="1"/>
          </p:cNvSpPr>
          <p:nvPr>
            <p:ph idx="1"/>
          </p:nvPr>
        </p:nvSpPr>
        <p:spPr>
          <a:xfrm>
            <a:off x="107504" y="1556792"/>
            <a:ext cx="8892480" cy="5257800"/>
          </a:xfrm>
        </p:spPr>
        <p:txBody>
          <a:bodyPr>
            <a:normAutofit fontScale="92500" lnSpcReduction="10000"/>
          </a:bodyPr>
          <a:lstStyle/>
          <a:p>
            <a:r>
              <a:rPr lang="ru-RU" dirty="0" smtClean="0"/>
              <a:t>В современном мире заказчик не хочет вкладывать деньги, если он не видит результаты от их вложения.</a:t>
            </a:r>
          </a:p>
          <a:p>
            <a:r>
              <a:rPr lang="ru-RU" dirty="0" smtClean="0"/>
              <a:t>Т.к. бизнес меняется быстро, то они никогда не знают «полностью» требования к ПО и им нужна возможность постоянно добавлять новые возможности к создаваемому ПО, чтобы оно соответствовало новым условиям.</a:t>
            </a:r>
          </a:p>
          <a:p>
            <a:r>
              <a:rPr lang="ru-RU" dirty="0" smtClean="0"/>
              <a:t>На каждой итерации создается работающая версия ПО, которая помогает разработать стабильные требования для следующей итерации.</a:t>
            </a:r>
            <a:endParaRPr lang="ru-RU" dirty="0"/>
          </a:p>
        </p:txBody>
      </p:sp>
    </p:spTree>
    <p:extLst>
      <p:ext uri="{BB962C8B-B14F-4D97-AF65-F5344CB8AC3E}">
        <p14:creationId xmlns:p14="http://schemas.microsoft.com/office/powerpoint/2010/main" val="120046628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Нижний колонтитул 4"/>
          <p:cNvSpPr>
            <a:spLocks noGrp="1"/>
          </p:cNvSpPr>
          <p:nvPr>
            <p:ph type="ftr" sz="quarter" idx="11"/>
          </p:nvPr>
        </p:nvSpPr>
        <p:spPr/>
        <p:txBody>
          <a:bodyPr/>
          <a:lstStyle/>
          <a:p>
            <a:r>
              <a:rPr lang="en-US"/>
              <a:t>Sofware Process</a:t>
            </a:r>
          </a:p>
        </p:txBody>
      </p:sp>
      <p:sp>
        <p:nvSpPr>
          <p:cNvPr id="19" name="Номер слайда 5"/>
          <p:cNvSpPr>
            <a:spLocks noGrp="1"/>
          </p:cNvSpPr>
          <p:nvPr>
            <p:ph type="sldNum" sz="quarter" idx="12"/>
          </p:nvPr>
        </p:nvSpPr>
        <p:spPr/>
        <p:txBody>
          <a:bodyPr/>
          <a:lstStyle/>
          <a:p>
            <a:fld id="{BF8EEC96-34E6-48E5-A46E-0E25BEE69687}" type="slidenum">
              <a:rPr lang="en-US"/>
              <a:pPr/>
              <a:t>57</a:t>
            </a:fld>
            <a:endParaRPr lang="en-US"/>
          </a:p>
        </p:txBody>
      </p:sp>
      <p:sp>
        <p:nvSpPr>
          <p:cNvPr id="157698" name="Rectangle 2"/>
          <p:cNvSpPr>
            <a:spLocks noGrp="1" noChangeArrowheads="1"/>
          </p:cNvSpPr>
          <p:nvPr>
            <p:ph type="title"/>
          </p:nvPr>
        </p:nvSpPr>
        <p:spPr>
          <a:xfrm>
            <a:off x="1600200" y="214313"/>
            <a:ext cx="7343775" cy="776287"/>
          </a:xfrm>
        </p:spPr>
        <p:txBody>
          <a:bodyPr>
            <a:normAutofit fontScale="90000"/>
          </a:bodyPr>
          <a:lstStyle/>
          <a:p>
            <a:r>
              <a:rPr lang="ru-RU" dirty="0" smtClean="0"/>
              <a:t>Выводы по итеративному подходу</a:t>
            </a:r>
            <a:endParaRPr lang="en-US" dirty="0"/>
          </a:p>
        </p:txBody>
      </p:sp>
      <p:graphicFrame>
        <p:nvGraphicFramePr>
          <p:cNvPr id="157699" name="Group 3"/>
          <p:cNvGraphicFramePr>
            <a:graphicFrameLocks noGrp="1"/>
          </p:cNvGraphicFramePr>
          <p:nvPr>
            <p:ph idx="1"/>
          </p:nvPr>
        </p:nvGraphicFramePr>
        <p:xfrm>
          <a:off x="251520" y="1988840"/>
          <a:ext cx="8568952" cy="4352290"/>
        </p:xfrm>
        <a:graphic>
          <a:graphicData uri="http://schemas.openxmlformats.org/drawingml/2006/table">
            <a:tbl>
              <a:tblPr/>
              <a:tblGrid>
                <a:gridCol w="3312368">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3096344">
                  <a:extLst>
                    <a:ext uri="{9D8B030D-6E8A-4147-A177-3AD203B41FA5}">
                      <a16:colId xmlns:a16="http://schemas.microsoft.com/office/drawing/2014/main" val="20002"/>
                    </a:ext>
                  </a:extLst>
                </a:gridCol>
              </a:tblGrid>
              <a:tr h="4635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Достоинства</a:t>
                      </a:r>
                      <a:endParaRPr kumimoji="0" lang="en-US" sz="2000" b="1" i="0" u="none" strike="noStrike" cap="none" normalizeH="0" baseline="0" dirty="0" smtClean="0">
                        <a:ln>
                          <a:noFill/>
                        </a:ln>
                        <a:solidFill>
                          <a:schemeClr val="tx1"/>
                        </a:solidFill>
                        <a:effectLst/>
                        <a:latin typeface="Tahoma"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Недостатки</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ru-RU" sz="2000" b="1" i="0" u="none" strike="noStrike" cap="none" normalizeH="0" baseline="0" dirty="0" smtClean="0">
                          <a:ln>
                            <a:noFill/>
                          </a:ln>
                          <a:solidFill>
                            <a:schemeClr val="tx1"/>
                          </a:solidFill>
                          <a:effectLst/>
                          <a:latin typeface="Tahoma" charset="0"/>
                        </a:rPr>
                        <a:t>Подходящие типы проектов</a:t>
                      </a:r>
                      <a:endParaRPr kumimoji="0" lang="en-US" sz="2000" b="1" i="0" u="none" strike="noStrike" cap="none" normalizeH="0" baseline="0" dirty="0" smtClean="0">
                        <a:ln>
                          <a:noFill/>
                        </a:ln>
                        <a:solidFill>
                          <a:schemeClr val="tx1"/>
                        </a:solidFill>
                        <a:effectLst/>
                        <a:latin typeface="Tahoma"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Regular deliveries, leading to biz benefit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Can accommodate changes naturally</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Allows user feedback</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Avoids </a:t>
                      </a:r>
                      <a:r>
                        <a:rPr kumimoji="0" lang="en-US" sz="2000" b="0" i="0" u="none" strike="noStrike" cap="none" normalizeH="0" baseline="0" dirty="0" err="1" smtClean="0">
                          <a:ln>
                            <a:noFill/>
                          </a:ln>
                          <a:solidFill>
                            <a:schemeClr val="tx1"/>
                          </a:solidFill>
                          <a:effectLst/>
                          <a:latin typeface="Tahoma" charset="0"/>
                        </a:rPr>
                        <a:t>req</a:t>
                      </a:r>
                      <a:r>
                        <a:rPr kumimoji="0" lang="en-US" sz="2000" b="0" i="0" u="none" strike="noStrike" cap="none" normalizeH="0" baseline="0" dirty="0" smtClean="0">
                          <a:ln>
                            <a:noFill/>
                          </a:ln>
                          <a:solidFill>
                            <a:schemeClr val="tx1"/>
                          </a:solidFill>
                          <a:effectLst/>
                          <a:latin typeface="Tahoma" charset="0"/>
                        </a:rPr>
                        <a:t> bloating</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Naturally prioritizes </a:t>
                      </a:r>
                      <a:r>
                        <a:rPr kumimoji="0" lang="en-US" sz="2000" b="0" i="0" u="none" strike="noStrike" cap="none" normalizeH="0" baseline="0" dirty="0" err="1" smtClean="0">
                          <a:ln>
                            <a:noFill/>
                          </a:ln>
                          <a:solidFill>
                            <a:schemeClr val="tx1"/>
                          </a:solidFill>
                          <a:effectLst/>
                          <a:latin typeface="Tahoma" charset="0"/>
                        </a:rPr>
                        <a:t>req</a:t>
                      </a:r>
                      <a:endParaRPr kumimoji="0" lang="en-US"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Allows reasonable exit points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Char char="q"/>
                        <a:tabLst/>
                      </a:pPr>
                      <a:r>
                        <a:rPr kumimoji="0" lang="en-US" sz="2000" b="0" i="0" u="none" strike="noStrike" cap="none" normalizeH="0" baseline="0" dirty="0" smtClean="0">
                          <a:ln>
                            <a:noFill/>
                          </a:ln>
                          <a:solidFill>
                            <a:schemeClr val="tx1"/>
                          </a:solidFill>
                          <a:effectLst/>
                          <a:latin typeface="Tahoma" charset="0"/>
                        </a:rPr>
                        <a:t>Reduces risks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Overhead of planning each iteration</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Total cost may increase</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System arch and design may suffer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Rework may increase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For businesses where time is imp; </a:t>
                      </a:r>
                      <a:endParaRPr kumimoji="0" lang="ru-RU"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Tahoma" charset="0"/>
                        </a:rPr>
                        <a:t>risk of long projects cannot be taken; </a:t>
                      </a:r>
                      <a:endParaRPr kumimoji="0" lang="ru-RU" sz="2000" b="0" i="0" u="none" strike="noStrike" cap="none" normalizeH="0" baseline="0" dirty="0" smtClean="0">
                        <a:ln>
                          <a:noFill/>
                        </a:ln>
                        <a:solidFill>
                          <a:schemeClr val="tx1"/>
                        </a:solidFill>
                        <a:effectLst/>
                        <a:latin typeface="Tahoma"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err="1" smtClean="0">
                          <a:ln>
                            <a:noFill/>
                          </a:ln>
                          <a:solidFill>
                            <a:schemeClr val="tx1"/>
                          </a:solidFill>
                          <a:effectLst/>
                          <a:latin typeface="Tahoma" charset="0"/>
                        </a:rPr>
                        <a:t>req</a:t>
                      </a:r>
                      <a:r>
                        <a:rPr kumimoji="0" lang="en-US" sz="2000" b="0" i="0" u="none" strike="noStrike" cap="none" normalizeH="0" baseline="0" dirty="0" smtClean="0">
                          <a:ln>
                            <a:noFill/>
                          </a:ln>
                          <a:solidFill>
                            <a:schemeClr val="tx1"/>
                          </a:solidFill>
                          <a:effectLst/>
                          <a:latin typeface="Tahoma" charset="0"/>
                        </a:rPr>
                        <a:t> not known and evolve with time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59674750"/>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33600" y="274638"/>
            <a:ext cx="6553200" cy="792162"/>
          </a:xfrm>
        </p:spPr>
        <p:txBody>
          <a:bodyPr>
            <a:normAutofit fontScale="90000"/>
          </a:bodyPr>
          <a:lstStyle/>
          <a:p>
            <a:r>
              <a:rPr lang="ru-RU" dirty="0" smtClean="0"/>
              <a:t>Вариант итеративной модели</a:t>
            </a:r>
            <a:endParaRPr lang="ru-RU" dirty="0"/>
          </a:p>
        </p:txBody>
      </p:sp>
      <p:sp>
        <p:nvSpPr>
          <p:cNvPr id="3" name="Содержимое 2"/>
          <p:cNvSpPr>
            <a:spLocks noGrp="1"/>
          </p:cNvSpPr>
          <p:nvPr>
            <p:ph idx="1"/>
          </p:nvPr>
        </p:nvSpPr>
        <p:spPr>
          <a:xfrm>
            <a:off x="457200" y="1600201"/>
            <a:ext cx="8229600" cy="676672"/>
          </a:xfrm>
        </p:spPr>
        <p:txBody>
          <a:bodyPr>
            <a:normAutofit fontScale="70000" lnSpcReduction="20000"/>
          </a:bodyPr>
          <a:lstStyle/>
          <a:p>
            <a:r>
              <a:rPr lang="ru-RU" b="1" dirty="0" smtClean="0"/>
              <a:t>Инкрементальная модель </a:t>
            </a:r>
            <a:r>
              <a:rPr lang="ru-RU" dirty="0" smtClean="0"/>
              <a:t>это вариант итеративной модели разработки</a:t>
            </a:r>
            <a:endParaRPr lang="ru-RU" dirty="0"/>
          </a:p>
        </p:txBody>
      </p:sp>
      <p:pic>
        <p:nvPicPr>
          <p:cNvPr id="8194" name="Picture 2"/>
          <p:cNvPicPr>
            <a:picLocks noChangeAspect="1" noChangeArrowheads="1"/>
          </p:cNvPicPr>
          <p:nvPr/>
        </p:nvPicPr>
        <p:blipFill>
          <a:blip r:embed="rId3" cstate="print"/>
          <a:srcRect/>
          <a:stretch>
            <a:fillRect/>
          </a:stretch>
        </p:blipFill>
        <p:spPr bwMode="auto">
          <a:xfrm>
            <a:off x="1115616" y="2162597"/>
            <a:ext cx="6478630" cy="4695403"/>
          </a:xfrm>
          <a:prstGeom prst="rect">
            <a:avLst/>
          </a:prstGeom>
          <a:noFill/>
          <a:ln w="9525">
            <a:noFill/>
            <a:miter lim="800000"/>
            <a:headEnd/>
            <a:tailEnd/>
          </a:ln>
        </p:spPr>
      </p:pic>
      <p:pic>
        <p:nvPicPr>
          <p:cNvPr id="4098" name="Picture 2"/>
          <p:cNvPicPr>
            <a:picLocks noChangeAspect="1" noChangeArrowheads="1"/>
          </p:cNvPicPr>
          <p:nvPr/>
        </p:nvPicPr>
        <p:blipFill>
          <a:blip r:embed="rId4" cstate="print"/>
          <a:srcRect/>
          <a:stretch>
            <a:fillRect/>
          </a:stretch>
        </p:blipFill>
        <p:spPr bwMode="auto">
          <a:xfrm>
            <a:off x="9828584" y="260648"/>
            <a:ext cx="4392488" cy="5841012"/>
          </a:xfrm>
          <a:prstGeom prst="rect">
            <a:avLst/>
          </a:prstGeom>
          <a:noFill/>
          <a:ln w="9525">
            <a:noFill/>
            <a:miter lim="800000"/>
            <a:headEnd/>
            <a:tailEnd/>
          </a:ln>
        </p:spPr>
      </p:pic>
    </p:spTree>
    <p:extLst>
      <p:ext uri="{BB962C8B-B14F-4D97-AF65-F5344CB8AC3E}">
        <p14:creationId xmlns:p14="http://schemas.microsoft.com/office/powerpoint/2010/main" val="2829326893"/>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828800" y="274638"/>
            <a:ext cx="6858000" cy="639762"/>
          </a:xfrm>
        </p:spPr>
        <p:txBody>
          <a:bodyPr>
            <a:normAutofit fontScale="90000"/>
          </a:bodyPr>
          <a:lstStyle/>
          <a:p>
            <a:r>
              <a:rPr lang="ru-RU" dirty="0" smtClean="0"/>
              <a:t>Достоинства данного варианта</a:t>
            </a:r>
            <a:endParaRPr lang="ru-RU" dirty="0"/>
          </a:p>
        </p:txBody>
      </p:sp>
      <p:sp>
        <p:nvSpPr>
          <p:cNvPr id="3" name="Содержимое 2"/>
          <p:cNvSpPr>
            <a:spLocks noGrp="1"/>
          </p:cNvSpPr>
          <p:nvPr>
            <p:ph idx="1"/>
          </p:nvPr>
        </p:nvSpPr>
        <p:spPr>
          <a:xfrm>
            <a:off x="107504" y="1196752"/>
            <a:ext cx="8892480" cy="5661248"/>
          </a:xfrm>
        </p:spPr>
        <p:txBody>
          <a:bodyPr>
            <a:normAutofit fontScale="77500" lnSpcReduction="20000"/>
          </a:bodyPr>
          <a:lstStyle/>
          <a:p>
            <a:r>
              <a:rPr lang="ru-RU" dirty="0" smtClean="0"/>
              <a:t>В большинстве случаев, требования к ПО заранее не известны. </a:t>
            </a:r>
          </a:p>
          <a:p>
            <a:r>
              <a:rPr lang="ru-RU" dirty="0" smtClean="0"/>
              <a:t>Доступно общее представление о ПС и на основе этого м.б разработана подходящая архитектура, которая остается относительно стабильной.</a:t>
            </a:r>
          </a:p>
          <a:p>
            <a:r>
              <a:rPr lang="ru-RU" dirty="0" smtClean="0"/>
              <a:t>В связи с этим есть надежда, что количество переделок в итерациях разработки будет уменьшаться.</a:t>
            </a:r>
          </a:p>
          <a:p>
            <a:r>
              <a:rPr lang="ru-RU" dirty="0" smtClean="0"/>
              <a:t>Одновременно, конечный результат будет предоставляться пользователю итеративно (постепенно), так что не будет риска получить «все или ничего».</a:t>
            </a:r>
          </a:p>
          <a:p>
            <a:r>
              <a:rPr lang="ru-RU" dirty="0" smtClean="0"/>
              <a:t>Т.к. поставка ПО выполняется постепенно, а планирование и выполнение каждой итерации выполняется отдельно, то пожелания пользователей м.б. включены в следующие итерации.</a:t>
            </a:r>
          </a:p>
          <a:p>
            <a:r>
              <a:rPr lang="ru-RU" dirty="0" smtClean="0"/>
              <a:t>Даже новые требования, которые были первоначально не выявлены, также могут быть включены в последующие итерации.</a:t>
            </a:r>
            <a:endParaRPr lang="ru-RU" dirty="0"/>
          </a:p>
        </p:txBody>
      </p:sp>
    </p:spTree>
    <p:extLst>
      <p:ext uri="{BB962C8B-B14F-4D97-AF65-F5344CB8AC3E}">
        <p14:creationId xmlns:p14="http://schemas.microsoft.com/office/powerpoint/2010/main" val="380974259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600200" y="274638"/>
            <a:ext cx="7086600" cy="715962"/>
          </a:xfrm>
        </p:spPr>
        <p:txBody>
          <a:bodyPr>
            <a:normAutofit fontScale="90000"/>
          </a:bodyPr>
          <a:lstStyle/>
          <a:p>
            <a:r>
              <a:rPr lang="ru-RU" b="1" dirty="0" smtClean="0"/>
              <a:t>Итеративная модель</a:t>
            </a:r>
            <a:endParaRPr lang="ru-RU" dirty="0"/>
          </a:p>
        </p:txBody>
      </p:sp>
      <p:sp>
        <p:nvSpPr>
          <p:cNvPr id="3" name="Содержимое 2"/>
          <p:cNvSpPr>
            <a:spLocks noGrp="1"/>
          </p:cNvSpPr>
          <p:nvPr>
            <p:ph idx="1"/>
          </p:nvPr>
        </p:nvSpPr>
        <p:spPr>
          <a:xfrm>
            <a:off x="457200" y="1600201"/>
            <a:ext cx="8229600" cy="1036712"/>
          </a:xfrm>
        </p:spPr>
        <p:txBody>
          <a:bodyPr>
            <a:normAutofit fontScale="77500" lnSpcReduction="20000"/>
          </a:bodyPr>
          <a:lstStyle/>
          <a:p>
            <a:r>
              <a:rPr lang="ru-RU" i="1" dirty="0" smtClean="0"/>
              <a:t>Рис. 4. Итеративная модель предлагает использование итераций на всех этапах жизненного цикла.</a:t>
            </a:r>
            <a:endParaRPr lang="ru-RU" dirty="0"/>
          </a:p>
        </p:txBody>
      </p:sp>
      <p:pic>
        <p:nvPicPr>
          <p:cNvPr id="20482" name="Picture 2"/>
          <p:cNvPicPr>
            <a:picLocks noChangeAspect="1" noChangeArrowheads="1"/>
          </p:cNvPicPr>
          <p:nvPr/>
        </p:nvPicPr>
        <p:blipFill>
          <a:blip r:embed="rId3" cstate="print"/>
          <a:srcRect l="2022" t="41486" r="22829" b="21795"/>
          <a:stretch>
            <a:fillRect/>
          </a:stretch>
        </p:blipFill>
        <p:spPr bwMode="auto">
          <a:xfrm>
            <a:off x="107504" y="3809676"/>
            <a:ext cx="8892480" cy="2715668"/>
          </a:xfrm>
          <a:prstGeom prst="rect">
            <a:avLst/>
          </a:prstGeom>
          <a:noFill/>
          <a:ln w="9525">
            <a:noFill/>
            <a:miter lim="800000"/>
            <a:headEnd/>
            <a:tailEnd/>
          </a:ln>
        </p:spPr>
      </p:pic>
    </p:spTree>
    <p:extLst>
      <p:ext uri="{BB962C8B-B14F-4D97-AF65-F5344CB8AC3E}">
        <p14:creationId xmlns:p14="http://schemas.microsoft.com/office/powerpoint/2010/main" val="696366287"/>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Спиральная модель</a:t>
            </a:r>
            <a:endParaRPr lang="ru-RU" dirty="0"/>
          </a:p>
        </p:txBody>
      </p:sp>
      <p:sp>
        <p:nvSpPr>
          <p:cNvPr id="3" name="Содержимое 2"/>
          <p:cNvSpPr>
            <a:spLocks noGrp="1"/>
          </p:cNvSpPr>
          <p:nvPr>
            <p:ph idx="1"/>
          </p:nvPr>
        </p:nvSpPr>
        <p:spPr>
          <a:xfrm>
            <a:off x="0" y="1417638"/>
            <a:ext cx="8610600" cy="4525963"/>
          </a:xfrm>
        </p:spPr>
        <p:txBody>
          <a:bodyPr/>
          <a:lstStyle/>
          <a:p>
            <a:endParaRPr lang="ru-RU" dirty="0"/>
          </a:p>
        </p:txBody>
      </p:sp>
      <p:pic>
        <p:nvPicPr>
          <p:cNvPr id="16386" name="Picture 2"/>
          <p:cNvPicPr>
            <a:picLocks noChangeAspect="1" noChangeArrowheads="1"/>
          </p:cNvPicPr>
          <p:nvPr/>
        </p:nvPicPr>
        <p:blipFill>
          <a:blip r:embed="rId3" cstate="print"/>
          <a:srcRect l="18900" t="12240" r="37451" b="30161"/>
          <a:stretch>
            <a:fillRect/>
          </a:stretch>
        </p:blipFill>
        <p:spPr bwMode="auto">
          <a:xfrm>
            <a:off x="457200" y="1143000"/>
            <a:ext cx="7772400" cy="5593237"/>
          </a:xfrm>
          <a:prstGeom prst="rect">
            <a:avLst/>
          </a:prstGeom>
          <a:noFill/>
          <a:ln w="9525">
            <a:noFill/>
            <a:miter lim="800000"/>
            <a:headEnd/>
            <a:tailEnd/>
          </a:ln>
        </p:spPr>
      </p:pic>
    </p:spTree>
    <p:extLst>
      <p:ext uri="{BB962C8B-B14F-4D97-AF65-F5344CB8AC3E}">
        <p14:creationId xmlns:p14="http://schemas.microsoft.com/office/powerpoint/2010/main" val="2758973371"/>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Спиральная модель</a:t>
            </a:r>
            <a:endParaRPr lang="ru-RU" dirty="0"/>
          </a:p>
        </p:txBody>
      </p:sp>
      <p:sp>
        <p:nvSpPr>
          <p:cNvPr id="3" name="Содержимое 2"/>
          <p:cNvSpPr>
            <a:spLocks noGrp="1"/>
          </p:cNvSpPr>
          <p:nvPr>
            <p:ph idx="1"/>
          </p:nvPr>
        </p:nvSpPr>
        <p:spPr>
          <a:xfrm>
            <a:off x="179512" y="5517232"/>
            <a:ext cx="8784976" cy="1340768"/>
          </a:xfrm>
        </p:spPr>
        <p:txBody>
          <a:bodyPr>
            <a:normAutofit fontScale="55000" lnSpcReduction="20000"/>
          </a:bodyPr>
          <a:lstStyle/>
          <a:p>
            <a:pPr algn="ctr">
              <a:buNone/>
            </a:pPr>
            <a:r>
              <a:rPr lang="ru-RU" b="1" dirty="0" smtClean="0"/>
              <a:t>	</a:t>
            </a:r>
            <a:r>
              <a:rPr lang="ru-RU" i="1" dirty="0" smtClean="0"/>
              <a:t>1 </a:t>
            </a:r>
            <a:r>
              <a:rPr lang="ru-RU" dirty="0" smtClean="0"/>
              <a:t>— начальный сбор требований и планирование проекта;  </a:t>
            </a:r>
            <a:r>
              <a:rPr lang="ru-RU" i="1" dirty="0" smtClean="0"/>
              <a:t>2 </a:t>
            </a:r>
            <a:r>
              <a:rPr lang="ru-RU" dirty="0" smtClean="0"/>
              <a:t>— та же работа, но на основе рекомендаций заказчика; 3 — анализ риска на основе начальных требований;  </a:t>
            </a:r>
            <a:r>
              <a:rPr lang="ru-RU" i="1" dirty="0" smtClean="0"/>
              <a:t>4 </a:t>
            </a:r>
            <a:r>
              <a:rPr lang="ru-RU" dirty="0" smtClean="0"/>
              <a:t>— анализ риска на основе реакции заказчика; 5 — переход к комплексной системе;  6 — начальный макет системы; 7 — следующий уровень макета;  </a:t>
            </a:r>
            <a:r>
              <a:rPr lang="ru-RU" i="1" dirty="0" smtClean="0"/>
              <a:t>8 — </a:t>
            </a:r>
            <a:r>
              <a:rPr lang="ru-RU" dirty="0" smtClean="0"/>
              <a:t>сконструированная система; 9 — оценивание заказчиком</a:t>
            </a:r>
          </a:p>
          <a:p>
            <a:endParaRPr lang="ru-RU" dirty="0"/>
          </a:p>
        </p:txBody>
      </p:sp>
      <p:pic>
        <p:nvPicPr>
          <p:cNvPr id="3074" name="Picture 2"/>
          <p:cNvPicPr>
            <a:picLocks noChangeAspect="1" noChangeArrowheads="1"/>
          </p:cNvPicPr>
          <p:nvPr/>
        </p:nvPicPr>
        <p:blipFill>
          <a:blip r:embed="rId3" cstate="print"/>
          <a:srcRect/>
          <a:stretch>
            <a:fillRect/>
          </a:stretch>
        </p:blipFill>
        <p:spPr bwMode="auto">
          <a:xfrm>
            <a:off x="1046658" y="1556792"/>
            <a:ext cx="6261646" cy="3816424"/>
          </a:xfrm>
          <a:prstGeom prst="rect">
            <a:avLst/>
          </a:prstGeom>
          <a:noFill/>
          <a:ln w="9525">
            <a:noFill/>
            <a:miter lim="800000"/>
            <a:headEnd/>
            <a:tailEnd/>
          </a:ln>
        </p:spPr>
      </p:pic>
    </p:spTree>
    <p:extLst>
      <p:ext uri="{BB962C8B-B14F-4D97-AF65-F5344CB8AC3E}">
        <p14:creationId xmlns:p14="http://schemas.microsoft.com/office/powerpoint/2010/main" val="2424953699"/>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19200" y="0"/>
            <a:ext cx="8534400" cy="1219200"/>
          </a:xfrm>
        </p:spPr>
        <p:txBody>
          <a:bodyPr>
            <a:noAutofit/>
          </a:bodyPr>
          <a:lstStyle/>
          <a:p>
            <a:r>
              <a:rPr lang="ru-RU" sz="3200" dirty="0" smtClean="0"/>
              <a:t>4. </a:t>
            </a:r>
            <a:r>
              <a:rPr lang="ru-RU" sz="2800" dirty="0" smtClean="0"/>
              <a:t>Унифицированный процесс разработки ПО</a:t>
            </a:r>
            <a:br>
              <a:rPr lang="ru-RU" sz="2800" dirty="0" smtClean="0"/>
            </a:br>
            <a:r>
              <a:rPr lang="en-US" sz="2800" dirty="0" smtClean="0"/>
              <a:t> (Rational Unified Process, RUP)</a:t>
            </a:r>
            <a:endParaRPr lang="ru-RU" sz="2800" dirty="0"/>
          </a:p>
        </p:txBody>
      </p:sp>
      <p:sp>
        <p:nvSpPr>
          <p:cNvPr id="3" name="Содержимое 2"/>
          <p:cNvSpPr>
            <a:spLocks noGrp="1"/>
          </p:cNvSpPr>
          <p:nvPr>
            <p:ph idx="1"/>
          </p:nvPr>
        </p:nvSpPr>
        <p:spPr>
          <a:xfrm>
            <a:off x="72008" y="1484784"/>
            <a:ext cx="8964488" cy="5373216"/>
          </a:xfrm>
        </p:spPr>
        <p:txBody>
          <a:bodyPr>
            <a:normAutofit fontScale="85000" lnSpcReduction="20000"/>
          </a:bodyPr>
          <a:lstStyle/>
          <a:p>
            <a:r>
              <a:rPr lang="ru-RU" dirty="0" smtClean="0"/>
              <a:t>Унифицированный процесс </a:t>
            </a:r>
            <a:r>
              <a:rPr lang="en-US" dirty="0" smtClean="0"/>
              <a:t> </a:t>
            </a:r>
            <a:r>
              <a:rPr lang="ru-RU" dirty="0" smtClean="0"/>
              <a:t>это вариант итеративного процесса, разработанный компанией </a:t>
            </a:r>
            <a:r>
              <a:rPr lang="ru-RU" dirty="0" err="1" smtClean="0"/>
              <a:t>Rational</a:t>
            </a:r>
            <a:r>
              <a:rPr lang="ru-RU" dirty="0" smtClean="0"/>
              <a:t> </a:t>
            </a:r>
            <a:r>
              <a:rPr lang="ru-RU" dirty="0" err="1" smtClean="0"/>
              <a:t>Software</a:t>
            </a:r>
            <a:r>
              <a:rPr lang="ru-RU" dirty="0" smtClean="0"/>
              <a:t>, (сейчас подразделение </a:t>
            </a:r>
            <a:r>
              <a:rPr lang="en-US" dirty="0" smtClean="0"/>
              <a:t>IBM</a:t>
            </a:r>
            <a:r>
              <a:rPr lang="ru-RU" dirty="0" smtClean="0"/>
              <a:t>)</a:t>
            </a:r>
            <a:r>
              <a:rPr lang="en-US" dirty="0" smtClean="0"/>
              <a:t>.</a:t>
            </a:r>
          </a:p>
          <a:p>
            <a:r>
              <a:rPr lang="ru-RU" dirty="0" smtClean="0"/>
              <a:t>общая модель процесса, созданная для ОО разработки с использованием </a:t>
            </a:r>
            <a:r>
              <a:rPr lang="en-US" dirty="0" smtClean="0"/>
              <a:t>UML.</a:t>
            </a:r>
            <a:endParaRPr lang="ru-RU" dirty="0" smtClean="0"/>
          </a:p>
          <a:p>
            <a:r>
              <a:rPr lang="ru-RU" dirty="0" smtClean="0"/>
              <a:t>Унифицированный процесс (UP) разрабатывается с 1967 года. </a:t>
            </a:r>
          </a:p>
          <a:p>
            <a:pPr lvl="1"/>
            <a:r>
              <a:rPr lang="ru-RU" dirty="0" smtClean="0"/>
              <a:t>управляемым рисками и прецедентами (требованиями);</a:t>
            </a:r>
          </a:p>
          <a:p>
            <a:pPr lvl="1"/>
            <a:r>
              <a:rPr lang="ru-RU" dirty="0" err="1" smtClean="0"/>
              <a:t>архитектуро-центричным</a:t>
            </a:r>
            <a:r>
              <a:rPr lang="ru-RU" dirty="0" smtClean="0"/>
              <a:t>;</a:t>
            </a:r>
          </a:p>
          <a:p>
            <a:pPr lvl="1"/>
            <a:r>
              <a:rPr lang="ru-RU" dirty="0" smtClean="0"/>
              <a:t>итеративным и инкрементным.</a:t>
            </a:r>
          </a:p>
          <a:p>
            <a:r>
              <a:rPr lang="ru-RU" dirty="0" smtClean="0"/>
              <a:t>Это сложившийся открытый процесс разработки ПО от авторов UML.</a:t>
            </a:r>
          </a:p>
          <a:p>
            <a:r>
              <a:rPr lang="ru-RU" dirty="0" smtClean="0"/>
              <a:t>Унифицированный процесс компании </a:t>
            </a:r>
            <a:r>
              <a:rPr lang="ru-RU" dirty="0" err="1" smtClean="0"/>
              <a:t>Rational</a:t>
            </a:r>
            <a:r>
              <a:rPr lang="ru-RU" dirty="0" smtClean="0"/>
              <a:t> (RUP) – это коммерческое расширение UP. </a:t>
            </a:r>
            <a:endParaRPr lang="en-US" dirty="0" smtClean="0"/>
          </a:p>
          <a:p>
            <a:endParaRPr lang="ru-RU" dirty="0" smtClean="0"/>
          </a:p>
          <a:p>
            <a:endParaRPr lang="ru-RU" dirty="0" smtClean="0"/>
          </a:p>
          <a:p>
            <a:endParaRPr lang="ru-RU" dirty="0"/>
          </a:p>
        </p:txBody>
      </p:sp>
    </p:spTree>
    <p:extLst>
      <p:ext uri="{BB962C8B-B14F-4D97-AF65-F5344CB8AC3E}">
        <p14:creationId xmlns:p14="http://schemas.microsoft.com/office/powerpoint/2010/main" val="311079458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lstStyle/>
          <a:p>
            <a:r>
              <a:rPr lang="ru-RU" dirty="0" smtClean="0"/>
              <a:t>Процесс,</a:t>
            </a:r>
            <a:r>
              <a:rPr lang="en-US" dirty="0" smtClean="0"/>
              <a:t> </a:t>
            </a:r>
            <a:r>
              <a:rPr lang="ru-RU" dirty="0" smtClean="0"/>
              <a:t>направляемый</a:t>
            </a:r>
            <a:r>
              <a:rPr lang="en-US" dirty="0" smtClean="0"/>
              <a:t> </a:t>
            </a:r>
            <a:r>
              <a:rPr lang="ru-RU" dirty="0" smtClean="0"/>
              <a:t>вариантами</a:t>
            </a:r>
            <a:r>
              <a:rPr lang="en-US" dirty="0" smtClean="0"/>
              <a:t> </a:t>
            </a:r>
            <a:r>
              <a:rPr lang="ru-RU" dirty="0" smtClean="0"/>
              <a:t>использования</a:t>
            </a:r>
            <a:endParaRPr lang="en-US" dirty="0" smtClean="0"/>
          </a:p>
          <a:p>
            <a:r>
              <a:rPr lang="ru-RU" dirty="0" err="1" smtClean="0"/>
              <a:t>Архитектуро-центрированный</a:t>
            </a:r>
            <a:r>
              <a:rPr lang="ru-RU" dirty="0" smtClean="0"/>
              <a:t> процесс</a:t>
            </a:r>
            <a:endParaRPr lang="en-US" dirty="0" smtClean="0"/>
          </a:p>
          <a:p>
            <a:r>
              <a:rPr lang="ru-RU" dirty="0" smtClean="0"/>
              <a:t>Итеративный и инкрементный процесс</a:t>
            </a:r>
          </a:p>
        </p:txBody>
      </p:sp>
    </p:spTree>
    <p:extLst>
      <p:ext uri="{BB962C8B-B14F-4D97-AF65-F5344CB8AC3E}">
        <p14:creationId xmlns:p14="http://schemas.microsoft.com/office/powerpoint/2010/main" val="477886738"/>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205680" y="1340768"/>
            <a:ext cx="8686800" cy="5401816"/>
          </a:xfrm>
        </p:spPr>
        <p:txBody>
          <a:bodyPr>
            <a:normAutofit fontScale="85000" lnSpcReduction="20000"/>
          </a:bodyPr>
          <a:lstStyle/>
          <a:p>
            <a:r>
              <a:rPr lang="ru-RU" dirty="0" smtClean="0"/>
              <a:t>Унифицированный процесс (UP) разрабатывается с 1967 года. </a:t>
            </a:r>
          </a:p>
          <a:p>
            <a:pPr lvl="1"/>
            <a:r>
              <a:rPr lang="ru-RU" dirty="0" smtClean="0"/>
              <a:t>управляемым рисками и прецедентами (требованиями);</a:t>
            </a:r>
          </a:p>
          <a:p>
            <a:pPr lvl="1"/>
            <a:r>
              <a:rPr lang="ru-RU" dirty="0" err="1" smtClean="0"/>
              <a:t>архитектуро-центричным</a:t>
            </a:r>
            <a:r>
              <a:rPr lang="ru-RU" dirty="0" smtClean="0"/>
              <a:t>;</a:t>
            </a:r>
          </a:p>
          <a:p>
            <a:pPr lvl="1"/>
            <a:r>
              <a:rPr lang="ru-RU" dirty="0" smtClean="0"/>
              <a:t>итеративным и инкрементным.</a:t>
            </a:r>
          </a:p>
          <a:p>
            <a:r>
              <a:rPr lang="ru-RU" dirty="0" smtClean="0"/>
              <a:t>Это сложившийся открытый процесс разработки ПО от авторов UML.</a:t>
            </a:r>
          </a:p>
          <a:p>
            <a:r>
              <a:rPr lang="ru-RU" dirty="0" smtClean="0"/>
              <a:t>Унифицированный процесс компании </a:t>
            </a:r>
            <a:r>
              <a:rPr lang="ru-RU" dirty="0" err="1" smtClean="0"/>
              <a:t>Rational</a:t>
            </a:r>
            <a:r>
              <a:rPr lang="ru-RU" dirty="0" smtClean="0"/>
              <a:t> (RUP) – это коммерческое расширение UP. </a:t>
            </a:r>
          </a:p>
          <a:p>
            <a:r>
              <a:rPr lang="ru-RU" dirty="0" smtClean="0"/>
              <a:t>Он полностью совместим с UP, но более полный и детализированный.</a:t>
            </a:r>
          </a:p>
          <a:p>
            <a:r>
              <a:rPr lang="ru-RU" dirty="0" smtClean="0"/>
              <a:t>UP (и RUP) должны настраиваться под каждый конкретный проект путем добавления внутренних стандартов и др.</a:t>
            </a:r>
          </a:p>
        </p:txBody>
      </p:sp>
    </p:spTree>
    <p:extLst>
      <p:ext uri="{BB962C8B-B14F-4D97-AF65-F5344CB8AC3E}">
        <p14:creationId xmlns:p14="http://schemas.microsoft.com/office/powerpoint/2010/main" val="2531902811"/>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24000" y="495300"/>
            <a:ext cx="8229600" cy="1143000"/>
          </a:xfrm>
        </p:spPr>
        <p:txBody>
          <a:bodyPr>
            <a:normAutofit fontScale="90000"/>
          </a:bodyPr>
          <a:lstStyle/>
          <a:p>
            <a:r>
              <a:rPr lang="ru-RU" dirty="0"/>
              <a:t>Спасибо за внимание</a:t>
            </a:r>
            <a:br>
              <a:rPr lang="ru-RU" dirty="0"/>
            </a:br>
            <a:endParaRPr lang="ru-RU" dirty="0"/>
          </a:p>
        </p:txBody>
      </p:sp>
      <p:sp>
        <p:nvSpPr>
          <p:cNvPr id="3" name="Объект 2"/>
          <p:cNvSpPr>
            <a:spLocks noGrp="1"/>
          </p:cNvSpPr>
          <p:nvPr>
            <p:ph idx="1"/>
          </p:nvPr>
        </p:nvSpPr>
        <p:spPr/>
        <p:txBody>
          <a:bodyPr/>
          <a:lstStyle/>
          <a:p>
            <a:pPr marL="0" indent="0" algn="just">
              <a:buNone/>
            </a:pPr>
            <a:r>
              <a:rPr lang="ru-RU" dirty="0"/>
              <a:t>Если ты направился </a:t>
            </a:r>
            <a:r>
              <a:rPr lang="ru-RU" dirty="0" smtClean="0"/>
              <a:t>к задуманной </a:t>
            </a:r>
            <a:r>
              <a:rPr lang="ru-RU" dirty="0"/>
              <a:t>цели и </a:t>
            </a:r>
            <a:r>
              <a:rPr lang="ru-RU" dirty="0" smtClean="0"/>
              <a:t> постоянно останавливаешься, </a:t>
            </a:r>
            <a:r>
              <a:rPr lang="ru-RU" dirty="0"/>
              <a:t>чтобы швырять камни во всякую лающую на тебя собаку, то никогда не дойдешь до цели.</a:t>
            </a:r>
          </a:p>
          <a:p>
            <a:endParaRPr lang="ru-RU" dirty="0" smtClean="0"/>
          </a:p>
          <a:p>
            <a:pPr marL="0" indent="0">
              <a:buNone/>
            </a:pPr>
            <a:r>
              <a:rPr lang="ru-RU" dirty="0"/>
              <a:t>	</a:t>
            </a:r>
            <a:r>
              <a:rPr lang="ru-RU" dirty="0" smtClean="0"/>
              <a:t>	</a:t>
            </a:r>
            <a:endParaRPr lang="ru-RU" dirty="0"/>
          </a:p>
        </p:txBody>
      </p:sp>
    </p:spTree>
    <p:extLst>
      <p:ext uri="{BB962C8B-B14F-4D97-AF65-F5344CB8AC3E}">
        <p14:creationId xmlns:p14="http://schemas.microsoft.com/office/powerpoint/2010/main" val="131427124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1259</TotalTime>
  <Words>12723</Words>
  <Application>Microsoft Office PowerPoint</Application>
  <PresentationFormat>Экран (4:3)</PresentationFormat>
  <Paragraphs>1587</Paragraphs>
  <Slides>66</Slides>
  <Notes>61</Notes>
  <HiddenSlides>16</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66</vt:i4>
      </vt:variant>
    </vt:vector>
  </HeadingPairs>
  <TitlesOfParts>
    <vt:vector size="72" baseType="lpstr">
      <vt:lpstr>Arial</vt:lpstr>
      <vt:lpstr>Calibri</vt:lpstr>
      <vt:lpstr>Courier New</vt:lpstr>
      <vt:lpstr>Tahoma</vt:lpstr>
      <vt:lpstr>Wingdings</vt:lpstr>
      <vt:lpstr>Office Theme</vt:lpstr>
      <vt:lpstr>Презентация PowerPoint</vt:lpstr>
      <vt:lpstr>ТРПО</vt:lpstr>
      <vt:lpstr>Программная инженерия (Software engineering)</vt:lpstr>
      <vt:lpstr>Качество и производительность разработки ПО зависит от: </vt:lpstr>
      <vt:lpstr>Типы программных систем</vt:lpstr>
      <vt:lpstr>Процессы – основа разработки ПО </vt:lpstr>
      <vt:lpstr>Процесс и проект (process and project)</vt:lpstr>
      <vt:lpstr>Процесс</vt:lpstr>
      <vt:lpstr>Спецификация процесса</vt:lpstr>
      <vt:lpstr>Модель процесса</vt:lpstr>
      <vt:lpstr>Процессы разработки ПО</vt:lpstr>
      <vt:lpstr>Процессы не связанные непосредственно с разработкой ПО</vt:lpstr>
      <vt:lpstr>Работаем над задачами проекта</vt:lpstr>
      <vt:lpstr>SMART (Specific, Measurable, Achievable, Realistic, Time-limited): </vt:lpstr>
      <vt:lpstr>Программные процессы (software process)</vt:lpstr>
      <vt:lpstr>Программный процесс</vt:lpstr>
      <vt:lpstr>Программный процесс</vt:lpstr>
      <vt:lpstr>Программный процесс</vt:lpstr>
      <vt:lpstr>Подпроцесс управления конфигурированием ПО</vt:lpstr>
      <vt:lpstr>Процесс управления процессами разработки ПО</vt:lpstr>
      <vt:lpstr>Процесс разработки ПО</vt:lpstr>
      <vt:lpstr>Процесс разработки ПО</vt:lpstr>
      <vt:lpstr>Презентация PowerPoint</vt:lpstr>
      <vt:lpstr>Жизненный цикл ПО</vt:lpstr>
      <vt:lpstr>Модели процессов разработки ПО</vt:lpstr>
      <vt:lpstr>Основные модели</vt:lpstr>
      <vt:lpstr>Модель процесса</vt:lpstr>
      <vt:lpstr>1. Модель водопада</vt:lpstr>
      <vt:lpstr>Модель водопада</vt:lpstr>
      <vt:lpstr>Модель водопада</vt:lpstr>
      <vt:lpstr>Модель водопада</vt:lpstr>
      <vt:lpstr>Модель водопада</vt:lpstr>
      <vt:lpstr>Преимущества модели водопада</vt:lpstr>
      <vt:lpstr>Недостатки</vt:lpstr>
      <vt:lpstr>V-образная модель </vt:lpstr>
      <vt:lpstr>Выводы по модели водопадов</vt:lpstr>
      <vt:lpstr> 2. Модель прототипирования</vt:lpstr>
      <vt:lpstr>Презентация PowerPoint</vt:lpstr>
      <vt:lpstr>Схема модели прототипирования</vt:lpstr>
      <vt:lpstr>Процесс использования прототипа</vt:lpstr>
      <vt:lpstr>Стоимость разработки прототипа</vt:lpstr>
      <vt:lpstr>Достоинства прототипирования</vt:lpstr>
      <vt:lpstr>Общий вывод</vt:lpstr>
      <vt:lpstr>Выводы по прототипированию</vt:lpstr>
      <vt:lpstr>3. Итеративная разработка</vt:lpstr>
      <vt:lpstr>Презентация PowerPoint</vt:lpstr>
      <vt:lpstr>Презентация PowerPoint</vt:lpstr>
      <vt:lpstr>Итеративная модель улучшения ПО</vt:lpstr>
      <vt:lpstr>Презентация PowerPoint</vt:lpstr>
      <vt:lpstr>Достоинства</vt:lpstr>
      <vt:lpstr>    Сравнение рисков итеративной и водопадной моделей</vt:lpstr>
      <vt:lpstr>Недостатки</vt:lpstr>
      <vt:lpstr>Презентация PowerPoint</vt:lpstr>
      <vt:lpstr>Основные трудности инкрементальной разработки</vt:lpstr>
      <vt:lpstr>Incremental development</vt:lpstr>
      <vt:lpstr>Причины популярности итеративной модели</vt:lpstr>
      <vt:lpstr>Выводы по итеративному подходу</vt:lpstr>
      <vt:lpstr>Вариант итеративной модели</vt:lpstr>
      <vt:lpstr>Достоинства данного варианта</vt:lpstr>
      <vt:lpstr>Итеративная модель</vt:lpstr>
      <vt:lpstr>Спиральная модель</vt:lpstr>
      <vt:lpstr>Спиральная модель</vt:lpstr>
      <vt:lpstr>4. Унифицированный процесс разработки ПО  (Rational Unified Process, RUP)</vt:lpstr>
      <vt:lpstr>Презентация PowerPoint</vt:lpstr>
      <vt:lpstr>Презентация PowerPoint</vt:lpstr>
      <vt:lpstr>Спасибо за внимание </vt:lpstr>
    </vt:vector>
  </TitlesOfParts>
  <Company>Fairmont Raffles Hotels International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pmarkasian</dc:creator>
  <cp:lastModifiedBy>Денис Касаткин</cp:lastModifiedBy>
  <cp:revision>49</cp:revision>
  <dcterms:created xsi:type="dcterms:W3CDTF">2014-08-29T18:35:37Z</dcterms:created>
  <dcterms:modified xsi:type="dcterms:W3CDTF">2017-02-28T16:25:56Z</dcterms:modified>
</cp:coreProperties>
</file>